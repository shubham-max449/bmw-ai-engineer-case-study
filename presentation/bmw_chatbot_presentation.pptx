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29184"/>
            <a:ext cx="14630400" cy="548640"/>
            <a:chOff x="0" y="0"/>
            <a:chExt cx="19507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07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600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BMW GROUP - CUSTOMER JOURNEY ANALYTICS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97280"/>
            <a:ext cx="11887200" cy="5486400"/>
            <a:chOff x="0" y="0"/>
            <a:chExt cx="15849600" cy="731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49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76225"/>
              <a:ext cx="15849600" cy="759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104"/>
                </a:lnSpc>
              </a:pPr>
              <a:r>
                <a:rPr lang="en-US" sz="10400" b="true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</a:t>
              </a:r>
            </a:p>
            <a:p>
              <a:pPr algn="l">
                <a:lnSpc>
                  <a:spcPts val="13104"/>
                </a:lnSpc>
              </a:pPr>
              <a:r>
                <a:rPr lang="en-US" sz="10400" b="true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  <a:p>
              <a:pPr algn="l">
                <a:lnSpc>
                  <a:spcPts val="13104"/>
                </a:lnSpc>
              </a:pPr>
              <a:r>
                <a:rPr lang="en-US" sz="10400" b="true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Chatbot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6766560"/>
            <a:ext cx="10058400" cy="1280160"/>
            <a:chOff x="0" y="0"/>
            <a:chExt cx="134112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112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D21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RAG-based prototype using LangChain, LangGraph,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D21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ChromaDB, Ollama &amp; LangSmith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8308343"/>
            <a:ext cx="4323083" cy="756923"/>
            <a:chOff x="0" y="0"/>
            <a:chExt cx="576411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8321040"/>
            <a:ext cx="4297680" cy="731520"/>
            <a:chOff x="0" y="0"/>
            <a:chExt cx="57302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LangChain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82263" y="8308343"/>
            <a:ext cx="4323083" cy="756923"/>
            <a:chOff x="0" y="0"/>
            <a:chExt cx="5764111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94960" y="8321040"/>
            <a:ext cx="4297680" cy="731520"/>
            <a:chOff x="0" y="0"/>
            <a:chExt cx="57302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LangGraph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5703" y="8308343"/>
            <a:ext cx="4323083" cy="756923"/>
            <a:chOff x="0" y="0"/>
            <a:chExt cx="5764111" cy="1009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58400" y="8321040"/>
            <a:ext cx="4297680" cy="731520"/>
            <a:chOff x="0" y="0"/>
            <a:chExt cx="573024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23" y="9259319"/>
            <a:ext cx="4323083" cy="756923"/>
            <a:chOff x="0" y="0"/>
            <a:chExt cx="5764111" cy="1009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9272016"/>
            <a:ext cx="4297680" cy="731520"/>
            <a:chOff x="0" y="0"/>
            <a:chExt cx="573024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Ollama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82263" y="9259319"/>
            <a:ext cx="4323083" cy="756923"/>
            <a:chOff x="0" y="0"/>
            <a:chExt cx="5764111" cy="10092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94960" y="9272016"/>
            <a:ext cx="4297680" cy="731520"/>
            <a:chOff x="0" y="0"/>
            <a:chExt cx="573024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045703" y="9259319"/>
            <a:ext cx="4323083" cy="756923"/>
            <a:chOff x="0" y="0"/>
            <a:chExt cx="5764111" cy="10092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6402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992251"/>
                  </a:lnTo>
                  <a:cubicBezTo>
                    <a:pt x="5764022" y="1001649"/>
                    <a:pt x="5756402" y="1009142"/>
                    <a:pt x="574713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747131" y="975360"/>
                  </a:lnTo>
                  <a:lnTo>
                    <a:pt x="5747131" y="992251"/>
                  </a:lnTo>
                  <a:lnTo>
                    <a:pt x="5730240" y="99225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0" y="9272016"/>
            <a:ext cx="4297680" cy="731520"/>
            <a:chOff x="0" y="0"/>
            <a:chExt cx="573024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7302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LangSmith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350240" y="6080760"/>
            <a:ext cx="4206240" cy="1371600"/>
            <a:chOff x="0" y="0"/>
            <a:chExt cx="560832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0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6083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by: Shubham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Chitaguppe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" y="9784080"/>
            <a:ext cx="10972800" cy="365760"/>
            <a:chOff x="0" y="0"/>
            <a:chExt cx="1463040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4630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 AI Engineer Case Study  |  BMW Group  |  2026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18720" y="1199439"/>
            <a:ext cx="5075631" cy="507563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4009" t="-10380" r="-43906" b="-1310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We'll Cover Today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1030" y="2943606"/>
            <a:ext cx="8414004" cy="2196084"/>
            <a:chOff x="0" y="0"/>
            <a:chExt cx="11218672" cy="29281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1280160" cy="914400"/>
            <a:chOff x="0" y="0"/>
            <a:chExt cx="170688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43600" y="3154680"/>
            <a:ext cx="6400800" cy="822960"/>
            <a:chOff x="0" y="0"/>
            <a:chExt cx="85344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151376"/>
            <a:ext cx="7680960" cy="694944"/>
            <a:chOff x="0" y="0"/>
            <a:chExt cx="1024128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BMW needs an AI chatbot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9270" y="2943606"/>
            <a:ext cx="8414004" cy="2196084"/>
            <a:chOff x="0" y="0"/>
            <a:chExt cx="11218672" cy="29281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2640" y="3108960"/>
            <a:ext cx="1280160" cy="914400"/>
            <a:chOff x="0" y="0"/>
            <a:chExt cx="170688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90320" y="3071241"/>
            <a:ext cx="6400800" cy="822960"/>
            <a:chOff x="0" y="0"/>
            <a:chExt cx="85344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 &amp; Architecture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2640" y="4151376"/>
            <a:ext cx="7680960" cy="694944"/>
            <a:chOff x="0" y="0"/>
            <a:chExt cx="102412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pipeline design and decisions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1030" y="5284470"/>
            <a:ext cx="8414004" cy="2196084"/>
            <a:chOff x="0" y="0"/>
            <a:chExt cx="11218672" cy="29281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5449824"/>
            <a:ext cx="1280160" cy="914400"/>
            <a:chOff x="0" y="0"/>
            <a:chExt cx="170688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60720" y="5486400"/>
            <a:ext cx="6400800" cy="822960"/>
            <a:chOff x="0" y="0"/>
            <a:chExt cx="853440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Deep Dive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6492240"/>
            <a:ext cx="7680960" cy="694944"/>
            <a:chOff x="0" y="0"/>
            <a:chExt cx="102412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LangChain, LangGraph, ChromaDB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99270" y="5284470"/>
            <a:ext cx="8414004" cy="2196084"/>
            <a:chOff x="0" y="0"/>
            <a:chExt cx="11218672" cy="29281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92640" y="5449824"/>
            <a:ext cx="1280160" cy="914400"/>
            <a:chOff x="0" y="0"/>
            <a:chExt cx="170688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264640" y="5541264"/>
            <a:ext cx="6400800" cy="822960"/>
            <a:chOff x="0" y="0"/>
            <a:chExt cx="853440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Benchmarking Results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6492240"/>
            <a:ext cx="7680960" cy="694944"/>
            <a:chOff x="0" y="0"/>
            <a:chExt cx="1024128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LangSmith data-driven decisions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1030" y="7625334"/>
            <a:ext cx="8414004" cy="2196084"/>
            <a:chOff x="0" y="0"/>
            <a:chExt cx="11218672" cy="29281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7790688"/>
            <a:ext cx="1280160" cy="914400"/>
            <a:chOff x="0" y="0"/>
            <a:chExt cx="170688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492240" y="7836408"/>
            <a:ext cx="6400800" cy="822960"/>
            <a:chOff x="0" y="0"/>
            <a:chExt cx="853440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8833104"/>
            <a:ext cx="7680960" cy="694944"/>
            <a:chOff x="0" y="0"/>
            <a:chExt cx="1024128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prototype walkthrough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99270" y="7625334"/>
            <a:ext cx="8414004" cy="2196084"/>
            <a:chOff x="0" y="0"/>
            <a:chExt cx="11218672" cy="29281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25400"/>
              <a:ext cx="111678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18672" cy="2928112"/>
            </a:xfrm>
            <a:custGeom>
              <a:avLst/>
              <a:gdLst/>
              <a:ahLst/>
              <a:cxnLst/>
              <a:rect r="r" b="b" t="t" l="l"/>
              <a:pathLst>
                <a:path h="2928112" w="11218672">
                  <a:moveTo>
                    <a:pt x="25400" y="0"/>
                  </a:moveTo>
                  <a:lnTo>
                    <a:pt x="11193272" y="0"/>
                  </a:lnTo>
                  <a:cubicBezTo>
                    <a:pt x="11207242" y="0"/>
                    <a:pt x="11218672" y="11430"/>
                    <a:pt x="11218672" y="25400"/>
                  </a:cubicBezTo>
                  <a:lnTo>
                    <a:pt x="11218672" y="2902712"/>
                  </a:lnTo>
                  <a:cubicBezTo>
                    <a:pt x="11218672" y="2916682"/>
                    <a:pt x="11207242" y="2928112"/>
                    <a:pt x="11193272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193272" y="2877312"/>
                  </a:lnTo>
                  <a:lnTo>
                    <a:pt x="11193272" y="2902712"/>
                  </a:lnTo>
                  <a:lnTo>
                    <a:pt x="11167872" y="2902712"/>
                  </a:lnTo>
                  <a:lnTo>
                    <a:pt x="11167872" y="25400"/>
                  </a:lnTo>
                  <a:lnTo>
                    <a:pt x="11193272" y="25400"/>
                  </a:lnTo>
                  <a:lnTo>
                    <a:pt x="1119327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92640" y="7790688"/>
            <a:ext cx="1280160" cy="914400"/>
            <a:chOff x="0" y="0"/>
            <a:chExt cx="170688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17068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953286" y="7790688"/>
            <a:ext cx="6400800" cy="822960"/>
            <a:chOff x="0" y="0"/>
            <a:chExt cx="853440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3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8534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 &amp; Q&amp;A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8833104"/>
            <a:ext cx="7680960" cy="694944"/>
            <a:chOff x="0" y="0"/>
            <a:chExt cx="1024128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 path and next steps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 BMW Faces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3004823"/>
            <a:ext cx="5511803" cy="3865883"/>
            <a:chOff x="0" y="0"/>
            <a:chExt cx="734907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3200400"/>
            <a:ext cx="5486400" cy="1554480"/>
            <a:chOff x="0" y="0"/>
            <a:chExt cx="731520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19075"/>
              <a:ext cx="7315200" cy="229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4754880"/>
            <a:ext cx="5486400" cy="731520"/>
            <a:chOff x="0" y="0"/>
            <a:chExt cx="73152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315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Inquiries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5522976"/>
            <a:ext cx="5120640" cy="1097280"/>
            <a:chOff x="0" y="0"/>
            <a:chExt cx="682752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Vehicles, warranty, service, ordering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96663" y="3004823"/>
            <a:ext cx="5511803" cy="3865883"/>
            <a:chOff x="0" y="0"/>
            <a:chExt cx="7349071" cy="51545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09360" y="3200400"/>
            <a:ext cx="5486400" cy="1554480"/>
            <a:chOff x="0" y="0"/>
            <a:chExt cx="731520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19075"/>
              <a:ext cx="7315200" cy="229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∞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9360" y="4754880"/>
            <a:ext cx="5486400" cy="731520"/>
            <a:chOff x="0" y="0"/>
            <a:chExt cx="73152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315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Exists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92240" y="5522976"/>
            <a:ext cx="5120640" cy="1097280"/>
            <a:chOff x="0" y="0"/>
            <a:chExt cx="682752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 not easily accessible to customers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57383" y="3004823"/>
            <a:ext cx="5511803" cy="3865883"/>
            <a:chOff x="0" y="0"/>
            <a:chExt cx="7349071" cy="5154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070080" y="3200400"/>
            <a:ext cx="5486400" cy="1554480"/>
            <a:chOff x="0" y="0"/>
            <a:chExt cx="7315200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19075"/>
              <a:ext cx="7315200" cy="229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24/7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0080" y="4754880"/>
            <a:ext cx="5486400" cy="731520"/>
            <a:chOff x="0" y="0"/>
            <a:chExt cx="731520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315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Support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52960" y="5522976"/>
            <a:ext cx="5120640" cy="1097280"/>
            <a:chOff x="0" y="0"/>
            <a:chExt cx="682752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expect instant answers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3237" y="7015477"/>
            <a:ext cx="17241517" cy="2702557"/>
            <a:chOff x="0" y="0"/>
            <a:chExt cx="22988689" cy="36034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3909" y="33909"/>
              <a:ext cx="22920961" cy="3535680"/>
            </a:xfrm>
            <a:custGeom>
              <a:avLst/>
              <a:gdLst/>
              <a:ahLst/>
              <a:cxnLst/>
              <a:rect r="r" b="b" t="t" l="l"/>
              <a:pathLst>
                <a:path h="35356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988778" cy="3603498"/>
            </a:xfrm>
            <a:custGeom>
              <a:avLst/>
              <a:gdLst/>
              <a:ahLst/>
              <a:cxnLst/>
              <a:rect r="r" b="b" t="t" l="l"/>
              <a:pathLst>
                <a:path h="3603498" w="22988778">
                  <a:moveTo>
                    <a:pt x="33909" y="0"/>
                  </a:moveTo>
                  <a:lnTo>
                    <a:pt x="22954870" y="0"/>
                  </a:lnTo>
                  <a:cubicBezTo>
                    <a:pt x="22973539" y="0"/>
                    <a:pt x="22988778" y="15113"/>
                    <a:pt x="22988778" y="33909"/>
                  </a:cubicBezTo>
                  <a:lnTo>
                    <a:pt x="22988778" y="3569589"/>
                  </a:lnTo>
                  <a:cubicBezTo>
                    <a:pt x="22988778" y="3588258"/>
                    <a:pt x="22973666" y="3603498"/>
                    <a:pt x="22954870" y="3603498"/>
                  </a:cubicBezTo>
                  <a:lnTo>
                    <a:pt x="33909" y="3603498"/>
                  </a:lnTo>
                  <a:cubicBezTo>
                    <a:pt x="15240" y="3603498"/>
                    <a:pt x="0" y="3588385"/>
                    <a:pt x="0" y="356958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569589"/>
                  </a:lnTo>
                  <a:lnTo>
                    <a:pt x="33909" y="3569589"/>
                  </a:lnTo>
                  <a:lnTo>
                    <a:pt x="33909" y="3535680"/>
                  </a:lnTo>
                  <a:lnTo>
                    <a:pt x="22954870" y="3535680"/>
                  </a:lnTo>
                  <a:lnTo>
                    <a:pt x="22954870" y="3569589"/>
                  </a:lnTo>
                  <a:lnTo>
                    <a:pt x="22920961" y="3569589"/>
                  </a:lnTo>
                  <a:lnTo>
                    <a:pt x="22920961" y="33909"/>
                  </a:lnTo>
                  <a:lnTo>
                    <a:pt x="22954870" y="33909"/>
                  </a:lnTo>
                  <a:lnTo>
                    <a:pt x="2295487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223760"/>
            <a:ext cx="16459200" cy="731520"/>
            <a:chOff x="0" y="0"/>
            <a:chExt cx="2194560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Solution: AI Chatbot with RAG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8083296"/>
            <a:ext cx="16459200" cy="1280160"/>
            <a:chOff x="0" y="0"/>
            <a:chExt cx="21945600" cy="1706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19456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customer questions instantly  •  Reduce support workload  •  Available 24/7  •  Grounded in verified knowledge base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RAG? Comparing Approaches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237" y="2937253"/>
            <a:ext cx="5573773" cy="6817357"/>
            <a:chOff x="0" y="0"/>
            <a:chExt cx="7431697" cy="90898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909" y="33909"/>
              <a:ext cx="7363968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31786" cy="9089899"/>
            </a:xfrm>
            <a:custGeom>
              <a:avLst/>
              <a:gdLst/>
              <a:ahLst/>
              <a:cxnLst/>
              <a:rect r="r" b="b" t="t" l="l"/>
              <a:pathLst>
                <a:path h="9089899" w="7431786">
                  <a:moveTo>
                    <a:pt x="33909" y="0"/>
                  </a:moveTo>
                  <a:lnTo>
                    <a:pt x="7397877" y="0"/>
                  </a:lnTo>
                  <a:cubicBezTo>
                    <a:pt x="7416546" y="0"/>
                    <a:pt x="7431786" y="15113"/>
                    <a:pt x="7431786" y="33909"/>
                  </a:cubicBezTo>
                  <a:lnTo>
                    <a:pt x="7431786" y="9055989"/>
                  </a:lnTo>
                  <a:cubicBezTo>
                    <a:pt x="7431786" y="9074658"/>
                    <a:pt x="7416673" y="9089899"/>
                    <a:pt x="7397877" y="9089899"/>
                  </a:cubicBezTo>
                  <a:lnTo>
                    <a:pt x="33909" y="9089899"/>
                  </a:lnTo>
                  <a:cubicBezTo>
                    <a:pt x="15240" y="9089899"/>
                    <a:pt x="0" y="9074786"/>
                    <a:pt x="0" y="905598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055989"/>
                  </a:lnTo>
                  <a:lnTo>
                    <a:pt x="33909" y="9055989"/>
                  </a:lnTo>
                  <a:lnTo>
                    <a:pt x="33909" y="9022080"/>
                  </a:lnTo>
                  <a:lnTo>
                    <a:pt x="7397877" y="9022080"/>
                  </a:lnTo>
                  <a:lnTo>
                    <a:pt x="7397877" y="9055989"/>
                  </a:lnTo>
                  <a:lnTo>
                    <a:pt x="7363968" y="9055989"/>
                  </a:lnTo>
                  <a:lnTo>
                    <a:pt x="7363968" y="33909"/>
                  </a:lnTo>
                  <a:lnTo>
                    <a:pt x="7397877" y="33909"/>
                  </a:lnTo>
                  <a:lnTo>
                    <a:pt x="739787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3255264"/>
            <a:ext cx="4937760" cy="914400"/>
            <a:chOff x="0" y="0"/>
            <a:chExt cx="658368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Fine-tuning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7824" y="4425696"/>
            <a:ext cx="4937760" cy="548640"/>
            <a:chOff x="0" y="0"/>
            <a:chExt cx="65836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824" y="5029200"/>
            <a:ext cx="4937760" cy="914400"/>
            <a:chOff x="0" y="0"/>
            <a:chExt cx="65836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 specific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7824" y="6181344"/>
            <a:ext cx="4937760" cy="548640"/>
            <a:chOff x="0" y="0"/>
            <a:chExt cx="65836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7824" y="6803136"/>
            <a:ext cx="4937760" cy="1097280"/>
            <a:chOff x="0" y="0"/>
            <a:chExt cx="658368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Expensive, slow, needs retraining for updates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38821" y="2937253"/>
            <a:ext cx="5573773" cy="6817357"/>
            <a:chOff x="0" y="0"/>
            <a:chExt cx="7431697" cy="90898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3909" y="33909"/>
              <a:ext cx="7363968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1786" cy="9089899"/>
            </a:xfrm>
            <a:custGeom>
              <a:avLst/>
              <a:gdLst/>
              <a:ahLst/>
              <a:cxnLst/>
              <a:rect r="r" b="b" t="t" l="l"/>
              <a:pathLst>
                <a:path h="9089899" w="7431786">
                  <a:moveTo>
                    <a:pt x="33909" y="0"/>
                  </a:moveTo>
                  <a:lnTo>
                    <a:pt x="7397877" y="0"/>
                  </a:lnTo>
                  <a:cubicBezTo>
                    <a:pt x="7416546" y="0"/>
                    <a:pt x="7431786" y="15113"/>
                    <a:pt x="7431786" y="33909"/>
                  </a:cubicBezTo>
                  <a:lnTo>
                    <a:pt x="7431786" y="9055989"/>
                  </a:lnTo>
                  <a:cubicBezTo>
                    <a:pt x="7431786" y="9074658"/>
                    <a:pt x="7416673" y="9089899"/>
                    <a:pt x="7397877" y="9089899"/>
                  </a:cubicBezTo>
                  <a:lnTo>
                    <a:pt x="33909" y="9089899"/>
                  </a:lnTo>
                  <a:cubicBezTo>
                    <a:pt x="15240" y="9089899"/>
                    <a:pt x="0" y="9074786"/>
                    <a:pt x="0" y="905598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055989"/>
                  </a:lnTo>
                  <a:lnTo>
                    <a:pt x="33909" y="9055989"/>
                  </a:lnTo>
                  <a:lnTo>
                    <a:pt x="33909" y="9022080"/>
                  </a:lnTo>
                  <a:lnTo>
                    <a:pt x="7397877" y="9022080"/>
                  </a:lnTo>
                  <a:lnTo>
                    <a:pt x="7397877" y="9055989"/>
                  </a:lnTo>
                  <a:lnTo>
                    <a:pt x="7363968" y="9055989"/>
                  </a:lnTo>
                  <a:lnTo>
                    <a:pt x="7363968" y="33909"/>
                  </a:lnTo>
                  <a:lnTo>
                    <a:pt x="7397877" y="33909"/>
                  </a:lnTo>
                  <a:lnTo>
                    <a:pt x="739787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93408" y="3255264"/>
            <a:ext cx="4937760" cy="914400"/>
            <a:chOff x="0" y="0"/>
            <a:chExt cx="658368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Engineering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93408" y="4425696"/>
            <a:ext cx="4937760" cy="548640"/>
            <a:chOff x="0" y="0"/>
            <a:chExt cx="65836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93408" y="5029200"/>
            <a:ext cx="4937760" cy="914400"/>
            <a:chOff x="0" y="0"/>
            <a:chExt cx="658368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93408" y="6181344"/>
            <a:ext cx="4937760" cy="548640"/>
            <a:chOff x="0" y="0"/>
            <a:chExt cx="65836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93408" y="6803136"/>
            <a:ext cx="4937760" cy="1097280"/>
            <a:chOff x="0" y="0"/>
            <a:chExt cx="65836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context, hallucinations, no knowledge base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54405" y="2937253"/>
            <a:ext cx="5573773" cy="6817357"/>
            <a:chOff x="0" y="0"/>
            <a:chExt cx="7431697" cy="90898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3909" y="33909"/>
              <a:ext cx="7363968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431786" cy="9089899"/>
            </a:xfrm>
            <a:custGeom>
              <a:avLst/>
              <a:gdLst/>
              <a:ahLst/>
              <a:cxnLst/>
              <a:rect r="r" b="b" t="t" l="l"/>
              <a:pathLst>
                <a:path h="9089899" w="7431786">
                  <a:moveTo>
                    <a:pt x="33909" y="0"/>
                  </a:moveTo>
                  <a:lnTo>
                    <a:pt x="7397877" y="0"/>
                  </a:lnTo>
                  <a:cubicBezTo>
                    <a:pt x="7416546" y="0"/>
                    <a:pt x="7431786" y="15113"/>
                    <a:pt x="7431786" y="33909"/>
                  </a:cubicBezTo>
                  <a:lnTo>
                    <a:pt x="7431786" y="9055989"/>
                  </a:lnTo>
                  <a:cubicBezTo>
                    <a:pt x="7431786" y="9074658"/>
                    <a:pt x="7416673" y="9089899"/>
                    <a:pt x="7397877" y="9089899"/>
                  </a:cubicBezTo>
                  <a:lnTo>
                    <a:pt x="33909" y="9089899"/>
                  </a:lnTo>
                  <a:cubicBezTo>
                    <a:pt x="15240" y="9089899"/>
                    <a:pt x="0" y="9074786"/>
                    <a:pt x="0" y="905598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055989"/>
                  </a:lnTo>
                  <a:lnTo>
                    <a:pt x="33909" y="9055989"/>
                  </a:lnTo>
                  <a:lnTo>
                    <a:pt x="33909" y="9022080"/>
                  </a:lnTo>
                  <a:lnTo>
                    <a:pt x="7397877" y="9022080"/>
                  </a:lnTo>
                  <a:lnTo>
                    <a:pt x="7397877" y="9055989"/>
                  </a:lnTo>
                  <a:lnTo>
                    <a:pt x="7363968" y="9055989"/>
                  </a:lnTo>
                  <a:lnTo>
                    <a:pt x="7363968" y="33909"/>
                  </a:lnTo>
                  <a:lnTo>
                    <a:pt x="7397877" y="33909"/>
                  </a:lnTo>
                  <a:lnTo>
                    <a:pt x="739787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08992" y="3255264"/>
            <a:ext cx="4937760" cy="914400"/>
            <a:chOff x="0" y="0"/>
            <a:chExt cx="658368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08992" y="4425696"/>
            <a:ext cx="4937760" cy="548640"/>
            <a:chOff x="0" y="0"/>
            <a:chExt cx="65836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Strengths: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508992" y="5029200"/>
            <a:ext cx="4937760" cy="914400"/>
            <a:chOff x="0" y="0"/>
            <a:chExt cx="658368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836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Retrieves exact knowledge, no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hallucinations, easy to update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508992" y="6181344"/>
            <a:ext cx="4937760" cy="548640"/>
            <a:chOff x="0" y="0"/>
            <a:chExt cx="65836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0C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Limitations: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08992" y="6803136"/>
            <a:ext cx="4937760" cy="1097280"/>
            <a:chOff x="0" y="0"/>
            <a:chExt cx="658368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Slightly more complex setup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508992" y="9144000"/>
            <a:ext cx="4937760" cy="512064"/>
            <a:chOff x="0" y="0"/>
            <a:chExt cx="65836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583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Pipeline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2949959"/>
            <a:ext cx="3170939" cy="1945643"/>
            <a:chOff x="0" y="0"/>
            <a:chExt cx="4227919" cy="2594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194048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27830" cy="2594102"/>
            </a:xfrm>
            <a:custGeom>
              <a:avLst/>
              <a:gdLst/>
              <a:ahLst/>
              <a:cxnLst/>
              <a:rect r="r" b="b" t="t" l="l"/>
              <a:pathLst>
                <a:path h="2594102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577211"/>
                  </a:lnTo>
                  <a:cubicBezTo>
                    <a:pt x="4227830" y="2586609"/>
                    <a:pt x="4220210" y="2594102"/>
                    <a:pt x="421093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4210939" y="2560320"/>
                  </a:lnTo>
                  <a:lnTo>
                    <a:pt x="4210939" y="2577211"/>
                  </a:lnTo>
                  <a:lnTo>
                    <a:pt x="4194048" y="2577211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3017520"/>
            <a:ext cx="3145536" cy="1097280"/>
            <a:chOff x="0" y="0"/>
            <a:chExt cx="4194048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Query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2064" y="4114800"/>
            <a:ext cx="3145536" cy="548640"/>
            <a:chOff x="0" y="0"/>
            <a:chExt cx="4194048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UI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0" y="3566160"/>
            <a:ext cx="329184" cy="548640"/>
            <a:chOff x="0" y="0"/>
            <a:chExt cx="438912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89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C6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74087" y="2949959"/>
            <a:ext cx="3170939" cy="1945643"/>
            <a:chOff x="0" y="0"/>
            <a:chExt cx="4227919" cy="25941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194048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27830" cy="2594102"/>
            </a:xfrm>
            <a:custGeom>
              <a:avLst/>
              <a:gdLst/>
              <a:ahLst/>
              <a:cxnLst/>
              <a:rect r="r" b="b" t="t" l="l"/>
              <a:pathLst>
                <a:path h="2594102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577211"/>
                  </a:lnTo>
                  <a:cubicBezTo>
                    <a:pt x="4227830" y="2586609"/>
                    <a:pt x="4220210" y="2594102"/>
                    <a:pt x="421093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4210939" y="2560320"/>
                  </a:lnTo>
                  <a:lnTo>
                    <a:pt x="4210939" y="2577211"/>
                  </a:lnTo>
                  <a:lnTo>
                    <a:pt x="4194048" y="2577211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86784" y="3017520"/>
            <a:ext cx="3145536" cy="1097280"/>
            <a:chOff x="0" y="0"/>
            <a:chExt cx="4194048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LangGraph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 Node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86784" y="4114800"/>
            <a:ext cx="3145536" cy="548640"/>
            <a:chOff x="0" y="0"/>
            <a:chExt cx="419404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Stateful graph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3566160"/>
            <a:ext cx="329184" cy="548640"/>
            <a:chOff x="0" y="0"/>
            <a:chExt cx="438912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89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C6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48807" y="2949959"/>
            <a:ext cx="3170939" cy="1945643"/>
            <a:chOff x="0" y="0"/>
            <a:chExt cx="4227919" cy="25941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194048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27830" cy="2594102"/>
            </a:xfrm>
            <a:custGeom>
              <a:avLst/>
              <a:gdLst/>
              <a:ahLst/>
              <a:cxnLst/>
              <a:rect r="r" b="b" t="t" l="l"/>
              <a:pathLst>
                <a:path h="2594102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577211"/>
                  </a:lnTo>
                  <a:cubicBezTo>
                    <a:pt x="4227830" y="2586609"/>
                    <a:pt x="4220210" y="2594102"/>
                    <a:pt x="421093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4210939" y="2560320"/>
                  </a:lnTo>
                  <a:lnTo>
                    <a:pt x="4210939" y="2577211"/>
                  </a:lnTo>
                  <a:lnTo>
                    <a:pt x="4194048" y="2577211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61504" y="3017520"/>
            <a:ext cx="3145536" cy="1097280"/>
            <a:chOff x="0" y="0"/>
            <a:chExt cx="4194048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MMR Search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61504" y="4114800"/>
            <a:ext cx="3145536" cy="548640"/>
            <a:chOff x="0" y="0"/>
            <a:chExt cx="4194048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 store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07040" y="3566160"/>
            <a:ext cx="329184" cy="548640"/>
            <a:chOff x="0" y="0"/>
            <a:chExt cx="438912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9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C6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23527" y="2949959"/>
            <a:ext cx="3170939" cy="1945643"/>
            <a:chOff x="0" y="0"/>
            <a:chExt cx="4227919" cy="25941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194048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27830" cy="2594102"/>
            </a:xfrm>
            <a:custGeom>
              <a:avLst/>
              <a:gdLst/>
              <a:ahLst/>
              <a:cxnLst/>
              <a:rect r="r" b="b" t="t" l="l"/>
              <a:pathLst>
                <a:path h="2594102" w="4227830">
                  <a:moveTo>
                    <a:pt x="16891" y="0"/>
                  </a:moveTo>
                  <a:lnTo>
                    <a:pt x="4210939" y="0"/>
                  </a:lnTo>
                  <a:cubicBezTo>
                    <a:pt x="4220337" y="0"/>
                    <a:pt x="4227830" y="7620"/>
                    <a:pt x="4227830" y="16891"/>
                  </a:cubicBezTo>
                  <a:lnTo>
                    <a:pt x="4227830" y="2577211"/>
                  </a:lnTo>
                  <a:cubicBezTo>
                    <a:pt x="4227830" y="2586609"/>
                    <a:pt x="4220210" y="2594102"/>
                    <a:pt x="421093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4210939" y="2560320"/>
                  </a:lnTo>
                  <a:lnTo>
                    <a:pt x="4210939" y="2577211"/>
                  </a:lnTo>
                  <a:lnTo>
                    <a:pt x="4194048" y="2577211"/>
                  </a:lnTo>
                  <a:lnTo>
                    <a:pt x="4194048" y="16891"/>
                  </a:lnTo>
                  <a:lnTo>
                    <a:pt x="4210939" y="16891"/>
                  </a:lnTo>
                  <a:lnTo>
                    <a:pt x="4210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36224" y="3017520"/>
            <a:ext cx="3145536" cy="1097280"/>
            <a:chOff x="0" y="0"/>
            <a:chExt cx="4194048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LangChain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LCEL Chain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36224" y="4114800"/>
            <a:ext cx="3145536" cy="548640"/>
            <a:chOff x="0" y="0"/>
            <a:chExt cx="4194048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 + LLM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081760" y="3566160"/>
            <a:ext cx="329184" cy="548640"/>
            <a:chOff x="0" y="0"/>
            <a:chExt cx="438912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389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C6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385541" y="2937253"/>
            <a:ext cx="3196333" cy="1971037"/>
            <a:chOff x="0" y="0"/>
            <a:chExt cx="4261777" cy="26280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33909" y="33909"/>
              <a:ext cx="4194048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61866" cy="2628138"/>
            </a:xfrm>
            <a:custGeom>
              <a:avLst/>
              <a:gdLst/>
              <a:ahLst/>
              <a:cxnLst/>
              <a:rect r="r" b="b" t="t" l="l"/>
              <a:pathLst>
                <a:path h="2628138" w="4261866">
                  <a:moveTo>
                    <a:pt x="33909" y="0"/>
                  </a:moveTo>
                  <a:lnTo>
                    <a:pt x="4227957" y="0"/>
                  </a:lnTo>
                  <a:cubicBezTo>
                    <a:pt x="4246626" y="0"/>
                    <a:pt x="4261866" y="15113"/>
                    <a:pt x="4261866" y="33909"/>
                  </a:cubicBezTo>
                  <a:lnTo>
                    <a:pt x="4261866" y="2594229"/>
                  </a:lnTo>
                  <a:cubicBezTo>
                    <a:pt x="4261866" y="2612898"/>
                    <a:pt x="4246753" y="2628138"/>
                    <a:pt x="4227957" y="2628138"/>
                  </a:cubicBezTo>
                  <a:lnTo>
                    <a:pt x="33909" y="2628138"/>
                  </a:lnTo>
                  <a:cubicBezTo>
                    <a:pt x="15240" y="2628138"/>
                    <a:pt x="0" y="2613025"/>
                    <a:pt x="0" y="25942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594229"/>
                  </a:lnTo>
                  <a:lnTo>
                    <a:pt x="33909" y="2594229"/>
                  </a:lnTo>
                  <a:lnTo>
                    <a:pt x="33909" y="2560320"/>
                  </a:lnTo>
                  <a:lnTo>
                    <a:pt x="4227957" y="2560320"/>
                  </a:lnTo>
                  <a:lnTo>
                    <a:pt x="4227957" y="2594229"/>
                  </a:lnTo>
                  <a:lnTo>
                    <a:pt x="4194048" y="2594229"/>
                  </a:lnTo>
                  <a:lnTo>
                    <a:pt x="4194048" y="33909"/>
                  </a:lnTo>
                  <a:lnTo>
                    <a:pt x="4227957" y="33909"/>
                  </a:lnTo>
                  <a:lnTo>
                    <a:pt x="422795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10944" y="3017520"/>
            <a:ext cx="3145536" cy="1097280"/>
            <a:chOff x="0" y="0"/>
            <a:chExt cx="4194048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410944" y="4114800"/>
            <a:ext cx="3145536" cy="548640"/>
            <a:chOff x="0" y="0"/>
            <a:chExt cx="4194048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by token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12064" y="5303520"/>
            <a:ext cx="10972800" cy="548640"/>
            <a:chOff x="0" y="0"/>
            <a:chExt cx="146304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INGESTION PIPELINE (one-time setup)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5930903"/>
            <a:ext cx="4012187" cy="1634747"/>
            <a:chOff x="0" y="0"/>
            <a:chExt cx="5349583" cy="21796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3244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49494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62683"/>
                  </a:lnTo>
                  <a:cubicBezTo>
                    <a:pt x="5349494" y="2172081"/>
                    <a:pt x="5341874" y="2179574"/>
                    <a:pt x="533260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32603" y="2145792"/>
                  </a:lnTo>
                  <a:lnTo>
                    <a:pt x="5332603" y="2162683"/>
                  </a:lnTo>
                  <a:lnTo>
                    <a:pt x="5315712" y="216268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2064" y="5943600"/>
            <a:ext cx="3986784" cy="1609344"/>
            <a:chOff x="0" y="0"/>
            <a:chExt cx="5315712" cy="21457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" t="0" r="-179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315712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Knowledge Base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.txt Documents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498848" y="6400800"/>
            <a:ext cx="365760" cy="731520"/>
            <a:chOff x="0" y="0"/>
            <a:chExt cx="48768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7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851911" y="5930903"/>
            <a:ext cx="4012187" cy="1634747"/>
            <a:chOff x="0" y="0"/>
            <a:chExt cx="5349583" cy="217966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32443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49494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62683"/>
                  </a:lnTo>
                  <a:cubicBezTo>
                    <a:pt x="5349494" y="2172081"/>
                    <a:pt x="5341874" y="2179574"/>
                    <a:pt x="533260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32603" y="2145792"/>
                  </a:lnTo>
                  <a:lnTo>
                    <a:pt x="5332603" y="2162683"/>
                  </a:lnTo>
                  <a:lnTo>
                    <a:pt x="5315712" y="216268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864608" y="5943600"/>
            <a:ext cx="3986784" cy="1609344"/>
            <a:chOff x="0" y="0"/>
            <a:chExt cx="5315712" cy="21457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" t="0" r="-179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315712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DirectoryLoader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TextSplitter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851392" y="6400800"/>
            <a:ext cx="365760" cy="731520"/>
            <a:chOff x="0" y="0"/>
            <a:chExt cx="48768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87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204455" y="5930903"/>
            <a:ext cx="4012187" cy="1634747"/>
            <a:chOff x="0" y="0"/>
            <a:chExt cx="5349583" cy="217966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3244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49494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62683"/>
                  </a:lnTo>
                  <a:cubicBezTo>
                    <a:pt x="5349494" y="2172081"/>
                    <a:pt x="5341874" y="2179574"/>
                    <a:pt x="533260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32603" y="2145792"/>
                  </a:lnTo>
                  <a:lnTo>
                    <a:pt x="5332603" y="2162683"/>
                  </a:lnTo>
                  <a:lnTo>
                    <a:pt x="5315712" y="216268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217152" y="5943600"/>
            <a:ext cx="3986784" cy="1609344"/>
            <a:chOff x="0" y="0"/>
            <a:chExt cx="5315712" cy="2145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" t="0" r="-179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5315712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nomic-embed-text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Embeddings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203936" y="6400800"/>
            <a:ext cx="365760" cy="731520"/>
            <a:chOff x="0" y="0"/>
            <a:chExt cx="48768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87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556999" y="5930903"/>
            <a:ext cx="4012187" cy="1634747"/>
            <a:chOff x="0" y="0"/>
            <a:chExt cx="5349583" cy="217966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32443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49494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62683"/>
                  </a:lnTo>
                  <a:cubicBezTo>
                    <a:pt x="5349494" y="2172081"/>
                    <a:pt x="5341874" y="2179574"/>
                    <a:pt x="533260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32603" y="2145792"/>
                  </a:lnTo>
                  <a:lnTo>
                    <a:pt x="5332603" y="2162683"/>
                  </a:lnTo>
                  <a:lnTo>
                    <a:pt x="5315712" y="216268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3244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569696" y="5943600"/>
            <a:ext cx="3986784" cy="1609344"/>
            <a:chOff x="0" y="0"/>
            <a:chExt cx="5315712" cy="21457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157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" t="0" r="-1792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315712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ChromaDB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Persistent Store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93014" y="7844790"/>
            <a:ext cx="17301972" cy="1043940"/>
            <a:chOff x="0" y="0"/>
            <a:chExt cx="23069296" cy="13919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25400" y="25400"/>
              <a:ext cx="23018496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069296" cy="1391920"/>
            </a:xfrm>
            <a:custGeom>
              <a:avLst/>
              <a:gdLst/>
              <a:ahLst/>
              <a:cxnLst/>
              <a:rect r="r" b="b" t="t" l="l"/>
              <a:pathLst>
                <a:path h="1391920" w="23069296">
                  <a:moveTo>
                    <a:pt x="25400" y="0"/>
                  </a:moveTo>
                  <a:lnTo>
                    <a:pt x="23043896" y="0"/>
                  </a:lnTo>
                  <a:cubicBezTo>
                    <a:pt x="23057865" y="0"/>
                    <a:pt x="23069296" y="11430"/>
                    <a:pt x="23069296" y="25400"/>
                  </a:cubicBezTo>
                  <a:lnTo>
                    <a:pt x="23069296" y="1366520"/>
                  </a:lnTo>
                  <a:cubicBezTo>
                    <a:pt x="23069296" y="1380490"/>
                    <a:pt x="23057865" y="1391920"/>
                    <a:pt x="23043896" y="1391920"/>
                  </a:cubicBezTo>
                  <a:lnTo>
                    <a:pt x="25400" y="1391920"/>
                  </a:lnTo>
                  <a:cubicBezTo>
                    <a:pt x="11430" y="1391920"/>
                    <a:pt x="0" y="1380490"/>
                    <a:pt x="0" y="1366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366520"/>
                  </a:lnTo>
                  <a:lnTo>
                    <a:pt x="25400" y="1366520"/>
                  </a:lnTo>
                  <a:lnTo>
                    <a:pt x="25400" y="1341120"/>
                  </a:lnTo>
                  <a:lnTo>
                    <a:pt x="23043896" y="1341120"/>
                  </a:lnTo>
                  <a:lnTo>
                    <a:pt x="23043896" y="1366520"/>
                  </a:lnTo>
                  <a:lnTo>
                    <a:pt x="23018496" y="1366520"/>
                  </a:lnTo>
                  <a:lnTo>
                    <a:pt x="23018496" y="25400"/>
                  </a:lnTo>
                  <a:lnTo>
                    <a:pt x="23043896" y="25400"/>
                  </a:lnTo>
                  <a:lnTo>
                    <a:pt x="230438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12064" y="7863840"/>
            <a:ext cx="17263872" cy="1005840"/>
            <a:chOff x="0" y="0"/>
            <a:chExt cx="23018496" cy="13411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018496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34" r="0" b="-28443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23018496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LangSmith Observability - traces every step: retrieval latency, LLM latency, token usage, inputs/outputs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DECISIONS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 Chose What I Chose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949959"/>
            <a:ext cx="8346443" cy="2219963"/>
            <a:chOff x="0" y="0"/>
            <a:chExt cx="11128591" cy="2959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3145536"/>
            <a:ext cx="7680960" cy="694944"/>
            <a:chOff x="0" y="0"/>
            <a:chExt cx="1024128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llama3.2:3b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7824" y="3877056"/>
            <a:ext cx="7680960" cy="1097280"/>
            <a:chOff x="0" y="0"/>
            <a:chExt cx="1024128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answer quality vs latency tradeoff. Benchmarked vs tinyllama and llama3.2:1b — 3b gave noticeably better answers with acceptable local CPU latency.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77607" y="2949959"/>
            <a:ext cx="8346443" cy="2219963"/>
            <a:chOff x="0" y="0"/>
            <a:chExt cx="11128591" cy="29599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19488" y="3145536"/>
            <a:ext cx="7680960" cy="694944"/>
            <a:chOff x="0" y="0"/>
            <a:chExt cx="102412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nomic-embed-text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19488" y="3877056"/>
            <a:ext cx="7680960" cy="1097280"/>
            <a:chOff x="0" y="0"/>
            <a:chExt cx="1024128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quality/speed tradeoff for local embedding. Runs via Ollama — no API key required, no external infrastructure needed.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5290823"/>
            <a:ext cx="8346443" cy="2219963"/>
            <a:chOff x="0" y="0"/>
            <a:chExt cx="11128591" cy="29599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7824" y="5486400"/>
            <a:ext cx="7680960" cy="694944"/>
            <a:chOff x="0" y="0"/>
            <a:chExt cx="102412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MMR Retrieval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7824" y="6217920"/>
            <a:ext cx="7680960" cy="1097280"/>
            <a:chOff x="0" y="0"/>
            <a:chExt cx="1024128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redundant chunks. Plain similarity returned duplicate content from small docs. MMR balances relevance + diversity.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77607" y="5290823"/>
            <a:ext cx="8346443" cy="2219963"/>
            <a:chOff x="0" y="0"/>
            <a:chExt cx="11128591" cy="29599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19488" y="5486400"/>
            <a:ext cx="7680960" cy="694944"/>
            <a:chOff x="0" y="0"/>
            <a:chExt cx="1024128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chunk_size=600, overlap=50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19488" y="6217920"/>
            <a:ext cx="7680960" cy="1097280"/>
            <a:chOff x="0" y="0"/>
            <a:chExt cx="102412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Larger chunks preserve more context per unit. Overlap ensures sentences at boundaries are captured. Tuned from 200 → 600 for better coherence.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7631687"/>
            <a:ext cx="8346443" cy="2219963"/>
            <a:chOff x="0" y="0"/>
            <a:chExt cx="11128591" cy="29599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77824" y="7827264"/>
            <a:ext cx="7680960" cy="694944"/>
            <a:chOff x="0" y="0"/>
            <a:chExt cx="102412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LangGraph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77824" y="8558784"/>
            <a:ext cx="7680960" cy="1097280"/>
            <a:chOff x="0" y="0"/>
            <a:chExt cx="1024128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graph node for retrieval. Easy to extend with query rewriting, guardrails, or routing nodes later. Each node independently traceable.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77607" y="7631687"/>
            <a:ext cx="8346443" cy="2219963"/>
            <a:chOff x="0" y="0"/>
            <a:chExt cx="11128591" cy="29599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942971"/>
                  </a:lnTo>
                  <a:cubicBezTo>
                    <a:pt x="11128501" y="2952369"/>
                    <a:pt x="11120882" y="2959862"/>
                    <a:pt x="111116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111611" y="2926080"/>
                  </a:lnTo>
                  <a:lnTo>
                    <a:pt x="11111611" y="2942971"/>
                  </a:lnTo>
                  <a:lnTo>
                    <a:pt x="11094720" y="29429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19488" y="7827264"/>
            <a:ext cx="7680960" cy="694944"/>
            <a:chOff x="0" y="0"/>
            <a:chExt cx="102412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19488" y="8558784"/>
            <a:ext cx="7680960" cy="1097280"/>
            <a:chOff x="0" y="0"/>
            <a:chExt cx="1024128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locally, persistent storage, native LangChain integration. No external infrastructure needed for prototype.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05840"/>
            <a:ext cx="16824960" cy="1828800"/>
            <a:chOff x="0" y="0"/>
            <a:chExt cx="2243328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2433280" cy="2590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Data-Driven Decisions via LangSmith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2949959"/>
            <a:ext cx="17289275" cy="830075"/>
            <a:chOff x="0" y="0"/>
            <a:chExt cx="23052367" cy="1106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2962656"/>
            <a:ext cx="1005840" cy="804672"/>
            <a:chOff x="0" y="0"/>
            <a:chExt cx="1341120" cy="1072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7360" y="3035808"/>
            <a:ext cx="2743200" cy="658368"/>
            <a:chOff x="0" y="0"/>
            <a:chExt cx="365760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63440" y="3035808"/>
            <a:ext cx="7315200" cy="658368"/>
            <a:chOff x="0" y="0"/>
            <a:chExt cx="9753600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tinyllama + similarity + chunk=500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31703" y="3132839"/>
            <a:ext cx="464315" cy="464315"/>
            <a:chOff x="0" y="0"/>
            <a:chExt cx="619087" cy="6190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984480" y="3035808"/>
            <a:ext cx="4663440" cy="658368"/>
            <a:chOff x="0" y="0"/>
            <a:chExt cx="621792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latency, duplicate chunks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9367" y="3846071"/>
            <a:ext cx="17289275" cy="830075"/>
            <a:chOff x="0" y="0"/>
            <a:chExt cx="23052367" cy="1106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3858768"/>
            <a:ext cx="1005840" cy="804672"/>
            <a:chOff x="0" y="0"/>
            <a:chExt cx="1341120" cy="1072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7360" y="3931920"/>
            <a:ext cx="2743200" cy="658368"/>
            <a:chOff x="0" y="0"/>
            <a:chExt cx="365760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63440" y="3931920"/>
            <a:ext cx="7315200" cy="658368"/>
            <a:chOff x="0" y="0"/>
            <a:chExt cx="975360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tinyllama → llama3.2:1b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31703" y="4028951"/>
            <a:ext cx="464315" cy="464315"/>
            <a:chOff x="0" y="0"/>
            <a:chExt cx="619087" cy="6190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984480" y="3931920"/>
            <a:ext cx="4663440" cy="658368"/>
            <a:chOff x="0" y="0"/>
            <a:chExt cx="6217920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973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quality answers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9367" y="4742183"/>
            <a:ext cx="17289275" cy="830075"/>
            <a:chOff x="0" y="0"/>
            <a:chExt cx="23052367" cy="11067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0080" y="4754880"/>
            <a:ext cx="1005840" cy="804672"/>
            <a:chOff x="0" y="0"/>
            <a:chExt cx="1341120" cy="10728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37360" y="4828032"/>
            <a:ext cx="2743200" cy="658368"/>
            <a:chOff x="0" y="0"/>
            <a:chExt cx="36576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663440" y="4828032"/>
            <a:ext cx="7315200" cy="658368"/>
            <a:chOff x="0" y="0"/>
            <a:chExt cx="975360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similarity → MMR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31703" y="4925063"/>
            <a:ext cx="464315" cy="464315"/>
            <a:chOff x="0" y="0"/>
            <a:chExt cx="619087" cy="6190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984480" y="4828032"/>
            <a:ext cx="4663440" cy="658368"/>
            <a:chOff x="0" y="0"/>
            <a:chExt cx="621792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973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Eliminated duplicate chunks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99367" y="5638295"/>
            <a:ext cx="17289275" cy="830075"/>
            <a:chOff x="0" y="0"/>
            <a:chExt cx="23052367" cy="110676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5650992"/>
            <a:ext cx="1005840" cy="804672"/>
            <a:chOff x="0" y="0"/>
            <a:chExt cx="134112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37360" y="5724144"/>
            <a:ext cx="2743200" cy="658368"/>
            <a:chOff x="0" y="0"/>
            <a:chExt cx="3657600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 Size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663440" y="5724144"/>
            <a:ext cx="7315200" cy="658368"/>
            <a:chOff x="0" y="0"/>
            <a:chExt cx="975360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 → 200 tokens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31703" y="5821175"/>
            <a:ext cx="464315" cy="464315"/>
            <a:chOff x="0" y="0"/>
            <a:chExt cx="619087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984480" y="5724144"/>
            <a:ext cx="4663440" cy="658368"/>
            <a:chOff x="0" y="0"/>
            <a:chExt cx="621792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Precise retrieval, no redundancy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99367" y="6534407"/>
            <a:ext cx="17289275" cy="830075"/>
            <a:chOff x="0" y="0"/>
            <a:chExt cx="23052367" cy="11067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0080" y="6547104"/>
            <a:ext cx="1005840" cy="804672"/>
            <a:chOff x="0" y="0"/>
            <a:chExt cx="1341120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37360" y="6620256"/>
            <a:ext cx="2743200" cy="658368"/>
            <a:chOff x="0" y="0"/>
            <a:chExt cx="3657600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Tokens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663440" y="6620256"/>
            <a:ext cx="7315200" cy="658368"/>
            <a:chOff x="0" y="0"/>
            <a:chExt cx="9753600" cy="8778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unlimited → num_predict=200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331703" y="6717287"/>
            <a:ext cx="464315" cy="464315"/>
            <a:chOff x="0" y="0"/>
            <a:chExt cx="619087" cy="61908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984480" y="6620256"/>
            <a:ext cx="4663440" cy="658368"/>
            <a:chOff x="0" y="0"/>
            <a:chExt cx="6217920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generation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7430519"/>
            <a:ext cx="17289275" cy="830075"/>
            <a:chOff x="0" y="0"/>
            <a:chExt cx="23052367" cy="110676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40080" y="7443216"/>
            <a:ext cx="1005840" cy="804672"/>
            <a:chOff x="0" y="0"/>
            <a:chExt cx="1341120" cy="107289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37360" y="7516368"/>
            <a:ext cx="2743200" cy="658368"/>
            <a:chOff x="0" y="0"/>
            <a:chExt cx="3657600" cy="8778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Top-K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663440" y="7516368"/>
            <a:ext cx="7315200" cy="658368"/>
            <a:chOff x="0" y="0"/>
            <a:chExt cx="9753600" cy="8778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→ 3 chunks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331703" y="7613399"/>
            <a:ext cx="464315" cy="464315"/>
            <a:chOff x="0" y="0"/>
            <a:chExt cx="619087" cy="61908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984480" y="7516368"/>
            <a:ext cx="4663440" cy="658368"/>
            <a:chOff x="0" y="0"/>
            <a:chExt cx="6217920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Optimal context, fastest latency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499367" y="8326631"/>
            <a:ext cx="17289275" cy="830075"/>
            <a:chOff x="0" y="0"/>
            <a:chExt cx="23052367" cy="110676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0080" y="8339328"/>
            <a:ext cx="1005840" cy="804672"/>
            <a:chOff x="0" y="0"/>
            <a:chExt cx="1341120" cy="107289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737360" y="8412480"/>
            <a:ext cx="2743200" cy="658368"/>
            <a:chOff x="0" y="0"/>
            <a:chExt cx="3657600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Upgrade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4663440" y="8412480"/>
            <a:ext cx="7315200" cy="658368"/>
            <a:chOff x="0" y="0"/>
            <a:chExt cx="9753600" cy="8778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llama3.2:1b → llama3.2:3b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331703" y="8509511"/>
            <a:ext cx="464315" cy="464315"/>
            <a:chOff x="0" y="0"/>
            <a:chExt cx="619087" cy="61908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984480" y="8412480"/>
            <a:ext cx="4663440" cy="658368"/>
            <a:chOff x="0" y="0"/>
            <a:chExt cx="6217920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Noticeably better answer quality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499367" y="9222743"/>
            <a:ext cx="17289275" cy="830075"/>
            <a:chOff x="0" y="0"/>
            <a:chExt cx="23052367" cy="110676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40080" y="9235440"/>
            <a:ext cx="1005840" cy="804672"/>
            <a:chOff x="0" y="0"/>
            <a:chExt cx="1341120" cy="107289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341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3411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737360" y="9308592"/>
            <a:ext cx="2743200" cy="658368"/>
            <a:chOff x="0" y="0"/>
            <a:chExt cx="3657600" cy="87782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DA3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Chunks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4663440" y="9308592"/>
            <a:ext cx="7315200" cy="658368"/>
            <a:chOff x="0" y="0"/>
            <a:chExt cx="9753600" cy="8778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chunk=200 → 600, overlap=20 → 50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331703" y="9405623"/>
            <a:ext cx="464315" cy="464315"/>
            <a:chOff x="0" y="0"/>
            <a:chExt cx="619087" cy="61908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984480" y="9308592"/>
            <a:ext cx="4663440" cy="658368"/>
            <a:chOff x="0" y="0"/>
            <a:chExt cx="6217920" cy="87782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17920" cy="877824"/>
            </a:xfrm>
            <a:custGeom>
              <a:avLst/>
              <a:gdLst/>
              <a:ahLst/>
              <a:cxnLst/>
              <a:rect r="r" b="b" t="t" l="l"/>
              <a:pathLst>
                <a:path h="87782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62179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context coherence, improved answers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CHALLENGES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05840"/>
            <a:ext cx="16824960" cy="1828800"/>
            <a:chOff x="0" y="0"/>
            <a:chExt cx="2243328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2433280" cy="2590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Problems Faced &amp; How I Solved Them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2949959"/>
            <a:ext cx="17289275" cy="1305563"/>
            <a:chOff x="0" y="0"/>
            <a:chExt cx="23052367" cy="1740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740662"/>
            </a:xfrm>
            <a:custGeom>
              <a:avLst/>
              <a:gdLst/>
              <a:ahLst/>
              <a:cxnLst/>
              <a:rect r="r" b="b" t="t" l="l"/>
              <a:pathLst>
                <a:path h="174066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723771"/>
                  </a:lnTo>
                  <a:cubicBezTo>
                    <a:pt x="23052278" y="1733169"/>
                    <a:pt x="23044658" y="1740662"/>
                    <a:pt x="23035388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3035388" y="1706880"/>
                  </a:lnTo>
                  <a:lnTo>
                    <a:pt x="23035388" y="1723771"/>
                  </a:lnTo>
                  <a:lnTo>
                    <a:pt x="23018497" y="172377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2949959"/>
            <a:ext cx="171707" cy="1305563"/>
            <a:chOff x="0" y="0"/>
            <a:chExt cx="228943" cy="1740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23771"/>
                  </a:lnTo>
                  <a:cubicBezTo>
                    <a:pt x="228854" y="1733169"/>
                    <a:pt x="221234" y="1740662"/>
                    <a:pt x="21196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1963" y="1706880"/>
                  </a:lnTo>
                  <a:lnTo>
                    <a:pt x="211963" y="1723771"/>
                  </a:lnTo>
                  <a:lnTo>
                    <a:pt x="195072" y="17237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672" y="3035808"/>
            <a:ext cx="16459200" cy="512064"/>
            <a:chOff x="0" y="0"/>
            <a:chExt cx="21945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LangSmith 401/403 errors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72" y="3602736"/>
            <a:ext cx="16459200" cy="512064"/>
            <a:chOff x="0" y="0"/>
            <a:chExt cx="21945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os.environ must be set before LangChain imports — load_dotenv() alone not sufficient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9367" y="4358135"/>
            <a:ext cx="17289275" cy="1305563"/>
            <a:chOff x="0" y="0"/>
            <a:chExt cx="23052367" cy="17407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301849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052278" cy="1740662"/>
            </a:xfrm>
            <a:custGeom>
              <a:avLst/>
              <a:gdLst/>
              <a:ahLst/>
              <a:cxnLst/>
              <a:rect r="r" b="b" t="t" l="l"/>
              <a:pathLst>
                <a:path h="174066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723771"/>
                  </a:lnTo>
                  <a:cubicBezTo>
                    <a:pt x="23052278" y="1733169"/>
                    <a:pt x="23044658" y="1740662"/>
                    <a:pt x="23035388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3035388" y="1706880"/>
                  </a:lnTo>
                  <a:lnTo>
                    <a:pt x="23035388" y="1723771"/>
                  </a:lnTo>
                  <a:lnTo>
                    <a:pt x="23018497" y="172377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9367" y="4358135"/>
            <a:ext cx="171707" cy="1305563"/>
            <a:chOff x="0" y="0"/>
            <a:chExt cx="228943" cy="1740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854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23771"/>
                  </a:lnTo>
                  <a:cubicBezTo>
                    <a:pt x="228854" y="1733169"/>
                    <a:pt x="221234" y="1740662"/>
                    <a:pt x="21196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1963" y="1706880"/>
                  </a:lnTo>
                  <a:lnTo>
                    <a:pt x="211963" y="1723771"/>
                  </a:lnTo>
                  <a:lnTo>
                    <a:pt x="195072" y="17237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4672" y="4443984"/>
            <a:ext cx="16459200" cy="512064"/>
            <a:chOff x="0" y="0"/>
            <a:chExt cx="21945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LangGraph + Streaming conflict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672" y="5010912"/>
            <a:ext cx="16459200" cy="512064"/>
            <a:chOff x="0" y="0"/>
            <a:chExt cx="219456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Used LangGraph for retrieval node only, streamed generation separately in Streamlit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5766311"/>
            <a:ext cx="17289275" cy="1305563"/>
            <a:chOff x="0" y="0"/>
            <a:chExt cx="23052367" cy="17407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1740662"/>
            </a:xfrm>
            <a:custGeom>
              <a:avLst/>
              <a:gdLst/>
              <a:ahLst/>
              <a:cxnLst/>
              <a:rect r="r" b="b" t="t" l="l"/>
              <a:pathLst>
                <a:path h="174066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723771"/>
                  </a:lnTo>
                  <a:cubicBezTo>
                    <a:pt x="23052278" y="1733169"/>
                    <a:pt x="23044658" y="1740662"/>
                    <a:pt x="23035388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3035388" y="1706880"/>
                  </a:lnTo>
                  <a:lnTo>
                    <a:pt x="23035388" y="1723771"/>
                  </a:lnTo>
                  <a:lnTo>
                    <a:pt x="23018497" y="172377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99367" y="5766311"/>
            <a:ext cx="171707" cy="1305563"/>
            <a:chOff x="0" y="0"/>
            <a:chExt cx="228943" cy="17407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854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23771"/>
                  </a:lnTo>
                  <a:cubicBezTo>
                    <a:pt x="228854" y="1733169"/>
                    <a:pt x="221234" y="1740662"/>
                    <a:pt x="21196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1963" y="1706880"/>
                  </a:lnTo>
                  <a:lnTo>
                    <a:pt x="211963" y="1723771"/>
                  </a:lnTo>
                  <a:lnTo>
                    <a:pt x="195072" y="17237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4672" y="5852160"/>
            <a:ext cx="16459200" cy="512064"/>
            <a:chOff x="0" y="0"/>
            <a:chExt cx="219456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Duplicate chunks in retrieval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4672" y="6419088"/>
            <a:ext cx="16459200" cy="512064"/>
            <a:chOff x="0" y="0"/>
            <a:chExt cx="219456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Switched similarity → MMR + reduced chunk_size 500 → 200, then tuned to 600 for better coherence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9367" y="7174487"/>
            <a:ext cx="17289275" cy="1305563"/>
            <a:chOff x="0" y="0"/>
            <a:chExt cx="23052367" cy="17407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01849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52278" cy="1740662"/>
            </a:xfrm>
            <a:custGeom>
              <a:avLst/>
              <a:gdLst/>
              <a:ahLst/>
              <a:cxnLst/>
              <a:rect r="r" b="b" t="t" l="l"/>
              <a:pathLst>
                <a:path h="174066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723771"/>
                  </a:lnTo>
                  <a:cubicBezTo>
                    <a:pt x="23052278" y="1733169"/>
                    <a:pt x="23044658" y="1740662"/>
                    <a:pt x="23035388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3035388" y="1706880"/>
                  </a:lnTo>
                  <a:lnTo>
                    <a:pt x="23035388" y="1723771"/>
                  </a:lnTo>
                  <a:lnTo>
                    <a:pt x="23018497" y="172377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7174487"/>
            <a:ext cx="171707" cy="1305563"/>
            <a:chOff x="0" y="0"/>
            <a:chExt cx="228943" cy="17407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854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23771"/>
                  </a:lnTo>
                  <a:cubicBezTo>
                    <a:pt x="228854" y="1733169"/>
                    <a:pt x="221234" y="1740662"/>
                    <a:pt x="21196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1963" y="1706880"/>
                  </a:lnTo>
                  <a:lnTo>
                    <a:pt x="211963" y="1723771"/>
                  </a:lnTo>
                  <a:lnTo>
                    <a:pt x="195072" y="17237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4672" y="7260336"/>
            <a:ext cx="16459200" cy="512064"/>
            <a:chOff x="0" y="0"/>
            <a:chExt cx="219456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ChromaDB rebuilding every run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04672" y="7827264"/>
            <a:ext cx="16459200" cy="512064"/>
            <a:chOff x="0" y="0"/>
            <a:chExt cx="219456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Added os.path.exists() check - load if exists, build only on first run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9367" y="8582663"/>
            <a:ext cx="17289275" cy="1305563"/>
            <a:chOff x="0" y="0"/>
            <a:chExt cx="23052367" cy="17407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301849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052278" cy="1740662"/>
            </a:xfrm>
            <a:custGeom>
              <a:avLst/>
              <a:gdLst/>
              <a:ahLst/>
              <a:cxnLst/>
              <a:rect r="r" b="b" t="t" l="l"/>
              <a:pathLst>
                <a:path h="174066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723771"/>
                  </a:lnTo>
                  <a:cubicBezTo>
                    <a:pt x="23052278" y="1733169"/>
                    <a:pt x="23044658" y="1740662"/>
                    <a:pt x="23035388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3035388" y="1706880"/>
                  </a:lnTo>
                  <a:lnTo>
                    <a:pt x="23035388" y="1723771"/>
                  </a:lnTo>
                  <a:lnTo>
                    <a:pt x="23018497" y="172377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9367" y="8582663"/>
            <a:ext cx="171707" cy="1305563"/>
            <a:chOff x="0" y="0"/>
            <a:chExt cx="228943" cy="17407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9507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8854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723771"/>
                  </a:lnTo>
                  <a:cubicBezTo>
                    <a:pt x="228854" y="1733169"/>
                    <a:pt x="221234" y="1740662"/>
                    <a:pt x="21196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11963" y="1706880"/>
                  </a:lnTo>
                  <a:lnTo>
                    <a:pt x="211963" y="1723771"/>
                  </a:lnTo>
                  <a:lnTo>
                    <a:pt x="195072" y="17237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04672" y="8668512"/>
            <a:ext cx="16459200" cy="512064"/>
            <a:chOff x="0" y="0"/>
            <a:chExt cx="21945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High LLM latency on CPU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" y="9235440"/>
            <a:ext cx="16459200" cy="512064"/>
            <a:chOff x="0" y="0"/>
            <a:chExt cx="219456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Set num_predict=200, reduced top_k=3, chose llama3.2:3b for best quality/latency balance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760" y="274320"/>
            <a:ext cx="8660770" cy="4846320"/>
            <a:chOff x="0" y="0"/>
            <a:chExt cx="11547694" cy="646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47694" cy="6461760"/>
            </a:xfrm>
            <a:custGeom>
              <a:avLst/>
              <a:gdLst/>
              <a:ahLst/>
              <a:cxnLst/>
              <a:rect r="r" b="b" t="t" l="l"/>
              <a:pathLst>
                <a:path h="6461760" w="11547694">
                  <a:moveTo>
                    <a:pt x="0" y="0"/>
                  </a:moveTo>
                  <a:lnTo>
                    <a:pt x="11547694" y="0"/>
                  </a:lnTo>
                  <a:lnTo>
                    <a:pt x="11547694" y="6461760"/>
                  </a:lnTo>
                  <a:lnTo>
                    <a:pt x="0" y="646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43" r="0" b="-10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08255" y="274320"/>
            <a:ext cx="8513985" cy="4846320"/>
            <a:chOff x="0" y="0"/>
            <a:chExt cx="11351980" cy="6461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1980" cy="6461760"/>
            </a:xfrm>
            <a:custGeom>
              <a:avLst/>
              <a:gdLst/>
              <a:ahLst/>
              <a:cxnLst/>
              <a:rect r="r" b="b" t="t" l="l"/>
              <a:pathLst>
                <a:path h="6461760" w="11351980">
                  <a:moveTo>
                    <a:pt x="0" y="0"/>
                  </a:moveTo>
                  <a:lnTo>
                    <a:pt x="11351980" y="0"/>
                  </a:lnTo>
                  <a:lnTo>
                    <a:pt x="11351980" y="6461760"/>
                  </a:lnTo>
                  <a:lnTo>
                    <a:pt x="0" y="646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88" r="0" b="-28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5303520"/>
            <a:ext cx="8660770" cy="4846320"/>
            <a:chOff x="0" y="0"/>
            <a:chExt cx="11547694" cy="6461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47694" cy="6461760"/>
            </a:xfrm>
            <a:custGeom>
              <a:avLst/>
              <a:gdLst/>
              <a:ahLst/>
              <a:cxnLst/>
              <a:rect r="r" b="b" t="t" l="l"/>
              <a:pathLst>
                <a:path h="6461760" w="11547694">
                  <a:moveTo>
                    <a:pt x="0" y="0"/>
                  </a:moveTo>
                  <a:lnTo>
                    <a:pt x="11547694" y="0"/>
                  </a:lnTo>
                  <a:lnTo>
                    <a:pt x="11547694" y="6461760"/>
                  </a:lnTo>
                  <a:lnTo>
                    <a:pt x="0" y="646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12" r="0" b="-36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08255" y="5303520"/>
            <a:ext cx="8513985" cy="4846320"/>
            <a:chOff x="0" y="0"/>
            <a:chExt cx="11351980" cy="646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51980" cy="6461760"/>
            </a:xfrm>
            <a:custGeom>
              <a:avLst/>
              <a:gdLst/>
              <a:ahLst/>
              <a:cxnLst/>
              <a:rect r="r" b="b" t="t" l="l"/>
              <a:pathLst>
                <a:path h="6461760" w="11351980">
                  <a:moveTo>
                    <a:pt x="0" y="0"/>
                  </a:moveTo>
                  <a:lnTo>
                    <a:pt x="11351980" y="0"/>
                  </a:lnTo>
                  <a:lnTo>
                    <a:pt x="11351980" y="6461760"/>
                  </a:lnTo>
                  <a:lnTo>
                    <a:pt x="0" y="646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45" r="0" b="-204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05840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 Walkthrough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834640"/>
            <a:ext cx="12971783" cy="7040880"/>
            <a:chOff x="0" y="0"/>
            <a:chExt cx="17295711" cy="938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95712" cy="9387840"/>
            </a:xfrm>
            <a:custGeom>
              <a:avLst/>
              <a:gdLst/>
              <a:ahLst/>
              <a:cxnLst/>
              <a:rect r="r" b="b" t="t" l="l"/>
              <a:pathLst>
                <a:path h="9387840" w="17295712">
                  <a:moveTo>
                    <a:pt x="0" y="0"/>
                  </a:moveTo>
                  <a:lnTo>
                    <a:pt x="17295712" y="0"/>
                  </a:lnTo>
                  <a:lnTo>
                    <a:pt x="1729571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4" t="0" r="-3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71783" y="2821943"/>
            <a:ext cx="4963163" cy="1086107"/>
            <a:chOff x="0" y="0"/>
            <a:chExt cx="6617551" cy="1448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67360" y="2834640"/>
            <a:ext cx="4572000" cy="1060704"/>
            <a:chOff x="0" y="0"/>
            <a:chExt cx="6096000" cy="141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chat interface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71783" y="3992375"/>
            <a:ext cx="4963163" cy="1086107"/>
            <a:chOff x="0" y="0"/>
            <a:chExt cx="6617551" cy="14481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167360" y="4005072"/>
            <a:ext cx="4572000" cy="1060704"/>
            <a:chOff x="0" y="0"/>
            <a:chExt cx="6096000" cy="141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document citations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71783" y="5162807"/>
            <a:ext cx="4963163" cy="1086107"/>
            <a:chOff x="0" y="0"/>
            <a:chExt cx="6617551" cy="14481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167360" y="5175504"/>
            <a:ext cx="4572000" cy="1060704"/>
            <a:chOff x="0" y="0"/>
            <a:chExt cx="6096000" cy="1414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Token-by-token streaming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71783" y="6333239"/>
            <a:ext cx="4963163" cy="1086107"/>
            <a:chOff x="0" y="0"/>
            <a:chExt cx="6617551" cy="14481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167360" y="6345936"/>
            <a:ext cx="4572000" cy="1060704"/>
            <a:chOff x="0" y="0"/>
            <a:chExt cx="6096000" cy="1414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Configurable Top-K slider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71783" y="7503671"/>
            <a:ext cx="4963163" cy="1086107"/>
            <a:chOff x="0" y="0"/>
            <a:chExt cx="6617551" cy="14481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167360" y="7516368"/>
            <a:ext cx="4572000" cy="1060704"/>
            <a:chOff x="0" y="0"/>
            <a:chExt cx="6096000" cy="1414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 chat history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971783" y="8674103"/>
            <a:ext cx="4963163" cy="1086107"/>
            <a:chOff x="0" y="0"/>
            <a:chExt cx="6617551" cy="14481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65836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17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431163"/>
                  </a:lnTo>
                  <a:cubicBezTo>
                    <a:pt x="6617462" y="1440561"/>
                    <a:pt x="6609842" y="1448054"/>
                    <a:pt x="6600572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600572" y="1414272"/>
                  </a:lnTo>
                  <a:lnTo>
                    <a:pt x="6600572" y="1431163"/>
                  </a:lnTo>
                  <a:lnTo>
                    <a:pt x="6583680" y="1431163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167360" y="8686800"/>
            <a:ext cx="4572000" cy="1060704"/>
            <a:chOff x="0" y="0"/>
            <a:chExt cx="6096000" cy="1414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87" r="0" b="-339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0960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LangSmith tracing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Prototype to Production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949959"/>
            <a:ext cx="5603243" cy="1031243"/>
            <a:chOff x="0" y="0"/>
            <a:chExt cx="747099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69D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709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58011"/>
                  </a:lnTo>
                  <a:cubicBezTo>
                    <a:pt x="7470901" y="1367409"/>
                    <a:pt x="7463282" y="1374902"/>
                    <a:pt x="7454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454011" y="1341120"/>
                  </a:lnTo>
                  <a:lnTo>
                    <a:pt x="7454011" y="1358011"/>
                  </a:lnTo>
                  <a:lnTo>
                    <a:pt x="7437120" y="13580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962656"/>
            <a:ext cx="5577840" cy="1005840"/>
            <a:chOff x="0" y="0"/>
            <a:chExt cx="743712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53" r="0" b="-580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37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- Prototype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3955799"/>
            <a:ext cx="5603243" cy="5694683"/>
            <a:chOff x="0" y="0"/>
            <a:chExt cx="7470991" cy="7592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437120" cy="7559040"/>
            </a:xfrm>
            <a:custGeom>
              <a:avLst/>
              <a:gdLst/>
              <a:ahLst/>
              <a:cxnLst/>
              <a:rect r="r" b="b" t="t" l="l"/>
              <a:pathLst>
                <a:path h="75590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0901" cy="7592822"/>
            </a:xfrm>
            <a:custGeom>
              <a:avLst/>
              <a:gdLst/>
              <a:ahLst/>
              <a:cxnLst/>
              <a:rect r="r" b="b" t="t" l="l"/>
              <a:pathLst>
                <a:path h="75928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7575931"/>
                  </a:lnTo>
                  <a:cubicBezTo>
                    <a:pt x="7470901" y="7585329"/>
                    <a:pt x="7463282" y="7592822"/>
                    <a:pt x="7454011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7454011" y="7559040"/>
                  </a:lnTo>
                  <a:lnTo>
                    <a:pt x="7454011" y="7575931"/>
                  </a:lnTo>
                  <a:lnTo>
                    <a:pt x="7437120" y="75759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4169664"/>
            <a:ext cx="5029200" cy="1097280"/>
            <a:chOff x="0" y="0"/>
            <a:chExt cx="67056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Ollama LLM (llama3.2:3b)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486400"/>
            <a:ext cx="5029200" cy="1097280"/>
            <a:chOff x="0" y="0"/>
            <a:chExt cx="67056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ChromaDB local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6803136"/>
            <a:ext cx="5029200" cy="1097280"/>
            <a:chOff x="0" y="0"/>
            <a:chExt cx="670560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 Streamlit UI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8119872"/>
            <a:ext cx="5029200" cy="1097280"/>
            <a:chOff x="0" y="0"/>
            <a:chExt cx="67056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LangSmith monitoring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88103" y="2949959"/>
            <a:ext cx="5603243" cy="1031243"/>
            <a:chOff x="0" y="0"/>
            <a:chExt cx="7470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709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58011"/>
                  </a:lnTo>
                  <a:cubicBezTo>
                    <a:pt x="7470901" y="1367409"/>
                    <a:pt x="7463282" y="1374902"/>
                    <a:pt x="7454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454011" y="1341120"/>
                  </a:lnTo>
                  <a:lnTo>
                    <a:pt x="7454011" y="1358011"/>
                  </a:lnTo>
                  <a:lnTo>
                    <a:pt x="7437120" y="13580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0" y="2962656"/>
            <a:ext cx="5577840" cy="1005840"/>
            <a:chOff x="0" y="0"/>
            <a:chExt cx="7437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53" r="0" b="-580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437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Short Term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88103" y="3955799"/>
            <a:ext cx="5603243" cy="5694683"/>
            <a:chOff x="0" y="0"/>
            <a:chExt cx="7470991" cy="75929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437120" cy="7559040"/>
            </a:xfrm>
            <a:custGeom>
              <a:avLst/>
              <a:gdLst/>
              <a:ahLst/>
              <a:cxnLst/>
              <a:rect r="r" b="b" t="t" l="l"/>
              <a:pathLst>
                <a:path h="75590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70901" cy="7592822"/>
            </a:xfrm>
            <a:custGeom>
              <a:avLst/>
              <a:gdLst/>
              <a:ahLst/>
              <a:cxnLst/>
              <a:rect r="r" b="b" t="t" l="l"/>
              <a:pathLst>
                <a:path h="75928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7575931"/>
                  </a:lnTo>
                  <a:cubicBezTo>
                    <a:pt x="7470901" y="7585329"/>
                    <a:pt x="7463282" y="7592822"/>
                    <a:pt x="7454011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7454011" y="7559040"/>
                  </a:lnTo>
                  <a:lnTo>
                    <a:pt x="7454011" y="7575931"/>
                  </a:lnTo>
                  <a:lnTo>
                    <a:pt x="7437120" y="75759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75120" y="4169664"/>
            <a:ext cx="5029200" cy="1097280"/>
            <a:chOff x="0" y="0"/>
            <a:chExt cx="670560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rewriting node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5486400"/>
            <a:ext cx="5029200" cy="1097280"/>
            <a:chOff x="0" y="0"/>
            <a:chExt cx="670560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Guardrails node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6803136"/>
            <a:ext cx="5029200" cy="1097280"/>
            <a:chOff x="0" y="0"/>
            <a:chExt cx="670560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Multi-language support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75120" y="8119872"/>
            <a:ext cx="5029200" cy="1097280"/>
            <a:chOff x="0" y="0"/>
            <a:chExt cx="67056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UI/UX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0263" y="2949959"/>
            <a:ext cx="5603243" cy="1031243"/>
            <a:chOff x="0" y="0"/>
            <a:chExt cx="7470991" cy="13749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709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58011"/>
                  </a:lnTo>
                  <a:cubicBezTo>
                    <a:pt x="7470901" y="1367409"/>
                    <a:pt x="7463282" y="1374902"/>
                    <a:pt x="7454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454011" y="1341120"/>
                  </a:lnTo>
                  <a:lnTo>
                    <a:pt x="7454011" y="1358011"/>
                  </a:lnTo>
                  <a:lnTo>
                    <a:pt x="7437120" y="13580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52960" y="2962656"/>
            <a:ext cx="5577840" cy="1005840"/>
            <a:chOff x="0" y="0"/>
            <a:chExt cx="74371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43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53" r="0" b="-5805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437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40263" y="3955799"/>
            <a:ext cx="5603243" cy="5694683"/>
            <a:chOff x="0" y="0"/>
            <a:chExt cx="7470991" cy="7592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437120" cy="7559040"/>
            </a:xfrm>
            <a:custGeom>
              <a:avLst/>
              <a:gdLst/>
              <a:ahLst/>
              <a:cxnLst/>
              <a:rect r="r" b="b" t="t" l="l"/>
              <a:pathLst>
                <a:path h="75590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470901" cy="7592822"/>
            </a:xfrm>
            <a:custGeom>
              <a:avLst/>
              <a:gdLst/>
              <a:ahLst/>
              <a:cxnLst/>
              <a:rect r="r" b="b" t="t" l="l"/>
              <a:pathLst>
                <a:path h="75928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7575931"/>
                  </a:lnTo>
                  <a:cubicBezTo>
                    <a:pt x="7470901" y="7585329"/>
                    <a:pt x="7463282" y="7592822"/>
                    <a:pt x="7454011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7454011" y="7559040"/>
                  </a:lnTo>
                  <a:lnTo>
                    <a:pt x="7454011" y="7575931"/>
                  </a:lnTo>
                  <a:lnTo>
                    <a:pt x="7437120" y="75759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527280" y="4169664"/>
            <a:ext cx="5029200" cy="1097280"/>
            <a:chOff x="0" y="0"/>
            <a:chExt cx="670560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GPT-4o / Claude API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527280" y="5486400"/>
            <a:ext cx="5029200" cy="1097280"/>
            <a:chOff x="0" y="0"/>
            <a:chExt cx="670560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Pinecone / Weaviate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7280" y="6803136"/>
            <a:ext cx="5029200" cy="1097280"/>
            <a:chOff x="0" y="0"/>
            <a:chExt cx="670560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/ GCP deployment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527280" y="8119872"/>
            <a:ext cx="5029200" cy="1097280"/>
            <a:chOff x="0" y="0"/>
            <a:chExt cx="6705600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670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Self-hosted LangSmith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9144000" cy="548640"/>
            <a:chOff x="0" y="0"/>
            <a:chExt cx="12192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700">
                  <a:solidFill>
                    <a:srgbClr val="1C69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060704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Built &amp; What's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2949959"/>
            <a:ext cx="17289275" cy="1122683"/>
            <a:chOff x="0" y="0"/>
            <a:chExt cx="23052367" cy="1496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496822"/>
            </a:xfrm>
            <a:custGeom>
              <a:avLst/>
              <a:gdLst/>
              <a:ahLst/>
              <a:cxnLst/>
              <a:rect r="r" b="b" t="t" l="l"/>
              <a:pathLst>
                <a:path h="149682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479931"/>
                  </a:lnTo>
                  <a:cubicBezTo>
                    <a:pt x="23052278" y="1489329"/>
                    <a:pt x="23044658" y="1496822"/>
                    <a:pt x="23035388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3035388" y="1463040"/>
                  </a:lnTo>
                  <a:lnTo>
                    <a:pt x="23035388" y="1479931"/>
                  </a:lnTo>
                  <a:lnTo>
                    <a:pt x="23018497" y="147993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2962656"/>
            <a:ext cx="16642080" cy="1097280"/>
            <a:chOff x="0" y="0"/>
            <a:chExt cx="2218944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189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local RAG chatbot - LangChain + LangGraph + ChromaDB + Ollama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367" y="4175255"/>
            <a:ext cx="17289275" cy="1122683"/>
            <a:chOff x="0" y="0"/>
            <a:chExt cx="23052367" cy="1496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01849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2278" cy="1496822"/>
            </a:xfrm>
            <a:custGeom>
              <a:avLst/>
              <a:gdLst/>
              <a:ahLst/>
              <a:cxnLst/>
              <a:rect r="r" b="b" t="t" l="l"/>
              <a:pathLst>
                <a:path h="149682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479931"/>
                  </a:lnTo>
                  <a:cubicBezTo>
                    <a:pt x="23052278" y="1489329"/>
                    <a:pt x="23044658" y="1496822"/>
                    <a:pt x="23035388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3035388" y="1463040"/>
                  </a:lnTo>
                  <a:lnTo>
                    <a:pt x="23035388" y="1479931"/>
                  </a:lnTo>
                  <a:lnTo>
                    <a:pt x="23018497" y="147993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7824" y="4187952"/>
            <a:ext cx="16642080" cy="1097280"/>
            <a:chOff x="0" y="0"/>
            <a:chExt cx="221894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189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Data-driven decisions - every choice backed by LangSmith benchmarking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9367" y="5400551"/>
            <a:ext cx="17289275" cy="1122683"/>
            <a:chOff x="0" y="0"/>
            <a:chExt cx="23052367" cy="1496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301849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052278" cy="1496822"/>
            </a:xfrm>
            <a:custGeom>
              <a:avLst/>
              <a:gdLst/>
              <a:ahLst/>
              <a:cxnLst/>
              <a:rect r="r" b="b" t="t" l="l"/>
              <a:pathLst>
                <a:path h="149682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479931"/>
                  </a:lnTo>
                  <a:cubicBezTo>
                    <a:pt x="23052278" y="1489329"/>
                    <a:pt x="23044658" y="1496822"/>
                    <a:pt x="23035388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3035388" y="1463040"/>
                  </a:lnTo>
                  <a:lnTo>
                    <a:pt x="23035388" y="1479931"/>
                  </a:lnTo>
                  <a:lnTo>
                    <a:pt x="23018497" y="147993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7824" y="5413248"/>
            <a:ext cx="16642080" cy="1097280"/>
            <a:chOff x="0" y="0"/>
            <a:chExt cx="221894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2189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MMR retrieval + chunk_size=600, overlap=50 - best context coherence on small documents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9367" y="6625847"/>
            <a:ext cx="17289275" cy="1122683"/>
            <a:chOff x="0" y="0"/>
            <a:chExt cx="23052367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301849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052278" cy="1496822"/>
            </a:xfrm>
            <a:custGeom>
              <a:avLst/>
              <a:gdLst/>
              <a:ahLst/>
              <a:cxnLst/>
              <a:rect r="r" b="b" t="t" l="l"/>
              <a:pathLst>
                <a:path h="149682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479931"/>
                  </a:lnTo>
                  <a:cubicBezTo>
                    <a:pt x="23052278" y="1489329"/>
                    <a:pt x="23044658" y="1496822"/>
                    <a:pt x="23035388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3035388" y="1463040"/>
                  </a:lnTo>
                  <a:lnTo>
                    <a:pt x="23035388" y="1479931"/>
                  </a:lnTo>
                  <a:lnTo>
                    <a:pt x="23018497" y="147993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7824" y="6638544"/>
            <a:ext cx="16642080" cy="1097280"/>
            <a:chOff x="0" y="0"/>
            <a:chExt cx="221894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2189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Streaming responses - token-by-token output for better user experience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7851143"/>
            <a:ext cx="17289275" cy="1122683"/>
            <a:chOff x="0" y="0"/>
            <a:chExt cx="23052367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1496822"/>
            </a:xfrm>
            <a:custGeom>
              <a:avLst/>
              <a:gdLst/>
              <a:ahLst/>
              <a:cxnLst/>
              <a:rect r="r" b="b" t="t" l="l"/>
              <a:pathLst>
                <a:path h="149682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479931"/>
                  </a:lnTo>
                  <a:cubicBezTo>
                    <a:pt x="23052278" y="1489329"/>
                    <a:pt x="23044658" y="1496822"/>
                    <a:pt x="23035388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3035388" y="1463040"/>
                  </a:lnTo>
                  <a:lnTo>
                    <a:pt x="23035388" y="1479931"/>
                  </a:lnTo>
                  <a:lnTo>
                    <a:pt x="23018497" y="1479931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F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77824" y="7863840"/>
            <a:ext cx="16642080" cy="1097280"/>
            <a:chOff x="0" y="0"/>
            <a:chExt cx="221894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2189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Production-ready architecture - modular, extensible, observable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644903" y="9314183"/>
            <a:ext cx="10998203" cy="793499"/>
            <a:chOff x="0" y="0"/>
            <a:chExt cx="14664271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399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C69D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641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041019"/>
                  </a:lnTo>
                  <a:cubicBezTo>
                    <a:pt x="14664182" y="1050417"/>
                    <a:pt x="14656563" y="1057910"/>
                    <a:pt x="14647290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4647290" y="1024128"/>
                  </a:lnTo>
                  <a:lnTo>
                    <a:pt x="14647290" y="1041019"/>
                  </a:lnTo>
                  <a:lnTo>
                    <a:pt x="14630400" y="1041019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69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57600" y="9326880"/>
            <a:ext cx="10972800" cy="768096"/>
            <a:chOff x="0" y="0"/>
            <a:chExt cx="1463040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46304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 &amp; Answers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093440" y="9784080"/>
            <a:ext cx="1828800" cy="365760"/>
            <a:chOff x="0" y="0"/>
            <a:chExt cx="2438400" cy="487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0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Page 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50000">
              <a:srgbClr val="F5F8FF">
                <a:alpha val="100000"/>
              </a:srgbClr>
            </a:gs>
            <a:gs pos="100000">
              <a:srgbClr val="538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3200" y="2194560"/>
            <a:ext cx="12801600" cy="5852160"/>
            <a:chOff x="0" y="0"/>
            <a:chExt cx="17068800" cy="780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90525"/>
              <a:ext cx="17068800" cy="819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39"/>
                </a:lnSpc>
              </a:pPr>
              <a:r>
                <a:rPr lang="en-US" sz="192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</a:t>
              </a:r>
            </a:p>
            <a:p>
              <a:pPr algn="ctr">
                <a:lnSpc>
                  <a:spcPts val="23039"/>
                </a:lnSpc>
              </a:pPr>
              <a:r>
                <a:rPr lang="en-US" sz="19200" b="true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DAHC1eeTbx8</dc:identifier>
  <dcterms:modified xsi:type="dcterms:W3CDTF">2011-08-01T06:04:30Z</dcterms:modified>
  <cp:revision>1</cp:revision>
  <dc:title>bmw_chatbot_presentation</dc:title>
</cp:coreProperties>
</file>