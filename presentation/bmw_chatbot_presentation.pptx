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9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Calibri (MS) Bold" charset="1" panose="020F0702030404030204"/>
      <p:regular r:id="rId22"/>
    </p:embeddedFont>
    <p:embeddedFont>
      <p:font typeface="Calibri (MS)" charset="1" panose="020F0502020204030204"/>
      <p:regular r:id="rId23"/>
    </p:embeddedFont>
    <p:embeddedFont>
      <p:font typeface="Canva Sans" charset="1" panose="020B0503030501040103"/>
      <p:regular r:id="rId25"/>
    </p:embeddedFont>
    <p:embeddedFont>
      <p:font typeface="Open Sans Bold" charset="1" panose="020B0806030504020204"/>
      <p:regular r:id="rId3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notesMasters/notesMaster1.xml" Type="http://schemas.openxmlformats.org/officeDocument/2006/relationships/notesMaster"/><Relationship Id="rId2" Target="presProps.xml" Type="http://schemas.openxmlformats.org/officeDocument/2006/relationships/presProps"/><Relationship Id="rId20" Target="theme/theme2.xml" Type="http://schemas.openxmlformats.org/officeDocument/2006/relationships/theme"/><Relationship Id="rId21" Target="notesSlides/notesSlide1.xml" Type="http://schemas.openxmlformats.org/officeDocument/2006/relationships/notesSlide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notesSlides/notesSlide2.xml" Type="http://schemas.openxmlformats.org/officeDocument/2006/relationships/notesSlide"/><Relationship Id="rId25" Target="fonts/font25.fntdata" Type="http://schemas.openxmlformats.org/officeDocument/2006/relationships/font"/><Relationship Id="rId26" Target="notesSlides/notesSlide3.xml" Type="http://schemas.openxmlformats.org/officeDocument/2006/relationships/notesSlide"/><Relationship Id="rId27" Target="notesSlides/notesSlide4.xml" Type="http://schemas.openxmlformats.org/officeDocument/2006/relationships/notesSlide"/><Relationship Id="rId28" Target="notesSlides/notesSlide5.xml" Type="http://schemas.openxmlformats.org/officeDocument/2006/relationships/notesSlide"/><Relationship Id="rId29" Target="notesSlides/notesSlide6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7.xml" Type="http://schemas.openxmlformats.org/officeDocument/2006/relationships/notesSlide"/><Relationship Id="rId31" Target="notesSlides/notesSlide8.xml" Type="http://schemas.openxmlformats.org/officeDocument/2006/relationships/notesSlide"/><Relationship Id="rId32" Target="notesSlides/notesSlide9.xml" Type="http://schemas.openxmlformats.org/officeDocument/2006/relationships/notesSlide"/><Relationship Id="rId33" Target="notesSlides/notesSlide10.xml" Type="http://schemas.openxmlformats.org/officeDocument/2006/relationships/notesSlide"/><Relationship Id="rId34" Target="notesSlides/notesSlide11.xml" Type="http://schemas.openxmlformats.org/officeDocument/2006/relationships/notesSlide"/><Relationship Id="rId35" Target="fonts/font35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png" Type="http://schemas.openxmlformats.org/officeDocument/2006/relationships/image"/><Relationship Id="rId5" Target="../media/image6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Relationship Id="rId4" Target="../media/image7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84A9FF">
                <a:alpha val="100000"/>
              </a:srgbClr>
            </a:gs>
            <a:gs pos="50000">
              <a:srgbClr val="F5F8FF">
                <a:alpha val="100000"/>
              </a:srgbClr>
            </a:gs>
            <a:gs pos="100000">
              <a:srgbClr val="5387F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244859" cy="10312403"/>
            <a:chOff x="0" y="0"/>
            <a:chExt cx="326479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292608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292608">
                  <a:moveTo>
                    <a:pt x="0" y="0"/>
                  </a:moveTo>
                  <a:lnTo>
                    <a:pt x="292608" y="0"/>
                  </a:lnTo>
                  <a:lnTo>
                    <a:pt x="292608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26390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326390">
                  <a:moveTo>
                    <a:pt x="16891" y="0"/>
                  </a:moveTo>
                  <a:lnTo>
                    <a:pt x="309499" y="0"/>
                  </a:lnTo>
                  <a:cubicBezTo>
                    <a:pt x="318897" y="0"/>
                    <a:pt x="326390" y="7620"/>
                    <a:pt x="326390" y="16891"/>
                  </a:cubicBezTo>
                  <a:lnTo>
                    <a:pt x="326390" y="13732890"/>
                  </a:lnTo>
                  <a:cubicBezTo>
                    <a:pt x="326390" y="13742290"/>
                    <a:pt x="318770" y="13749782"/>
                    <a:pt x="309499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309499" y="13716000"/>
                  </a:lnTo>
                  <a:lnTo>
                    <a:pt x="309499" y="13732890"/>
                  </a:lnTo>
                  <a:lnTo>
                    <a:pt x="292608" y="13732890"/>
                  </a:lnTo>
                  <a:lnTo>
                    <a:pt x="292608" y="16891"/>
                  </a:lnTo>
                  <a:lnTo>
                    <a:pt x="309499" y="16891"/>
                  </a:lnTo>
                  <a:lnTo>
                    <a:pt x="309499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548640" y="640080"/>
            <a:ext cx="17190720" cy="640080"/>
            <a:chOff x="0" y="0"/>
            <a:chExt cx="22920960" cy="8534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920961" cy="853440"/>
            </a:xfrm>
            <a:custGeom>
              <a:avLst/>
              <a:gdLst/>
              <a:ahLst/>
              <a:cxnLst/>
              <a:rect r="r" b="b" t="t" l="l"/>
              <a:pathLst>
                <a:path h="853440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3312" r="0" b="-473312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292096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600">
                  <a:solidFill>
                    <a:srgbClr val="1A305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BMW GROUP - CUSTOMER JOURNEY ANALYTICS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48640" y="2011680"/>
            <a:ext cx="11887200" cy="4023360"/>
            <a:chOff x="0" y="0"/>
            <a:chExt cx="15849600" cy="53644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5849600" cy="5364480"/>
            </a:xfrm>
            <a:custGeom>
              <a:avLst/>
              <a:gdLst/>
              <a:ahLst/>
              <a:cxnLst/>
              <a:rect r="r" b="b" t="t" l="l"/>
              <a:pathLst>
                <a:path h="5364480" w="15849600">
                  <a:moveTo>
                    <a:pt x="0" y="0"/>
                  </a:moveTo>
                  <a:lnTo>
                    <a:pt x="15849600" y="0"/>
                  </a:lnTo>
                  <a:lnTo>
                    <a:pt x="15849600" y="5364480"/>
                  </a:lnTo>
                  <a:lnTo>
                    <a:pt x="0" y="5364480"/>
                  </a:lnTo>
                  <a:close/>
                </a:path>
              </a:pathLst>
            </a:custGeom>
            <a:gradFill rotWithShape="true">
              <a:gsLst>
                <a:gs pos="0">
                  <a:srgbClr val="84A9FF">
                    <a:alpha val="0"/>
                  </a:srgbClr>
                </a:gs>
                <a:gs pos="50000">
                  <a:srgbClr val="F5F8FF">
                    <a:alpha val="0"/>
                  </a:srgbClr>
                </a:gs>
                <a:gs pos="100000">
                  <a:srgbClr val="5387FF">
                    <a:alpha val="0"/>
                  </a:srgbClr>
                </a:gs>
              </a:gsLst>
              <a:lin ang="27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71450"/>
              <a:ext cx="15849600" cy="5535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0560"/>
                </a:lnSpc>
              </a:pPr>
              <a:r>
                <a:rPr lang="en-US" sz="8800" b="true">
                  <a:solidFill>
                    <a:srgbClr val="0066B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AI-Powered Customer</a:t>
              </a:r>
            </a:p>
            <a:p>
              <a:pPr algn="l">
                <a:lnSpc>
                  <a:spcPts val="10560"/>
                </a:lnSpc>
              </a:pPr>
              <a:r>
                <a:rPr lang="en-US" sz="8800" b="true">
                  <a:solidFill>
                    <a:srgbClr val="0066B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Service Chatbot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8640" y="6217920"/>
            <a:ext cx="11887200" cy="1645920"/>
            <a:chOff x="0" y="0"/>
            <a:chExt cx="15849600" cy="21945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5849600" cy="2194560"/>
            </a:xfrm>
            <a:custGeom>
              <a:avLst/>
              <a:gdLst/>
              <a:ahLst/>
              <a:cxnLst/>
              <a:rect r="r" b="b" t="t" l="l"/>
              <a:pathLst>
                <a:path h="2194560" w="15849600">
                  <a:moveTo>
                    <a:pt x="0" y="0"/>
                  </a:moveTo>
                  <a:lnTo>
                    <a:pt x="15849600" y="0"/>
                  </a:lnTo>
                  <a:lnTo>
                    <a:pt x="158496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0725" r="0" b="-9072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15849600" cy="22517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40"/>
                </a:lnSpc>
              </a:pPr>
              <a:r>
                <a:rPr lang="en-US" sz="3200">
                  <a:solidFill>
                    <a:srgbClr val="0A1E3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RAG-based prototype using LangChain, LangGraph,</a:t>
              </a:r>
            </a:p>
            <a:p>
              <a:pPr algn="l">
                <a:lnSpc>
                  <a:spcPts val="3840"/>
                </a:lnSpc>
              </a:pPr>
              <a:r>
                <a:rPr lang="en-US" sz="3200">
                  <a:solidFill>
                    <a:srgbClr val="0A1E3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ChromaDB, Ollama &amp; LangSmith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535943" y="7851143"/>
            <a:ext cx="3408683" cy="720347"/>
            <a:chOff x="0" y="0"/>
            <a:chExt cx="4544911" cy="96046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4511167" cy="926592"/>
            </a:xfrm>
            <a:custGeom>
              <a:avLst/>
              <a:gdLst/>
              <a:ahLst/>
              <a:cxnLst/>
              <a:rect r="r" b="b" t="t" l="l"/>
              <a:pathLst>
                <a:path h="926592" w="4511167">
                  <a:moveTo>
                    <a:pt x="0" y="121920"/>
                  </a:moveTo>
                  <a:cubicBezTo>
                    <a:pt x="0" y="54610"/>
                    <a:pt x="56134" y="0"/>
                    <a:pt x="125476" y="0"/>
                  </a:cubicBezTo>
                  <a:lnTo>
                    <a:pt x="4385691" y="0"/>
                  </a:lnTo>
                  <a:cubicBezTo>
                    <a:pt x="4454906" y="0"/>
                    <a:pt x="4511167" y="54610"/>
                    <a:pt x="4511167" y="121920"/>
                  </a:cubicBezTo>
                  <a:lnTo>
                    <a:pt x="4511167" y="804672"/>
                  </a:lnTo>
                  <a:cubicBezTo>
                    <a:pt x="4511167" y="871982"/>
                    <a:pt x="4455033" y="926592"/>
                    <a:pt x="4385691" y="926592"/>
                  </a:cubicBezTo>
                  <a:lnTo>
                    <a:pt x="125476" y="926592"/>
                  </a:lnTo>
                  <a:cubicBezTo>
                    <a:pt x="56261" y="926592"/>
                    <a:pt x="0" y="871982"/>
                    <a:pt x="0" y="804672"/>
                  </a:cubicBez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544949" cy="960374"/>
            </a:xfrm>
            <a:custGeom>
              <a:avLst/>
              <a:gdLst/>
              <a:ahLst/>
              <a:cxnLst/>
              <a:rect r="r" b="b" t="t" l="l"/>
              <a:pathLst>
                <a:path h="960374" w="4544949">
                  <a:moveTo>
                    <a:pt x="0" y="138811"/>
                  </a:moveTo>
                  <a:cubicBezTo>
                    <a:pt x="0" y="61722"/>
                    <a:pt x="64135" y="0"/>
                    <a:pt x="142367" y="0"/>
                  </a:cubicBezTo>
                  <a:lnTo>
                    <a:pt x="4402582" y="0"/>
                  </a:lnTo>
                  <a:lnTo>
                    <a:pt x="4402582" y="16891"/>
                  </a:lnTo>
                  <a:lnTo>
                    <a:pt x="4402582" y="0"/>
                  </a:lnTo>
                  <a:cubicBezTo>
                    <a:pt x="4480814" y="0"/>
                    <a:pt x="4544949" y="61722"/>
                    <a:pt x="4544949" y="138811"/>
                  </a:cubicBezTo>
                  <a:lnTo>
                    <a:pt x="4528058" y="138811"/>
                  </a:lnTo>
                  <a:lnTo>
                    <a:pt x="4544949" y="138811"/>
                  </a:lnTo>
                  <a:lnTo>
                    <a:pt x="4544949" y="821563"/>
                  </a:lnTo>
                  <a:lnTo>
                    <a:pt x="4528058" y="821563"/>
                  </a:lnTo>
                  <a:lnTo>
                    <a:pt x="4544949" y="821563"/>
                  </a:lnTo>
                  <a:cubicBezTo>
                    <a:pt x="4544949" y="898652"/>
                    <a:pt x="4480814" y="960374"/>
                    <a:pt x="4402582" y="960374"/>
                  </a:cubicBezTo>
                  <a:lnTo>
                    <a:pt x="4402582" y="943483"/>
                  </a:lnTo>
                  <a:lnTo>
                    <a:pt x="4402582" y="960374"/>
                  </a:lnTo>
                  <a:lnTo>
                    <a:pt x="142367" y="960374"/>
                  </a:lnTo>
                  <a:lnTo>
                    <a:pt x="142367" y="943483"/>
                  </a:lnTo>
                  <a:lnTo>
                    <a:pt x="142367" y="960374"/>
                  </a:lnTo>
                  <a:cubicBezTo>
                    <a:pt x="64135" y="960501"/>
                    <a:pt x="0" y="898779"/>
                    <a:pt x="0" y="821563"/>
                  </a:cubicBezTo>
                  <a:lnTo>
                    <a:pt x="0" y="138811"/>
                  </a:lnTo>
                  <a:lnTo>
                    <a:pt x="16891" y="138811"/>
                  </a:lnTo>
                  <a:lnTo>
                    <a:pt x="0" y="138811"/>
                  </a:lnTo>
                  <a:moveTo>
                    <a:pt x="33909" y="138811"/>
                  </a:moveTo>
                  <a:lnTo>
                    <a:pt x="33909" y="821563"/>
                  </a:lnTo>
                  <a:lnTo>
                    <a:pt x="16891" y="821563"/>
                  </a:lnTo>
                  <a:lnTo>
                    <a:pt x="33909" y="821563"/>
                  </a:lnTo>
                  <a:cubicBezTo>
                    <a:pt x="33909" y="879094"/>
                    <a:pt x="82042" y="926592"/>
                    <a:pt x="142367" y="926592"/>
                  </a:cubicBezTo>
                  <a:lnTo>
                    <a:pt x="4402582" y="926592"/>
                  </a:lnTo>
                  <a:cubicBezTo>
                    <a:pt x="4462907" y="926592"/>
                    <a:pt x="4511040" y="879094"/>
                    <a:pt x="4511040" y="821563"/>
                  </a:cubicBezTo>
                  <a:lnTo>
                    <a:pt x="4511040" y="138811"/>
                  </a:lnTo>
                  <a:cubicBezTo>
                    <a:pt x="4511040" y="81280"/>
                    <a:pt x="4462907" y="33782"/>
                    <a:pt x="4402582" y="33782"/>
                  </a:cubicBezTo>
                  <a:lnTo>
                    <a:pt x="142367" y="33782"/>
                  </a:lnTo>
                  <a:lnTo>
                    <a:pt x="142367" y="16891"/>
                  </a:lnTo>
                  <a:lnTo>
                    <a:pt x="142367" y="33909"/>
                  </a:lnTo>
                  <a:cubicBezTo>
                    <a:pt x="82042" y="33909"/>
                    <a:pt x="33909" y="81407"/>
                    <a:pt x="33909" y="138938"/>
                  </a:cubicBez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548640" y="7863840"/>
            <a:ext cx="3383280" cy="694944"/>
            <a:chOff x="0" y="0"/>
            <a:chExt cx="4511040" cy="9265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511040" cy="926592"/>
            </a:xfrm>
            <a:custGeom>
              <a:avLst/>
              <a:gdLst/>
              <a:ahLst/>
              <a:cxnLst/>
              <a:rect r="r" b="b" t="t" l="l"/>
              <a:pathLst>
                <a:path h="926592" w="4511040">
                  <a:moveTo>
                    <a:pt x="0" y="0"/>
                  </a:moveTo>
                  <a:lnTo>
                    <a:pt x="4511040" y="0"/>
                  </a:lnTo>
                  <a:lnTo>
                    <a:pt x="45110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4861" r="0" b="-4486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4511040" cy="9742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4DA6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LangChain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4376423" y="7851143"/>
            <a:ext cx="3408683" cy="720347"/>
            <a:chOff x="0" y="0"/>
            <a:chExt cx="4544911" cy="96046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16891" y="16891"/>
              <a:ext cx="4511167" cy="926592"/>
            </a:xfrm>
            <a:custGeom>
              <a:avLst/>
              <a:gdLst/>
              <a:ahLst/>
              <a:cxnLst/>
              <a:rect r="r" b="b" t="t" l="l"/>
              <a:pathLst>
                <a:path h="926592" w="4511167">
                  <a:moveTo>
                    <a:pt x="0" y="121920"/>
                  </a:moveTo>
                  <a:cubicBezTo>
                    <a:pt x="0" y="54610"/>
                    <a:pt x="56134" y="0"/>
                    <a:pt x="125476" y="0"/>
                  </a:cubicBezTo>
                  <a:lnTo>
                    <a:pt x="4385691" y="0"/>
                  </a:lnTo>
                  <a:cubicBezTo>
                    <a:pt x="4454906" y="0"/>
                    <a:pt x="4511167" y="54610"/>
                    <a:pt x="4511167" y="121920"/>
                  </a:cubicBezTo>
                  <a:lnTo>
                    <a:pt x="4511167" y="804672"/>
                  </a:lnTo>
                  <a:cubicBezTo>
                    <a:pt x="4511167" y="871982"/>
                    <a:pt x="4455033" y="926592"/>
                    <a:pt x="4385691" y="926592"/>
                  </a:cubicBezTo>
                  <a:lnTo>
                    <a:pt x="125476" y="926592"/>
                  </a:lnTo>
                  <a:cubicBezTo>
                    <a:pt x="56261" y="926592"/>
                    <a:pt x="0" y="871982"/>
                    <a:pt x="0" y="804672"/>
                  </a:cubicBez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544949" cy="960374"/>
            </a:xfrm>
            <a:custGeom>
              <a:avLst/>
              <a:gdLst/>
              <a:ahLst/>
              <a:cxnLst/>
              <a:rect r="r" b="b" t="t" l="l"/>
              <a:pathLst>
                <a:path h="960374" w="4544949">
                  <a:moveTo>
                    <a:pt x="0" y="138811"/>
                  </a:moveTo>
                  <a:cubicBezTo>
                    <a:pt x="0" y="61722"/>
                    <a:pt x="64135" y="0"/>
                    <a:pt x="142367" y="0"/>
                  </a:cubicBezTo>
                  <a:lnTo>
                    <a:pt x="4402582" y="0"/>
                  </a:lnTo>
                  <a:lnTo>
                    <a:pt x="4402582" y="16891"/>
                  </a:lnTo>
                  <a:lnTo>
                    <a:pt x="4402582" y="0"/>
                  </a:lnTo>
                  <a:cubicBezTo>
                    <a:pt x="4480814" y="0"/>
                    <a:pt x="4544949" y="61722"/>
                    <a:pt x="4544949" y="138811"/>
                  </a:cubicBezTo>
                  <a:lnTo>
                    <a:pt x="4528058" y="138811"/>
                  </a:lnTo>
                  <a:lnTo>
                    <a:pt x="4544949" y="138811"/>
                  </a:lnTo>
                  <a:lnTo>
                    <a:pt x="4544949" y="821563"/>
                  </a:lnTo>
                  <a:lnTo>
                    <a:pt x="4528058" y="821563"/>
                  </a:lnTo>
                  <a:lnTo>
                    <a:pt x="4544949" y="821563"/>
                  </a:lnTo>
                  <a:cubicBezTo>
                    <a:pt x="4544949" y="898652"/>
                    <a:pt x="4480814" y="960374"/>
                    <a:pt x="4402582" y="960374"/>
                  </a:cubicBezTo>
                  <a:lnTo>
                    <a:pt x="4402582" y="943483"/>
                  </a:lnTo>
                  <a:lnTo>
                    <a:pt x="4402582" y="960374"/>
                  </a:lnTo>
                  <a:lnTo>
                    <a:pt x="142367" y="960374"/>
                  </a:lnTo>
                  <a:lnTo>
                    <a:pt x="142367" y="943483"/>
                  </a:lnTo>
                  <a:lnTo>
                    <a:pt x="142367" y="960374"/>
                  </a:lnTo>
                  <a:cubicBezTo>
                    <a:pt x="64135" y="960501"/>
                    <a:pt x="0" y="898779"/>
                    <a:pt x="0" y="821563"/>
                  </a:cubicBezTo>
                  <a:lnTo>
                    <a:pt x="0" y="138811"/>
                  </a:lnTo>
                  <a:lnTo>
                    <a:pt x="16891" y="138811"/>
                  </a:lnTo>
                  <a:lnTo>
                    <a:pt x="0" y="138811"/>
                  </a:lnTo>
                  <a:moveTo>
                    <a:pt x="33909" y="138811"/>
                  </a:moveTo>
                  <a:lnTo>
                    <a:pt x="33909" y="821563"/>
                  </a:lnTo>
                  <a:lnTo>
                    <a:pt x="16891" y="821563"/>
                  </a:lnTo>
                  <a:lnTo>
                    <a:pt x="33909" y="821563"/>
                  </a:lnTo>
                  <a:cubicBezTo>
                    <a:pt x="33909" y="879094"/>
                    <a:pt x="82042" y="926592"/>
                    <a:pt x="142367" y="926592"/>
                  </a:cubicBezTo>
                  <a:lnTo>
                    <a:pt x="4402582" y="926592"/>
                  </a:lnTo>
                  <a:cubicBezTo>
                    <a:pt x="4462907" y="926592"/>
                    <a:pt x="4511040" y="879094"/>
                    <a:pt x="4511040" y="821563"/>
                  </a:cubicBezTo>
                  <a:lnTo>
                    <a:pt x="4511040" y="138811"/>
                  </a:lnTo>
                  <a:cubicBezTo>
                    <a:pt x="4511040" y="81280"/>
                    <a:pt x="4462907" y="33782"/>
                    <a:pt x="4402582" y="33782"/>
                  </a:cubicBezTo>
                  <a:lnTo>
                    <a:pt x="142367" y="33782"/>
                  </a:lnTo>
                  <a:lnTo>
                    <a:pt x="142367" y="16891"/>
                  </a:lnTo>
                  <a:lnTo>
                    <a:pt x="142367" y="33909"/>
                  </a:lnTo>
                  <a:cubicBezTo>
                    <a:pt x="82042" y="33909"/>
                    <a:pt x="33909" y="81407"/>
                    <a:pt x="33909" y="138938"/>
                  </a:cubicBez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4389120" y="7863840"/>
            <a:ext cx="3383280" cy="694944"/>
            <a:chOff x="0" y="0"/>
            <a:chExt cx="4511040" cy="92659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511040" cy="926592"/>
            </a:xfrm>
            <a:custGeom>
              <a:avLst/>
              <a:gdLst/>
              <a:ahLst/>
              <a:cxnLst/>
              <a:rect r="r" b="b" t="t" l="l"/>
              <a:pathLst>
                <a:path h="926592" w="4511040">
                  <a:moveTo>
                    <a:pt x="0" y="0"/>
                  </a:moveTo>
                  <a:lnTo>
                    <a:pt x="4511040" y="0"/>
                  </a:lnTo>
                  <a:lnTo>
                    <a:pt x="45110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4861" r="0" b="-44861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4511040" cy="9742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4DA6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LangGraph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8216903" y="7851143"/>
            <a:ext cx="3408683" cy="720347"/>
            <a:chOff x="0" y="0"/>
            <a:chExt cx="4544911" cy="96046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6891" y="16891"/>
              <a:ext cx="4511167" cy="926592"/>
            </a:xfrm>
            <a:custGeom>
              <a:avLst/>
              <a:gdLst/>
              <a:ahLst/>
              <a:cxnLst/>
              <a:rect r="r" b="b" t="t" l="l"/>
              <a:pathLst>
                <a:path h="926592" w="4511167">
                  <a:moveTo>
                    <a:pt x="0" y="121920"/>
                  </a:moveTo>
                  <a:cubicBezTo>
                    <a:pt x="0" y="54610"/>
                    <a:pt x="56134" y="0"/>
                    <a:pt x="125476" y="0"/>
                  </a:cubicBezTo>
                  <a:lnTo>
                    <a:pt x="4385691" y="0"/>
                  </a:lnTo>
                  <a:cubicBezTo>
                    <a:pt x="4454906" y="0"/>
                    <a:pt x="4511167" y="54610"/>
                    <a:pt x="4511167" y="121920"/>
                  </a:cubicBezTo>
                  <a:lnTo>
                    <a:pt x="4511167" y="804672"/>
                  </a:lnTo>
                  <a:cubicBezTo>
                    <a:pt x="4511167" y="871982"/>
                    <a:pt x="4455033" y="926592"/>
                    <a:pt x="4385691" y="926592"/>
                  </a:cubicBezTo>
                  <a:lnTo>
                    <a:pt x="125476" y="926592"/>
                  </a:lnTo>
                  <a:cubicBezTo>
                    <a:pt x="56261" y="926592"/>
                    <a:pt x="0" y="871982"/>
                    <a:pt x="0" y="804672"/>
                  </a:cubicBez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544949" cy="960374"/>
            </a:xfrm>
            <a:custGeom>
              <a:avLst/>
              <a:gdLst/>
              <a:ahLst/>
              <a:cxnLst/>
              <a:rect r="r" b="b" t="t" l="l"/>
              <a:pathLst>
                <a:path h="960374" w="4544949">
                  <a:moveTo>
                    <a:pt x="0" y="138811"/>
                  </a:moveTo>
                  <a:cubicBezTo>
                    <a:pt x="0" y="61722"/>
                    <a:pt x="64135" y="0"/>
                    <a:pt x="142367" y="0"/>
                  </a:cubicBezTo>
                  <a:lnTo>
                    <a:pt x="4402582" y="0"/>
                  </a:lnTo>
                  <a:lnTo>
                    <a:pt x="4402582" y="16891"/>
                  </a:lnTo>
                  <a:lnTo>
                    <a:pt x="4402582" y="0"/>
                  </a:lnTo>
                  <a:cubicBezTo>
                    <a:pt x="4480814" y="0"/>
                    <a:pt x="4544949" y="61722"/>
                    <a:pt x="4544949" y="138811"/>
                  </a:cubicBezTo>
                  <a:lnTo>
                    <a:pt x="4528058" y="138811"/>
                  </a:lnTo>
                  <a:lnTo>
                    <a:pt x="4544949" y="138811"/>
                  </a:lnTo>
                  <a:lnTo>
                    <a:pt x="4544949" y="821563"/>
                  </a:lnTo>
                  <a:lnTo>
                    <a:pt x="4528058" y="821563"/>
                  </a:lnTo>
                  <a:lnTo>
                    <a:pt x="4544949" y="821563"/>
                  </a:lnTo>
                  <a:cubicBezTo>
                    <a:pt x="4544949" y="898652"/>
                    <a:pt x="4480814" y="960374"/>
                    <a:pt x="4402582" y="960374"/>
                  </a:cubicBezTo>
                  <a:lnTo>
                    <a:pt x="4402582" y="943483"/>
                  </a:lnTo>
                  <a:lnTo>
                    <a:pt x="4402582" y="960374"/>
                  </a:lnTo>
                  <a:lnTo>
                    <a:pt x="142367" y="960374"/>
                  </a:lnTo>
                  <a:lnTo>
                    <a:pt x="142367" y="943483"/>
                  </a:lnTo>
                  <a:lnTo>
                    <a:pt x="142367" y="960374"/>
                  </a:lnTo>
                  <a:cubicBezTo>
                    <a:pt x="64135" y="960501"/>
                    <a:pt x="0" y="898779"/>
                    <a:pt x="0" y="821563"/>
                  </a:cubicBezTo>
                  <a:lnTo>
                    <a:pt x="0" y="138811"/>
                  </a:lnTo>
                  <a:lnTo>
                    <a:pt x="16891" y="138811"/>
                  </a:lnTo>
                  <a:lnTo>
                    <a:pt x="0" y="138811"/>
                  </a:lnTo>
                  <a:moveTo>
                    <a:pt x="33909" y="138811"/>
                  </a:moveTo>
                  <a:lnTo>
                    <a:pt x="33909" y="821563"/>
                  </a:lnTo>
                  <a:lnTo>
                    <a:pt x="16891" y="821563"/>
                  </a:lnTo>
                  <a:lnTo>
                    <a:pt x="33909" y="821563"/>
                  </a:lnTo>
                  <a:cubicBezTo>
                    <a:pt x="33909" y="879094"/>
                    <a:pt x="82042" y="926592"/>
                    <a:pt x="142367" y="926592"/>
                  </a:cubicBezTo>
                  <a:lnTo>
                    <a:pt x="4402582" y="926592"/>
                  </a:lnTo>
                  <a:cubicBezTo>
                    <a:pt x="4462907" y="926592"/>
                    <a:pt x="4511040" y="879094"/>
                    <a:pt x="4511040" y="821563"/>
                  </a:cubicBezTo>
                  <a:lnTo>
                    <a:pt x="4511040" y="138811"/>
                  </a:lnTo>
                  <a:cubicBezTo>
                    <a:pt x="4511040" y="81280"/>
                    <a:pt x="4462907" y="33782"/>
                    <a:pt x="4402582" y="33782"/>
                  </a:cubicBezTo>
                  <a:lnTo>
                    <a:pt x="142367" y="33782"/>
                  </a:lnTo>
                  <a:lnTo>
                    <a:pt x="142367" y="16891"/>
                  </a:lnTo>
                  <a:lnTo>
                    <a:pt x="142367" y="33909"/>
                  </a:lnTo>
                  <a:cubicBezTo>
                    <a:pt x="82042" y="33909"/>
                    <a:pt x="33909" y="81407"/>
                    <a:pt x="33909" y="138938"/>
                  </a:cubicBez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0" y="7863840"/>
            <a:ext cx="3383280" cy="694944"/>
            <a:chOff x="0" y="0"/>
            <a:chExt cx="4511040" cy="92659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511040" cy="926592"/>
            </a:xfrm>
            <a:custGeom>
              <a:avLst/>
              <a:gdLst/>
              <a:ahLst/>
              <a:cxnLst/>
              <a:rect r="r" b="b" t="t" l="l"/>
              <a:pathLst>
                <a:path h="926592" w="4511040">
                  <a:moveTo>
                    <a:pt x="0" y="0"/>
                  </a:moveTo>
                  <a:lnTo>
                    <a:pt x="4511040" y="0"/>
                  </a:lnTo>
                  <a:lnTo>
                    <a:pt x="45110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4861" r="0" b="-44861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4511040" cy="9742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4DA6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ChromaDB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535943" y="8856983"/>
            <a:ext cx="3408683" cy="720347"/>
            <a:chOff x="0" y="0"/>
            <a:chExt cx="4544911" cy="960463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6891" y="16891"/>
              <a:ext cx="4511167" cy="926592"/>
            </a:xfrm>
            <a:custGeom>
              <a:avLst/>
              <a:gdLst/>
              <a:ahLst/>
              <a:cxnLst/>
              <a:rect r="r" b="b" t="t" l="l"/>
              <a:pathLst>
                <a:path h="926592" w="4511167">
                  <a:moveTo>
                    <a:pt x="0" y="121920"/>
                  </a:moveTo>
                  <a:cubicBezTo>
                    <a:pt x="0" y="54610"/>
                    <a:pt x="56134" y="0"/>
                    <a:pt x="125476" y="0"/>
                  </a:cubicBezTo>
                  <a:lnTo>
                    <a:pt x="4385691" y="0"/>
                  </a:lnTo>
                  <a:cubicBezTo>
                    <a:pt x="4454906" y="0"/>
                    <a:pt x="4511167" y="54610"/>
                    <a:pt x="4511167" y="121920"/>
                  </a:cubicBezTo>
                  <a:lnTo>
                    <a:pt x="4511167" y="804672"/>
                  </a:lnTo>
                  <a:cubicBezTo>
                    <a:pt x="4511167" y="871982"/>
                    <a:pt x="4455033" y="926592"/>
                    <a:pt x="4385691" y="926592"/>
                  </a:cubicBezTo>
                  <a:lnTo>
                    <a:pt x="125476" y="926592"/>
                  </a:lnTo>
                  <a:cubicBezTo>
                    <a:pt x="56261" y="926592"/>
                    <a:pt x="0" y="871982"/>
                    <a:pt x="0" y="804672"/>
                  </a:cubicBez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544949" cy="960374"/>
            </a:xfrm>
            <a:custGeom>
              <a:avLst/>
              <a:gdLst/>
              <a:ahLst/>
              <a:cxnLst/>
              <a:rect r="r" b="b" t="t" l="l"/>
              <a:pathLst>
                <a:path h="960374" w="4544949">
                  <a:moveTo>
                    <a:pt x="0" y="138811"/>
                  </a:moveTo>
                  <a:cubicBezTo>
                    <a:pt x="0" y="61722"/>
                    <a:pt x="64135" y="0"/>
                    <a:pt x="142367" y="0"/>
                  </a:cubicBezTo>
                  <a:lnTo>
                    <a:pt x="4402582" y="0"/>
                  </a:lnTo>
                  <a:lnTo>
                    <a:pt x="4402582" y="16891"/>
                  </a:lnTo>
                  <a:lnTo>
                    <a:pt x="4402582" y="0"/>
                  </a:lnTo>
                  <a:cubicBezTo>
                    <a:pt x="4480814" y="0"/>
                    <a:pt x="4544949" y="61722"/>
                    <a:pt x="4544949" y="138811"/>
                  </a:cubicBezTo>
                  <a:lnTo>
                    <a:pt x="4528058" y="138811"/>
                  </a:lnTo>
                  <a:lnTo>
                    <a:pt x="4544949" y="138811"/>
                  </a:lnTo>
                  <a:lnTo>
                    <a:pt x="4544949" y="821563"/>
                  </a:lnTo>
                  <a:lnTo>
                    <a:pt x="4528058" y="821563"/>
                  </a:lnTo>
                  <a:lnTo>
                    <a:pt x="4544949" y="821563"/>
                  </a:lnTo>
                  <a:cubicBezTo>
                    <a:pt x="4544949" y="898652"/>
                    <a:pt x="4480814" y="960374"/>
                    <a:pt x="4402582" y="960374"/>
                  </a:cubicBezTo>
                  <a:lnTo>
                    <a:pt x="4402582" y="943483"/>
                  </a:lnTo>
                  <a:lnTo>
                    <a:pt x="4402582" y="960374"/>
                  </a:lnTo>
                  <a:lnTo>
                    <a:pt x="142367" y="960374"/>
                  </a:lnTo>
                  <a:lnTo>
                    <a:pt x="142367" y="943483"/>
                  </a:lnTo>
                  <a:lnTo>
                    <a:pt x="142367" y="960374"/>
                  </a:lnTo>
                  <a:cubicBezTo>
                    <a:pt x="64135" y="960501"/>
                    <a:pt x="0" y="898779"/>
                    <a:pt x="0" y="821563"/>
                  </a:cubicBezTo>
                  <a:lnTo>
                    <a:pt x="0" y="138811"/>
                  </a:lnTo>
                  <a:lnTo>
                    <a:pt x="16891" y="138811"/>
                  </a:lnTo>
                  <a:lnTo>
                    <a:pt x="0" y="138811"/>
                  </a:lnTo>
                  <a:moveTo>
                    <a:pt x="33909" y="138811"/>
                  </a:moveTo>
                  <a:lnTo>
                    <a:pt x="33909" y="821563"/>
                  </a:lnTo>
                  <a:lnTo>
                    <a:pt x="16891" y="821563"/>
                  </a:lnTo>
                  <a:lnTo>
                    <a:pt x="33909" y="821563"/>
                  </a:lnTo>
                  <a:cubicBezTo>
                    <a:pt x="33909" y="879094"/>
                    <a:pt x="82042" y="926592"/>
                    <a:pt x="142367" y="926592"/>
                  </a:cubicBezTo>
                  <a:lnTo>
                    <a:pt x="4402582" y="926592"/>
                  </a:lnTo>
                  <a:cubicBezTo>
                    <a:pt x="4462907" y="926592"/>
                    <a:pt x="4511040" y="879094"/>
                    <a:pt x="4511040" y="821563"/>
                  </a:cubicBezTo>
                  <a:lnTo>
                    <a:pt x="4511040" y="138811"/>
                  </a:lnTo>
                  <a:cubicBezTo>
                    <a:pt x="4511040" y="81280"/>
                    <a:pt x="4462907" y="33782"/>
                    <a:pt x="4402582" y="33782"/>
                  </a:cubicBezTo>
                  <a:lnTo>
                    <a:pt x="142367" y="33782"/>
                  </a:lnTo>
                  <a:lnTo>
                    <a:pt x="142367" y="16891"/>
                  </a:lnTo>
                  <a:lnTo>
                    <a:pt x="142367" y="33909"/>
                  </a:lnTo>
                  <a:cubicBezTo>
                    <a:pt x="82042" y="33909"/>
                    <a:pt x="33909" y="81407"/>
                    <a:pt x="33909" y="138938"/>
                  </a:cubicBez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548640" y="8869680"/>
            <a:ext cx="3383280" cy="694944"/>
            <a:chOff x="0" y="0"/>
            <a:chExt cx="4511040" cy="926592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511040" cy="926592"/>
            </a:xfrm>
            <a:custGeom>
              <a:avLst/>
              <a:gdLst/>
              <a:ahLst/>
              <a:cxnLst/>
              <a:rect r="r" b="b" t="t" l="l"/>
              <a:pathLst>
                <a:path h="926592" w="4511040">
                  <a:moveTo>
                    <a:pt x="0" y="0"/>
                  </a:moveTo>
                  <a:lnTo>
                    <a:pt x="4511040" y="0"/>
                  </a:lnTo>
                  <a:lnTo>
                    <a:pt x="45110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4861" r="0" b="-44861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4511040" cy="9742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4DA6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Ollama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4376423" y="8856983"/>
            <a:ext cx="3408683" cy="720347"/>
            <a:chOff x="0" y="0"/>
            <a:chExt cx="4544911" cy="960463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16891" y="16891"/>
              <a:ext cx="4511167" cy="926592"/>
            </a:xfrm>
            <a:custGeom>
              <a:avLst/>
              <a:gdLst/>
              <a:ahLst/>
              <a:cxnLst/>
              <a:rect r="r" b="b" t="t" l="l"/>
              <a:pathLst>
                <a:path h="926592" w="4511167">
                  <a:moveTo>
                    <a:pt x="0" y="121920"/>
                  </a:moveTo>
                  <a:cubicBezTo>
                    <a:pt x="0" y="54610"/>
                    <a:pt x="56134" y="0"/>
                    <a:pt x="125476" y="0"/>
                  </a:cubicBezTo>
                  <a:lnTo>
                    <a:pt x="4385691" y="0"/>
                  </a:lnTo>
                  <a:cubicBezTo>
                    <a:pt x="4454906" y="0"/>
                    <a:pt x="4511167" y="54610"/>
                    <a:pt x="4511167" y="121920"/>
                  </a:cubicBezTo>
                  <a:lnTo>
                    <a:pt x="4511167" y="804672"/>
                  </a:lnTo>
                  <a:cubicBezTo>
                    <a:pt x="4511167" y="871982"/>
                    <a:pt x="4455033" y="926592"/>
                    <a:pt x="4385691" y="926592"/>
                  </a:cubicBezTo>
                  <a:lnTo>
                    <a:pt x="125476" y="926592"/>
                  </a:lnTo>
                  <a:cubicBezTo>
                    <a:pt x="56261" y="926592"/>
                    <a:pt x="0" y="871982"/>
                    <a:pt x="0" y="804672"/>
                  </a:cubicBez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544949" cy="960374"/>
            </a:xfrm>
            <a:custGeom>
              <a:avLst/>
              <a:gdLst/>
              <a:ahLst/>
              <a:cxnLst/>
              <a:rect r="r" b="b" t="t" l="l"/>
              <a:pathLst>
                <a:path h="960374" w="4544949">
                  <a:moveTo>
                    <a:pt x="0" y="138811"/>
                  </a:moveTo>
                  <a:cubicBezTo>
                    <a:pt x="0" y="61722"/>
                    <a:pt x="64135" y="0"/>
                    <a:pt x="142367" y="0"/>
                  </a:cubicBezTo>
                  <a:lnTo>
                    <a:pt x="4402582" y="0"/>
                  </a:lnTo>
                  <a:lnTo>
                    <a:pt x="4402582" y="16891"/>
                  </a:lnTo>
                  <a:lnTo>
                    <a:pt x="4402582" y="0"/>
                  </a:lnTo>
                  <a:cubicBezTo>
                    <a:pt x="4480814" y="0"/>
                    <a:pt x="4544949" y="61722"/>
                    <a:pt x="4544949" y="138811"/>
                  </a:cubicBezTo>
                  <a:lnTo>
                    <a:pt x="4528058" y="138811"/>
                  </a:lnTo>
                  <a:lnTo>
                    <a:pt x="4544949" y="138811"/>
                  </a:lnTo>
                  <a:lnTo>
                    <a:pt x="4544949" y="821563"/>
                  </a:lnTo>
                  <a:lnTo>
                    <a:pt x="4528058" y="821563"/>
                  </a:lnTo>
                  <a:lnTo>
                    <a:pt x="4544949" y="821563"/>
                  </a:lnTo>
                  <a:cubicBezTo>
                    <a:pt x="4544949" y="898652"/>
                    <a:pt x="4480814" y="960374"/>
                    <a:pt x="4402582" y="960374"/>
                  </a:cubicBezTo>
                  <a:lnTo>
                    <a:pt x="4402582" y="943483"/>
                  </a:lnTo>
                  <a:lnTo>
                    <a:pt x="4402582" y="960374"/>
                  </a:lnTo>
                  <a:lnTo>
                    <a:pt x="142367" y="960374"/>
                  </a:lnTo>
                  <a:lnTo>
                    <a:pt x="142367" y="943483"/>
                  </a:lnTo>
                  <a:lnTo>
                    <a:pt x="142367" y="960374"/>
                  </a:lnTo>
                  <a:cubicBezTo>
                    <a:pt x="64135" y="960501"/>
                    <a:pt x="0" y="898779"/>
                    <a:pt x="0" y="821563"/>
                  </a:cubicBezTo>
                  <a:lnTo>
                    <a:pt x="0" y="138811"/>
                  </a:lnTo>
                  <a:lnTo>
                    <a:pt x="16891" y="138811"/>
                  </a:lnTo>
                  <a:lnTo>
                    <a:pt x="0" y="138811"/>
                  </a:lnTo>
                  <a:moveTo>
                    <a:pt x="33909" y="138811"/>
                  </a:moveTo>
                  <a:lnTo>
                    <a:pt x="33909" y="821563"/>
                  </a:lnTo>
                  <a:lnTo>
                    <a:pt x="16891" y="821563"/>
                  </a:lnTo>
                  <a:lnTo>
                    <a:pt x="33909" y="821563"/>
                  </a:lnTo>
                  <a:cubicBezTo>
                    <a:pt x="33909" y="879094"/>
                    <a:pt x="82042" y="926592"/>
                    <a:pt x="142367" y="926592"/>
                  </a:cubicBezTo>
                  <a:lnTo>
                    <a:pt x="4402582" y="926592"/>
                  </a:lnTo>
                  <a:cubicBezTo>
                    <a:pt x="4462907" y="926592"/>
                    <a:pt x="4511040" y="879094"/>
                    <a:pt x="4511040" y="821563"/>
                  </a:cubicBezTo>
                  <a:lnTo>
                    <a:pt x="4511040" y="138811"/>
                  </a:lnTo>
                  <a:cubicBezTo>
                    <a:pt x="4511040" y="81280"/>
                    <a:pt x="4462907" y="33782"/>
                    <a:pt x="4402582" y="33782"/>
                  </a:cubicBezTo>
                  <a:lnTo>
                    <a:pt x="142367" y="33782"/>
                  </a:lnTo>
                  <a:lnTo>
                    <a:pt x="142367" y="16891"/>
                  </a:lnTo>
                  <a:lnTo>
                    <a:pt x="142367" y="33909"/>
                  </a:lnTo>
                  <a:cubicBezTo>
                    <a:pt x="82042" y="33909"/>
                    <a:pt x="33909" y="81407"/>
                    <a:pt x="33909" y="138938"/>
                  </a:cubicBez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4389120" y="8869680"/>
            <a:ext cx="3383280" cy="694944"/>
            <a:chOff x="0" y="0"/>
            <a:chExt cx="4511040" cy="92659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511040" cy="926592"/>
            </a:xfrm>
            <a:custGeom>
              <a:avLst/>
              <a:gdLst/>
              <a:ahLst/>
              <a:cxnLst/>
              <a:rect r="r" b="b" t="t" l="l"/>
              <a:pathLst>
                <a:path h="926592" w="4511040">
                  <a:moveTo>
                    <a:pt x="0" y="0"/>
                  </a:moveTo>
                  <a:lnTo>
                    <a:pt x="4511040" y="0"/>
                  </a:lnTo>
                  <a:lnTo>
                    <a:pt x="45110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4861" r="0" b="-44861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4511040" cy="9742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4DA6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Streamlit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8216903" y="8856983"/>
            <a:ext cx="3408683" cy="720347"/>
            <a:chOff x="0" y="0"/>
            <a:chExt cx="4544911" cy="96046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16891" y="16891"/>
              <a:ext cx="4511167" cy="926592"/>
            </a:xfrm>
            <a:custGeom>
              <a:avLst/>
              <a:gdLst/>
              <a:ahLst/>
              <a:cxnLst/>
              <a:rect r="r" b="b" t="t" l="l"/>
              <a:pathLst>
                <a:path h="926592" w="4511167">
                  <a:moveTo>
                    <a:pt x="0" y="121920"/>
                  </a:moveTo>
                  <a:cubicBezTo>
                    <a:pt x="0" y="54610"/>
                    <a:pt x="56134" y="0"/>
                    <a:pt x="125476" y="0"/>
                  </a:cubicBezTo>
                  <a:lnTo>
                    <a:pt x="4385691" y="0"/>
                  </a:lnTo>
                  <a:cubicBezTo>
                    <a:pt x="4454906" y="0"/>
                    <a:pt x="4511167" y="54610"/>
                    <a:pt x="4511167" y="121920"/>
                  </a:cubicBezTo>
                  <a:lnTo>
                    <a:pt x="4511167" y="804672"/>
                  </a:lnTo>
                  <a:cubicBezTo>
                    <a:pt x="4511167" y="871982"/>
                    <a:pt x="4455033" y="926592"/>
                    <a:pt x="4385691" y="926592"/>
                  </a:cubicBezTo>
                  <a:lnTo>
                    <a:pt x="125476" y="926592"/>
                  </a:lnTo>
                  <a:cubicBezTo>
                    <a:pt x="56261" y="926592"/>
                    <a:pt x="0" y="871982"/>
                    <a:pt x="0" y="804672"/>
                  </a:cubicBez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4544949" cy="960374"/>
            </a:xfrm>
            <a:custGeom>
              <a:avLst/>
              <a:gdLst/>
              <a:ahLst/>
              <a:cxnLst/>
              <a:rect r="r" b="b" t="t" l="l"/>
              <a:pathLst>
                <a:path h="960374" w="4544949">
                  <a:moveTo>
                    <a:pt x="0" y="138811"/>
                  </a:moveTo>
                  <a:cubicBezTo>
                    <a:pt x="0" y="61722"/>
                    <a:pt x="64135" y="0"/>
                    <a:pt x="142367" y="0"/>
                  </a:cubicBezTo>
                  <a:lnTo>
                    <a:pt x="4402582" y="0"/>
                  </a:lnTo>
                  <a:lnTo>
                    <a:pt x="4402582" y="16891"/>
                  </a:lnTo>
                  <a:lnTo>
                    <a:pt x="4402582" y="0"/>
                  </a:lnTo>
                  <a:cubicBezTo>
                    <a:pt x="4480814" y="0"/>
                    <a:pt x="4544949" y="61722"/>
                    <a:pt x="4544949" y="138811"/>
                  </a:cubicBezTo>
                  <a:lnTo>
                    <a:pt x="4528058" y="138811"/>
                  </a:lnTo>
                  <a:lnTo>
                    <a:pt x="4544949" y="138811"/>
                  </a:lnTo>
                  <a:lnTo>
                    <a:pt x="4544949" y="821563"/>
                  </a:lnTo>
                  <a:lnTo>
                    <a:pt x="4528058" y="821563"/>
                  </a:lnTo>
                  <a:lnTo>
                    <a:pt x="4544949" y="821563"/>
                  </a:lnTo>
                  <a:cubicBezTo>
                    <a:pt x="4544949" y="898652"/>
                    <a:pt x="4480814" y="960374"/>
                    <a:pt x="4402582" y="960374"/>
                  </a:cubicBezTo>
                  <a:lnTo>
                    <a:pt x="4402582" y="943483"/>
                  </a:lnTo>
                  <a:lnTo>
                    <a:pt x="4402582" y="960374"/>
                  </a:lnTo>
                  <a:lnTo>
                    <a:pt x="142367" y="960374"/>
                  </a:lnTo>
                  <a:lnTo>
                    <a:pt x="142367" y="943483"/>
                  </a:lnTo>
                  <a:lnTo>
                    <a:pt x="142367" y="960374"/>
                  </a:lnTo>
                  <a:cubicBezTo>
                    <a:pt x="64135" y="960501"/>
                    <a:pt x="0" y="898779"/>
                    <a:pt x="0" y="821563"/>
                  </a:cubicBezTo>
                  <a:lnTo>
                    <a:pt x="0" y="138811"/>
                  </a:lnTo>
                  <a:lnTo>
                    <a:pt x="16891" y="138811"/>
                  </a:lnTo>
                  <a:lnTo>
                    <a:pt x="0" y="138811"/>
                  </a:lnTo>
                  <a:moveTo>
                    <a:pt x="33909" y="138811"/>
                  </a:moveTo>
                  <a:lnTo>
                    <a:pt x="33909" y="821563"/>
                  </a:lnTo>
                  <a:lnTo>
                    <a:pt x="16891" y="821563"/>
                  </a:lnTo>
                  <a:lnTo>
                    <a:pt x="33909" y="821563"/>
                  </a:lnTo>
                  <a:cubicBezTo>
                    <a:pt x="33909" y="879094"/>
                    <a:pt x="82042" y="926592"/>
                    <a:pt x="142367" y="926592"/>
                  </a:cubicBezTo>
                  <a:lnTo>
                    <a:pt x="4402582" y="926592"/>
                  </a:lnTo>
                  <a:cubicBezTo>
                    <a:pt x="4462907" y="926592"/>
                    <a:pt x="4511040" y="879094"/>
                    <a:pt x="4511040" y="821563"/>
                  </a:cubicBezTo>
                  <a:lnTo>
                    <a:pt x="4511040" y="138811"/>
                  </a:lnTo>
                  <a:cubicBezTo>
                    <a:pt x="4511040" y="81280"/>
                    <a:pt x="4462907" y="33782"/>
                    <a:pt x="4402582" y="33782"/>
                  </a:cubicBezTo>
                  <a:lnTo>
                    <a:pt x="142367" y="33782"/>
                  </a:lnTo>
                  <a:lnTo>
                    <a:pt x="142367" y="16891"/>
                  </a:lnTo>
                  <a:lnTo>
                    <a:pt x="142367" y="33909"/>
                  </a:lnTo>
                  <a:cubicBezTo>
                    <a:pt x="82042" y="33909"/>
                    <a:pt x="33909" y="81407"/>
                    <a:pt x="33909" y="138938"/>
                  </a:cubicBez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8229600" y="8869680"/>
            <a:ext cx="3383280" cy="694944"/>
            <a:chOff x="0" y="0"/>
            <a:chExt cx="4511040" cy="926592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511040" cy="926592"/>
            </a:xfrm>
            <a:custGeom>
              <a:avLst/>
              <a:gdLst/>
              <a:ahLst/>
              <a:cxnLst/>
              <a:rect r="r" b="b" t="t" l="l"/>
              <a:pathLst>
                <a:path h="926592" w="4511040">
                  <a:moveTo>
                    <a:pt x="0" y="0"/>
                  </a:moveTo>
                  <a:lnTo>
                    <a:pt x="4511040" y="0"/>
                  </a:lnTo>
                  <a:lnTo>
                    <a:pt x="45110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4861" r="0" b="-44861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47625"/>
              <a:ext cx="4511040" cy="9742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40"/>
                </a:lnSpc>
              </a:pPr>
              <a:r>
                <a:rPr lang="en-US" sz="2200">
                  <a:solidFill>
                    <a:srgbClr val="4DA6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LangSmith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3154663" y="1450343"/>
            <a:ext cx="4780283" cy="4780283"/>
            <a:chOff x="0" y="0"/>
            <a:chExt cx="6373711" cy="6373711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16891" y="16891"/>
              <a:ext cx="6339840" cy="6339840"/>
            </a:xfrm>
            <a:custGeom>
              <a:avLst/>
              <a:gdLst/>
              <a:ahLst/>
              <a:cxnLst/>
              <a:rect r="r" b="b" t="t" l="l"/>
              <a:pathLst>
                <a:path h="6339840" w="6339840">
                  <a:moveTo>
                    <a:pt x="0" y="3169920"/>
                  </a:moveTo>
                  <a:cubicBezTo>
                    <a:pt x="0" y="1419225"/>
                    <a:pt x="1419225" y="0"/>
                    <a:pt x="3169920" y="0"/>
                  </a:cubicBezTo>
                  <a:cubicBezTo>
                    <a:pt x="4920615" y="0"/>
                    <a:pt x="6339840" y="1419225"/>
                    <a:pt x="6339840" y="3169920"/>
                  </a:cubicBezTo>
                  <a:cubicBezTo>
                    <a:pt x="6339840" y="4920615"/>
                    <a:pt x="4920615" y="6339840"/>
                    <a:pt x="3169920" y="6339840"/>
                  </a:cubicBezTo>
                  <a:cubicBezTo>
                    <a:pt x="1419225" y="6339840"/>
                    <a:pt x="0" y="4920615"/>
                    <a:pt x="0" y="3169920"/>
                  </a:cubicBezTo>
                  <a:close/>
                </a:path>
              </a:pathLst>
            </a:custGeom>
            <a:solidFill>
              <a:srgbClr val="0066B1">
                <a:alpha val="1961"/>
              </a:srgbClr>
            </a:solidFill>
          </p:spPr>
        </p:sp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373749" cy="6373622"/>
            </a:xfrm>
            <a:custGeom>
              <a:avLst/>
              <a:gdLst/>
              <a:ahLst/>
              <a:cxnLst/>
              <a:rect r="r" b="b" t="t" l="l"/>
              <a:pathLst>
                <a:path h="6373622" w="6373749">
                  <a:moveTo>
                    <a:pt x="0" y="3186811"/>
                  </a:moveTo>
                  <a:cubicBezTo>
                    <a:pt x="0" y="1426845"/>
                    <a:pt x="1426845" y="0"/>
                    <a:pt x="3186811" y="0"/>
                  </a:cubicBezTo>
                  <a:lnTo>
                    <a:pt x="3186811" y="16891"/>
                  </a:lnTo>
                  <a:lnTo>
                    <a:pt x="3186811" y="0"/>
                  </a:lnTo>
                  <a:cubicBezTo>
                    <a:pt x="4946904" y="0"/>
                    <a:pt x="6373749" y="1426845"/>
                    <a:pt x="6373749" y="3186811"/>
                  </a:cubicBezTo>
                  <a:cubicBezTo>
                    <a:pt x="6373749" y="4946904"/>
                    <a:pt x="4946904" y="6373622"/>
                    <a:pt x="3186938" y="6373622"/>
                  </a:cubicBezTo>
                  <a:lnTo>
                    <a:pt x="3186938" y="6356731"/>
                  </a:lnTo>
                  <a:lnTo>
                    <a:pt x="3186938" y="6373622"/>
                  </a:lnTo>
                  <a:cubicBezTo>
                    <a:pt x="1426845" y="6373749"/>
                    <a:pt x="0" y="4946904"/>
                    <a:pt x="0" y="3186811"/>
                  </a:cubicBezTo>
                  <a:lnTo>
                    <a:pt x="16891" y="3186811"/>
                  </a:lnTo>
                  <a:lnTo>
                    <a:pt x="29718" y="3197860"/>
                  </a:lnTo>
                  <a:cubicBezTo>
                    <a:pt x="25146" y="3203194"/>
                    <a:pt x="17653" y="3205226"/>
                    <a:pt x="11049" y="3202686"/>
                  </a:cubicBezTo>
                  <a:cubicBezTo>
                    <a:pt x="4445" y="3200146"/>
                    <a:pt x="0" y="3193923"/>
                    <a:pt x="0" y="3186811"/>
                  </a:cubicBezTo>
                  <a:moveTo>
                    <a:pt x="33909" y="3186811"/>
                  </a:moveTo>
                  <a:lnTo>
                    <a:pt x="16891" y="3186811"/>
                  </a:lnTo>
                  <a:lnTo>
                    <a:pt x="4064" y="3175762"/>
                  </a:lnTo>
                  <a:cubicBezTo>
                    <a:pt x="8636" y="3170428"/>
                    <a:pt x="16129" y="3168396"/>
                    <a:pt x="22733" y="3170936"/>
                  </a:cubicBezTo>
                  <a:cubicBezTo>
                    <a:pt x="29337" y="3173476"/>
                    <a:pt x="33782" y="3179699"/>
                    <a:pt x="33782" y="3186811"/>
                  </a:cubicBezTo>
                  <a:cubicBezTo>
                    <a:pt x="33782" y="4928108"/>
                    <a:pt x="1445387" y="6339840"/>
                    <a:pt x="3186811" y="6339840"/>
                  </a:cubicBezTo>
                  <a:cubicBezTo>
                    <a:pt x="4928108" y="6339840"/>
                    <a:pt x="6339840" y="4928235"/>
                    <a:pt x="6339840" y="3186811"/>
                  </a:cubicBezTo>
                  <a:lnTo>
                    <a:pt x="6356731" y="3186811"/>
                  </a:lnTo>
                  <a:lnTo>
                    <a:pt x="6339840" y="3186811"/>
                  </a:lnTo>
                  <a:cubicBezTo>
                    <a:pt x="6339840" y="1445514"/>
                    <a:pt x="4928235" y="33909"/>
                    <a:pt x="3186811" y="33909"/>
                  </a:cubicBezTo>
                  <a:lnTo>
                    <a:pt x="3186811" y="16891"/>
                  </a:lnTo>
                  <a:lnTo>
                    <a:pt x="3186811" y="33909"/>
                  </a:lnTo>
                  <a:cubicBezTo>
                    <a:pt x="1445514" y="33909"/>
                    <a:pt x="33909" y="1445514"/>
                    <a:pt x="33909" y="3186811"/>
                  </a:cubicBez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14069063" y="2364743"/>
            <a:ext cx="2951483" cy="2951483"/>
            <a:chOff x="0" y="0"/>
            <a:chExt cx="3935311" cy="3935311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16891" y="16891"/>
              <a:ext cx="3901440" cy="3901440"/>
            </a:xfrm>
            <a:custGeom>
              <a:avLst/>
              <a:gdLst/>
              <a:ahLst/>
              <a:cxnLst/>
              <a:rect r="r" b="b" t="t" l="l"/>
              <a:pathLst>
                <a:path h="3901440" w="3901440">
                  <a:moveTo>
                    <a:pt x="0" y="1950720"/>
                  </a:moveTo>
                  <a:cubicBezTo>
                    <a:pt x="0" y="873379"/>
                    <a:pt x="873379" y="0"/>
                    <a:pt x="1950720" y="0"/>
                  </a:cubicBezTo>
                  <a:cubicBezTo>
                    <a:pt x="3028061" y="0"/>
                    <a:pt x="3901440" y="873379"/>
                    <a:pt x="3901440" y="1950720"/>
                  </a:cubicBezTo>
                  <a:cubicBezTo>
                    <a:pt x="3901440" y="3028061"/>
                    <a:pt x="3028061" y="3901440"/>
                    <a:pt x="1950720" y="3901440"/>
                  </a:cubicBezTo>
                  <a:cubicBezTo>
                    <a:pt x="873379" y="3901440"/>
                    <a:pt x="0" y="3028061"/>
                    <a:pt x="0" y="1950720"/>
                  </a:cubicBezTo>
                  <a:close/>
                </a:path>
              </a:pathLst>
            </a:custGeom>
            <a:solidFill>
              <a:srgbClr val="0066B1">
                <a:alpha val="8627"/>
              </a:srgbClr>
            </a:solidFill>
          </p:spPr>
        </p:sp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935349" cy="3935222"/>
            </a:xfrm>
            <a:custGeom>
              <a:avLst/>
              <a:gdLst/>
              <a:ahLst/>
              <a:cxnLst/>
              <a:rect r="r" b="b" t="t" l="l"/>
              <a:pathLst>
                <a:path h="3935222" w="3935349">
                  <a:moveTo>
                    <a:pt x="0" y="1967611"/>
                  </a:moveTo>
                  <a:cubicBezTo>
                    <a:pt x="0" y="880999"/>
                    <a:pt x="880999" y="0"/>
                    <a:pt x="1967611" y="0"/>
                  </a:cubicBezTo>
                  <a:lnTo>
                    <a:pt x="1967611" y="16891"/>
                  </a:lnTo>
                  <a:lnTo>
                    <a:pt x="1967611" y="0"/>
                  </a:lnTo>
                  <a:cubicBezTo>
                    <a:pt x="3054350" y="0"/>
                    <a:pt x="3935349" y="880999"/>
                    <a:pt x="3935349" y="1967611"/>
                  </a:cubicBezTo>
                  <a:lnTo>
                    <a:pt x="3918458" y="1967611"/>
                  </a:lnTo>
                  <a:lnTo>
                    <a:pt x="3935349" y="1967611"/>
                  </a:lnTo>
                  <a:cubicBezTo>
                    <a:pt x="3935349" y="3054350"/>
                    <a:pt x="3054350" y="3935222"/>
                    <a:pt x="1967738" y="3935222"/>
                  </a:cubicBezTo>
                  <a:lnTo>
                    <a:pt x="1967738" y="3918331"/>
                  </a:lnTo>
                  <a:lnTo>
                    <a:pt x="1967738" y="3935222"/>
                  </a:lnTo>
                  <a:cubicBezTo>
                    <a:pt x="880999" y="3935349"/>
                    <a:pt x="0" y="3054350"/>
                    <a:pt x="0" y="1967611"/>
                  </a:cubicBezTo>
                  <a:lnTo>
                    <a:pt x="16891" y="1967611"/>
                  </a:lnTo>
                  <a:lnTo>
                    <a:pt x="33909" y="1967611"/>
                  </a:lnTo>
                  <a:lnTo>
                    <a:pt x="16891" y="1967611"/>
                  </a:lnTo>
                  <a:lnTo>
                    <a:pt x="0" y="1967611"/>
                  </a:lnTo>
                  <a:moveTo>
                    <a:pt x="33909" y="1967611"/>
                  </a:moveTo>
                  <a:cubicBezTo>
                    <a:pt x="33909" y="1977009"/>
                    <a:pt x="26289" y="1984502"/>
                    <a:pt x="17018" y="1984502"/>
                  </a:cubicBezTo>
                  <a:cubicBezTo>
                    <a:pt x="7747" y="1984502"/>
                    <a:pt x="0" y="1977009"/>
                    <a:pt x="0" y="1967611"/>
                  </a:cubicBezTo>
                  <a:cubicBezTo>
                    <a:pt x="0" y="1958213"/>
                    <a:pt x="7620" y="1950720"/>
                    <a:pt x="16891" y="1950720"/>
                  </a:cubicBezTo>
                  <a:cubicBezTo>
                    <a:pt x="26162" y="1950720"/>
                    <a:pt x="33782" y="1958340"/>
                    <a:pt x="33782" y="1967611"/>
                  </a:cubicBezTo>
                  <a:cubicBezTo>
                    <a:pt x="33782" y="3035554"/>
                    <a:pt x="899541" y="3901440"/>
                    <a:pt x="1967611" y="3901440"/>
                  </a:cubicBezTo>
                  <a:cubicBezTo>
                    <a:pt x="3035554" y="3901440"/>
                    <a:pt x="3901440" y="3035681"/>
                    <a:pt x="3901440" y="1967611"/>
                  </a:cubicBezTo>
                  <a:cubicBezTo>
                    <a:pt x="3901440" y="899668"/>
                    <a:pt x="3035681" y="33782"/>
                    <a:pt x="1967611" y="33782"/>
                  </a:cubicBezTo>
                  <a:lnTo>
                    <a:pt x="1967611" y="16891"/>
                  </a:lnTo>
                  <a:lnTo>
                    <a:pt x="1967611" y="33909"/>
                  </a:lnTo>
                  <a:cubicBezTo>
                    <a:pt x="899668" y="33909"/>
                    <a:pt x="33909" y="899668"/>
                    <a:pt x="33909" y="1967611"/>
                  </a:cubicBezTo>
                  <a:close/>
                </a:path>
              </a:pathLst>
            </a:custGeom>
            <a:solidFill>
              <a:srgbClr val="4DA6FF"/>
            </a:solid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548640" y="9601200"/>
            <a:ext cx="17190720" cy="457200"/>
            <a:chOff x="0" y="0"/>
            <a:chExt cx="22920960" cy="6096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2920961" cy="609600"/>
            </a:xfrm>
            <a:custGeom>
              <a:avLst/>
              <a:gdLst/>
              <a:ahLst/>
              <a:cxnLst/>
              <a:rect r="r" b="b" t="t" l="l"/>
              <a:pathLst>
                <a:path h="609600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2637" r="0" b="-682637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2292096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A1A2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Intern AI Engineer Case Study  |  BMW Group  |  2026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13520096" y="1815776"/>
            <a:ext cx="4049417" cy="4049417"/>
            <a:chOff x="0" y="0"/>
            <a:chExt cx="812800" cy="8128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-42862" t="-11517" r="-44053" b="-11313"/>
              </a:stretch>
            </a:blipFill>
          </p:spPr>
        </p:sp>
      </p:grpSp>
      <p:sp>
        <p:nvSpPr>
          <p:cNvPr name="TextBox 61" id="61"/>
          <p:cNvSpPr txBox="true"/>
          <p:nvPr/>
        </p:nvSpPr>
        <p:spPr>
          <a:xfrm rot="0">
            <a:off x="12082786" y="8321040"/>
            <a:ext cx="6014070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  <a:spcBef>
                <a:spcPct val="0"/>
              </a:spcBef>
            </a:pPr>
            <a:r>
              <a:rPr lang="en-US" b="true" sz="319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Presented by: Shubham Chitaguppe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84A9FF">
                <a:alpha val="100000"/>
              </a:srgbClr>
            </a:gs>
            <a:gs pos="50000">
              <a:srgbClr val="F5F8FF">
                <a:alpha val="100000"/>
              </a:srgbClr>
            </a:gs>
            <a:gs pos="100000">
              <a:srgbClr val="5387F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244859" cy="10312403"/>
            <a:chOff x="0" y="0"/>
            <a:chExt cx="326479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292608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292608">
                  <a:moveTo>
                    <a:pt x="0" y="0"/>
                  </a:moveTo>
                  <a:lnTo>
                    <a:pt x="292608" y="0"/>
                  </a:lnTo>
                  <a:lnTo>
                    <a:pt x="292608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26390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326390">
                  <a:moveTo>
                    <a:pt x="16891" y="0"/>
                  </a:moveTo>
                  <a:lnTo>
                    <a:pt x="309499" y="0"/>
                  </a:lnTo>
                  <a:cubicBezTo>
                    <a:pt x="318897" y="0"/>
                    <a:pt x="326390" y="7620"/>
                    <a:pt x="326390" y="16891"/>
                  </a:cubicBezTo>
                  <a:lnTo>
                    <a:pt x="326390" y="13732890"/>
                  </a:lnTo>
                  <a:cubicBezTo>
                    <a:pt x="326390" y="13742290"/>
                    <a:pt x="318770" y="13749782"/>
                    <a:pt x="309499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309499" y="13716000"/>
                  </a:lnTo>
                  <a:lnTo>
                    <a:pt x="309499" y="13732890"/>
                  </a:lnTo>
                  <a:lnTo>
                    <a:pt x="292608" y="13732890"/>
                  </a:lnTo>
                  <a:lnTo>
                    <a:pt x="292608" y="16891"/>
                  </a:lnTo>
                  <a:lnTo>
                    <a:pt x="309499" y="16891"/>
                  </a:lnTo>
                  <a:lnTo>
                    <a:pt x="309499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548640" y="548640"/>
            <a:ext cx="16459200" cy="731520"/>
            <a:chOff x="0" y="0"/>
            <a:chExt cx="21945600" cy="975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975360"/>
            </a:xfrm>
            <a:custGeom>
              <a:avLst/>
              <a:gdLst/>
              <a:ahLst/>
              <a:cxnLst/>
              <a:rect r="r" b="b" t="t" l="l"/>
              <a:pathLst>
                <a:path h="975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1945600" cy="1022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600">
                  <a:solidFill>
                    <a:srgbClr val="1A305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AGENDA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48640" y="1371600"/>
            <a:ext cx="16459200" cy="1287066"/>
            <a:chOff x="0" y="0"/>
            <a:chExt cx="21945600" cy="171608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716088"/>
            </a:xfrm>
            <a:custGeom>
              <a:avLst/>
              <a:gdLst/>
              <a:ahLst/>
              <a:cxnLst/>
              <a:rect r="r" b="b" t="t" l="l"/>
              <a:pathLst>
                <a:path h="1716088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16088"/>
                  </a:lnTo>
                  <a:lnTo>
                    <a:pt x="0" y="17160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6550" r="0" b="-19180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23825"/>
              <a:ext cx="21945600" cy="18399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80"/>
                </a:lnSpc>
              </a:pPr>
              <a:r>
                <a:rPr lang="en-US" sz="6400" b="true">
                  <a:solidFill>
                    <a:srgbClr val="1A305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We'll Cover Today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2287" y="2828287"/>
            <a:ext cx="8242297" cy="1841497"/>
            <a:chOff x="0" y="0"/>
            <a:chExt cx="10989729" cy="245532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8509" y="8509"/>
              <a:ext cx="109728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89818" cy="2455418"/>
            </a:xfrm>
            <a:custGeom>
              <a:avLst/>
              <a:gdLst/>
              <a:ahLst/>
              <a:cxnLst/>
              <a:rect r="r" b="b" t="t" l="l"/>
              <a:pathLst>
                <a:path h="2455418" w="10989818">
                  <a:moveTo>
                    <a:pt x="8509" y="0"/>
                  </a:moveTo>
                  <a:lnTo>
                    <a:pt x="10981309" y="0"/>
                  </a:lnTo>
                  <a:cubicBezTo>
                    <a:pt x="10986008" y="0"/>
                    <a:pt x="10989818" y="3810"/>
                    <a:pt x="10989818" y="8509"/>
                  </a:cubicBezTo>
                  <a:lnTo>
                    <a:pt x="10989818" y="2446909"/>
                  </a:lnTo>
                  <a:cubicBezTo>
                    <a:pt x="10989818" y="2451608"/>
                    <a:pt x="10986008" y="2455418"/>
                    <a:pt x="10981309" y="2455418"/>
                  </a:cubicBezTo>
                  <a:lnTo>
                    <a:pt x="8509" y="2455418"/>
                  </a:lnTo>
                  <a:cubicBezTo>
                    <a:pt x="3810" y="2455418"/>
                    <a:pt x="0" y="2451608"/>
                    <a:pt x="0" y="244690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446909"/>
                  </a:lnTo>
                  <a:lnTo>
                    <a:pt x="8509" y="2446909"/>
                  </a:lnTo>
                  <a:lnTo>
                    <a:pt x="8509" y="2438400"/>
                  </a:lnTo>
                  <a:lnTo>
                    <a:pt x="10981309" y="2438400"/>
                  </a:lnTo>
                  <a:lnTo>
                    <a:pt x="10981309" y="2446909"/>
                  </a:lnTo>
                  <a:lnTo>
                    <a:pt x="10972800" y="2446909"/>
                  </a:lnTo>
                  <a:lnTo>
                    <a:pt x="10972800" y="8509"/>
                  </a:lnTo>
                  <a:lnTo>
                    <a:pt x="10981309" y="8509"/>
                  </a:lnTo>
                  <a:lnTo>
                    <a:pt x="109813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35943" y="2821943"/>
            <a:ext cx="171707" cy="1854203"/>
            <a:chOff x="0" y="0"/>
            <a:chExt cx="228943" cy="247227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195072" cy="2438400"/>
            </a:xfrm>
            <a:custGeom>
              <a:avLst/>
              <a:gdLst/>
              <a:ahLst/>
              <a:cxnLst/>
              <a:rect r="r" b="b" t="t" l="l"/>
              <a:pathLst>
                <a:path h="2438400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28854" cy="2472182"/>
            </a:xfrm>
            <a:custGeom>
              <a:avLst/>
              <a:gdLst/>
              <a:ahLst/>
              <a:cxnLst/>
              <a:rect r="r" b="b" t="t" l="l"/>
              <a:pathLst>
                <a:path h="2472182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2455291"/>
                  </a:lnTo>
                  <a:cubicBezTo>
                    <a:pt x="228854" y="2464689"/>
                    <a:pt x="221234" y="2472182"/>
                    <a:pt x="211963" y="2472182"/>
                  </a:cubicBezTo>
                  <a:lnTo>
                    <a:pt x="16891" y="2472182"/>
                  </a:lnTo>
                  <a:cubicBezTo>
                    <a:pt x="7493" y="2472182"/>
                    <a:pt x="0" y="2464562"/>
                    <a:pt x="0" y="24552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455291"/>
                  </a:lnTo>
                  <a:lnTo>
                    <a:pt x="16891" y="2455291"/>
                  </a:lnTo>
                  <a:lnTo>
                    <a:pt x="16891" y="2438400"/>
                  </a:lnTo>
                  <a:lnTo>
                    <a:pt x="211963" y="2438400"/>
                  </a:lnTo>
                  <a:lnTo>
                    <a:pt x="211963" y="2455291"/>
                  </a:lnTo>
                  <a:lnTo>
                    <a:pt x="195072" y="2455291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22960" y="2980944"/>
            <a:ext cx="1097280" cy="640080"/>
            <a:chOff x="0" y="0"/>
            <a:chExt cx="1463040" cy="8534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" cy="853440"/>
            </a:xfrm>
            <a:custGeom>
              <a:avLst/>
              <a:gdLst/>
              <a:ahLst/>
              <a:cxnLst/>
              <a:rect r="r" b="b" t="t" l="l"/>
              <a:pathLst>
                <a:path h="8534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4843" t="0" r="-24843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66675"/>
              <a:ext cx="1463040" cy="9201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066B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2980944"/>
            <a:ext cx="7680960" cy="640080"/>
            <a:chOff x="0" y="0"/>
            <a:chExt cx="10241280" cy="8534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241280" cy="853440"/>
            </a:xfrm>
            <a:custGeom>
              <a:avLst/>
              <a:gdLst/>
              <a:ahLst/>
              <a:cxnLst/>
              <a:rect r="r" b="b" t="t" l="l"/>
              <a:pathLst>
                <a:path h="8534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10241280" cy="9010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3359"/>
                </a:lnSpc>
              </a:pPr>
              <a:r>
                <a:rPr lang="en-US" sz="27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Business Problem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822960" y="3840480"/>
            <a:ext cx="7680960" cy="548640"/>
            <a:chOff x="0" y="0"/>
            <a:chExt cx="10241280" cy="73152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241280" cy="731520"/>
            </a:xfrm>
            <a:custGeom>
              <a:avLst/>
              <a:gdLst/>
              <a:ahLst/>
              <a:cxnLst/>
              <a:rect r="r" b="b" t="t" l="l"/>
              <a:pathLst>
                <a:path h="73152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2790" r="0" b="-22279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1024128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Why BMW needs an AI chatbot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320527" y="2828287"/>
            <a:ext cx="8242297" cy="1841497"/>
            <a:chOff x="0" y="0"/>
            <a:chExt cx="10989729" cy="245532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8509" y="8509"/>
              <a:ext cx="109728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89818" cy="2455418"/>
            </a:xfrm>
            <a:custGeom>
              <a:avLst/>
              <a:gdLst/>
              <a:ahLst/>
              <a:cxnLst/>
              <a:rect r="r" b="b" t="t" l="l"/>
              <a:pathLst>
                <a:path h="2455418" w="10989818">
                  <a:moveTo>
                    <a:pt x="8509" y="0"/>
                  </a:moveTo>
                  <a:lnTo>
                    <a:pt x="10981309" y="0"/>
                  </a:lnTo>
                  <a:cubicBezTo>
                    <a:pt x="10986008" y="0"/>
                    <a:pt x="10989818" y="3810"/>
                    <a:pt x="10989818" y="8509"/>
                  </a:cubicBezTo>
                  <a:lnTo>
                    <a:pt x="10989818" y="2446909"/>
                  </a:lnTo>
                  <a:cubicBezTo>
                    <a:pt x="10989818" y="2451608"/>
                    <a:pt x="10986008" y="2455418"/>
                    <a:pt x="10981309" y="2455418"/>
                  </a:cubicBezTo>
                  <a:lnTo>
                    <a:pt x="8509" y="2455418"/>
                  </a:lnTo>
                  <a:cubicBezTo>
                    <a:pt x="3810" y="2455418"/>
                    <a:pt x="0" y="2451608"/>
                    <a:pt x="0" y="244690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446909"/>
                  </a:lnTo>
                  <a:lnTo>
                    <a:pt x="8509" y="2446909"/>
                  </a:lnTo>
                  <a:lnTo>
                    <a:pt x="8509" y="2438400"/>
                  </a:lnTo>
                  <a:lnTo>
                    <a:pt x="10981309" y="2438400"/>
                  </a:lnTo>
                  <a:lnTo>
                    <a:pt x="10981309" y="2446909"/>
                  </a:lnTo>
                  <a:lnTo>
                    <a:pt x="10972800" y="2446909"/>
                  </a:lnTo>
                  <a:lnTo>
                    <a:pt x="10972800" y="8509"/>
                  </a:lnTo>
                  <a:lnTo>
                    <a:pt x="10981309" y="8509"/>
                  </a:lnTo>
                  <a:lnTo>
                    <a:pt x="109813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9314183" y="2821943"/>
            <a:ext cx="171707" cy="1854203"/>
            <a:chOff x="0" y="0"/>
            <a:chExt cx="228943" cy="247227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16891" y="16891"/>
              <a:ext cx="195072" cy="2438400"/>
            </a:xfrm>
            <a:custGeom>
              <a:avLst/>
              <a:gdLst/>
              <a:ahLst/>
              <a:cxnLst/>
              <a:rect r="r" b="b" t="t" l="l"/>
              <a:pathLst>
                <a:path h="2438400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28854" cy="2472182"/>
            </a:xfrm>
            <a:custGeom>
              <a:avLst/>
              <a:gdLst/>
              <a:ahLst/>
              <a:cxnLst/>
              <a:rect r="r" b="b" t="t" l="l"/>
              <a:pathLst>
                <a:path h="2472182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2455291"/>
                  </a:lnTo>
                  <a:cubicBezTo>
                    <a:pt x="228854" y="2464689"/>
                    <a:pt x="221234" y="2472182"/>
                    <a:pt x="211963" y="2472182"/>
                  </a:cubicBezTo>
                  <a:lnTo>
                    <a:pt x="16891" y="2472182"/>
                  </a:lnTo>
                  <a:cubicBezTo>
                    <a:pt x="7493" y="2472182"/>
                    <a:pt x="0" y="2464562"/>
                    <a:pt x="0" y="24552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455291"/>
                  </a:lnTo>
                  <a:lnTo>
                    <a:pt x="16891" y="2455291"/>
                  </a:lnTo>
                  <a:lnTo>
                    <a:pt x="16891" y="2438400"/>
                  </a:lnTo>
                  <a:lnTo>
                    <a:pt x="211963" y="2438400"/>
                  </a:lnTo>
                  <a:lnTo>
                    <a:pt x="211963" y="2455291"/>
                  </a:lnTo>
                  <a:lnTo>
                    <a:pt x="195072" y="2455291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9601200" y="2980944"/>
            <a:ext cx="1097280" cy="640080"/>
            <a:chOff x="0" y="0"/>
            <a:chExt cx="1463040" cy="8534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463040" cy="853440"/>
            </a:xfrm>
            <a:custGeom>
              <a:avLst/>
              <a:gdLst/>
              <a:ahLst/>
              <a:cxnLst/>
              <a:rect r="r" b="b" t="t" l="l"/>
              <a:pathLst>
                <a:path h="8534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4843" t="0" r="-24843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66675"/>
              <a:ext cx="1463040" cy="9201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066B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9601200" y="2980944"/>
            <a:ext cx="7680960" cy="640080"/>
            <a:chOff x="0" y="0"/>
            <a:chExt cx="10241280" cy="8534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241280" cy="853440"/>
            </a:xfrm>
            <a:custGeom>
              <a:avLst/>
              <a:gdLst/>
              <a:ahLst/>
              <a:cxnLst/>
              <a:rect r="r" b="b" t="t" l="l"/>
              <a:pathLst>
                <a:path h="8534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10241280" cy="9010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3359"/>
                </a:lnSpc>
              </a:pPr>
              <a:r>
                <a:rPr lang="en-US" sz="27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Solution &amp; Architecture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601200" y="3840480"/>
            <a:ext cx="7680960" cy="548640"/>
            <a:chOff x="0" y="0"/>
            <a:chExt cx="10241280" cy="73152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241280" cy="731520"/>
            </a:xfrm>
            <a:custGeom>
              <a:avLst/>
              <a:gdLst/>
              <a:ahLst/>
              <a:cxnLst/>
              <a:rect r="r" b="b" t="t" l="l"/>
              <a:pathLst>
                <a:path h="73152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2790" r="0" b="-22279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47625"/>
              <a:ext cx="1024128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RAG pipeline design and decisions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542287" y="5022847"/>
            <a:ext cx="8242297" cy="1841497"/>
            <a:chOff x="0" y="0"/>
            <a:chExt cx="10989729" cy="2455329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8509" y="8509"/>
              <a:ext cx="109728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989818" cy="2455418"/>
            </a:xfrm>
            <a:custGeom>
              <a:avLst/>
              <a:gdLst/>
              <a:ahLst/>
              <a:cxnLst/>
              <a:rect r="r" b="b" t="t" l="l"/>
              <a:pathLst>
                <a:path h="2455418" w="10989818">
                  <a:moveTo>
                    <a:pt x="8509" y="0"/>
                  </a:moveTo>
                  <a:lnTo>
                    <a:pt x="10981309" y="0"/>
                  </a:lnTo>
                  <a:cubicBezTo>
                    <a:pt x="10986008" y="0"/>
                    <a:pt x="10989818" y="3810"/>
                    <a:pt x="10989818" y="8509"/>
                  </a:cubicBezTo>
                  <a:lnTo>
                    <a:pt x="10989818" y="2446909"/>
                  </a:lnTo>
                  <a:cubicBezTo>
                    <a:pt x="10989818" y="2451608"/>
                    <a:pt x="10986008" y="2455418"/>
                    <a:pt x="10981309" y="2455418"/>
                  </a:cubicBezTo>
                  <a:lnTo>
                    <a:pt x="8509" y="2455418"/>
                  </a:lnTo>
                  <a:cubicBezTo>
                    <a:pt x="3810" y="2455418"/>
                    <a:pt x="0" y="2451608"/>
                    <a:pt x="0" y="244690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446909"/>
                  </a:lnTo>
                  <a:lnTo>
                    <a:pt x="8509" y="2446909"/>
                  </a:lnTo>
                  <a:lnTo>
                    <a:pt x="8509" y="2438400"/>
                  </a:lnTo>
                  <a:lnTo>
                    <a:pt x="10981309" y="2438400"/>
                  </a:lnTo>
                  <a:lnTo>
                    <a:pt x="10981309" y="2446909"/>
                  </a:lnTo>
                  <a:lnTo>
                    <a:pt x="10972800" y="2446909"/>
                  </a:lnTo>
                  <a:lnTo>
                    <a:pt x="10972800" y="8509"/>
                  </a:lnTo>
                  <a:lnTo>
                    <a:pt x="10981309" y="8509"/>
                  </a:lnTo>
                  <a:lnTo>
                    <a:pt x="109813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535943" y="5016503"/>
            <a:ext cx="171707" cy="1854203"/>
            <a:chOff x="0" y="0"/>
            <a:chExt cx="228943" cy="2472271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16891" y="16891"/>
              <a:ext cx="195072" cy="2438400"/>
            </a:xfrm>
            <a:custGeom>
              <a:avLst/>
              <a:gdLst/>
              <a:ahLst/>
              <a:cxnLst/>
              <a:rect r="r" b="b" t="t" l="l"/>
              <a:pathLst>
                <a:path h="2438400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28854" cy="2472182"/>
            </a:xfrm>
            <a:custGeom>
              <a:avLst/>
              <a:gdLst/>
              <a:ahLst/>
              <a:cxnLst/>
              <a:rect r="r" b="b" t="t" l="l"/>
              <a:pathLst>
                <a:path h="2472182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2455291"/>
                  </a:lnTo>
                  <a:cubicBezTo>
                    <a:pt x="228854" y="2464689"/>
                    <a:pt x="221234" y="2472182"/>
                    <a:pt x="211963" y="2472182"/>
                  </a:cubicBezTo>
                  <a:lnTo>
                    <a:pt x="16891" y="2472182"/>
                  </a:lnTo>
                  <a:cubicBezTo>
                    <a:pt x="7493" y="2472182"/>
                    <a:pt x="0" y="2464562"/>
                    <a:pt x="0" y="24552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455291"/>
                  </a:lnTo>
                  <a:lnTo>
                    <a:pt x="16891" y="2455291"/>
                  </a:lnTo>
                  <a:lnTo>
                    <a:pt x="16891" y="2438400"/>
                  </a:lnTo>
                  <a:lnTo>
                    <a:pt x="211963" y="2438400"/>
                  </a:lnTo>
                  <a:lnTo>
                    <a:pt x="211963" y="2455291"/>
                  </a:lnTo>
                  <a:lnTo>
                    <a:pt x="195072" y="2455291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822960" y="5175504"/>
            <a:ext cx="1097280" cy="640080"/>
            <a:chOff x="0" y="0"/>
            <a:chExt cx="1463040" cy="8534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463040" cy="853440"/>
            </a:xfrm>
            <a:custGeom>
              <a:avLst/>
              <a:gdLst/>
              <a:ahLst/>
              <a:cxnLst/>
              <a:rect r="r" b="b" t="t" l="l"/>
              <a:pathLst>
                <a:path h="8534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4843" t="0" r="-24843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66675"/>
              <a:ext cx="1463040" cy="9201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066B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822960" y="5175504"/>
            <a:ext cx="7680960" cy="640080"/>
            <a:chOff x="0" y="0"/>
            <a:chExt cx="10241280" cy="8534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241280" cy="853440"/>
            </a:xfrm>
            <a:custGeom>
              <a:avLst/>
              <a:gdLst/>
              <a:ahLst/>
              <a:cxnLst/>
              <a:rect r="r" b="b" t="t" l="l"/>
              <a:pathLst>
                <a:path h="8534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47625"/>
              <a:ext cx="10241280" cy="9010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3359"/>
                </a:lnSpc>
              </a:pPr>
              <a:r>
                <a:rPr lang="en-US" sz="27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Deep Dive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822960" y="6035040"/>
            <a:ext cx="7680960" cy="548640"/>
            <a:chOff x="0" y="0"/>
            <a:chExt cx="10241280" cy="73152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241280" cy="731520"/>
            </a:xfrm>
            <a:custGeom>
              <a:avLst/>
              <a:gdLst/>
              <a:ahLst/>
              <a:cxnLst/>
              <a:rect r="r" b="b" t="t" l="l"/>
              <a:pathLst>
                <a:path h="73152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2790" r="0" b="-22279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24128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LangChain, LangGraph, ChromaDB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9320527" y="5022847"/>
            <a:ext cx="8242297" cy="1841497"/>
            <a:chOff x="0" y="0"/>
            <a:chExt cx="10989729" cy="2455329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8509" y="8509"/>
              <a:ext cx="109728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0989818" cy="2455418"/>
            </a:xfrm>
            <a:custGeom>
              <a:avLst/>
              <a:gdLst/>
              <a:ahLst/>
              <a:cxnLst/>
              <a:rect r="r" b="b" t="t" l="l"/>
              <a:pathLst>
                <a:path h="2455418" w="10989818">
                  <a:moveTo>
                    <a:pt x="8509" y="0"/>
                  </a:moveTo>
                  <a:lnTo>
                    <a:pt x="10981309" y="0"/>
                  </a:lnTo>
                  <a:cubicBezTo>
                    <a:pt x="10986008" y="0"/>
                    <a:pt x="10989818" y="3810"/>
                    <a:pt x="10989818" y="8509"/>
                  </a:cubicBezTo>
                  <a:lnTo>
                    <a:pt x="10989818" y="2446909"/>
                  </a:lnTo>
                  <a:cubicBezTo>
                    <a:pt x="10989818" y="2451608"/>
                    <a:pt x="10986008" y="2455418"/>
                    <a:pt x="10981309" y="2455418"/>
                  </a:cubicBezTo>
                  <a:lnTo>
                    <a:pt x="8509" y="2455418"/>
                  </a:lnTo>
                  <a:cubicBezTo>
                    <a:pt x="3810" y="2455418"/>
                    <a:pt x="0" y="2451608"/>
                    <a:pt x="0" y="244690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446909"/>
                  </a:lnTo>
                  <a:lnTo>
                    <a:pt x="8509" y="2446909"/>
                  </a:lnTo>
                  <a:lnTo>
                    <a:pt x="8509" y="2438400"/>
                  </a:lnTo>
                  <a:lnTo>
                    <a:pt x="10981309" y="2438400"/>
                  </a:lnTo>
                  <a:lnTo>
                    <a:pt x="10981309" y="2446909"/>
                  </a:lnTo>
                  <a:lnTo>
                    <a:pt x="10972800" y="2446909"/>
                  </a:lnTo>
                  <a:lnTo>
                    <a:pt x="10972800" y="8509"/>
                  </a:lnTo>
                  <a:lnTo>
                    <a:pt x="10981309" y="8509"/>
                  </a:lnTo>
                  <a:lnTo>
                    <a:pt x="109813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9314183" y="5016503"/>
            <a:ext cx="171707" cy="1854203"/>
            <a:chOff x="0" y="0"/>
            <a:chExt cx="228943" cy="2472271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16891" y="16891"/>
              <a:ext cx="195072" cy="2438400"/>
            </a:xfrm>
            <a:custGeom>
              <a:avLst/>
              <a:gdLst/>
              <a:ahLst/>
              <a:cxnLst/>
              <a:rect r="r" b="b" t="t" l="l"/>
              <a:pathLst>
                <a:path h="2438400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8854" cy="2472182"/>
            </a:xfrm>
            <a:custGeom>
              <a:avLst/>
              <a:gdLst/>
              <a:ahLst/>
              <a:cxnLst/>
              <a:rect r="r" b="b" t="t" l="l"/>
              <a:pathLst>
                <a:path h="2472182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2455291"/>
                  </a:lnTo>
                  <a:cubicBezTo>
                    <a:pt x="228854" y="2464689"/>
                    <a:pt x="221234" y="2472182"/>
                    <a:pt x="211963" y="2472182"/>
                  </a:cubicBezTo>
                  <a:lnTo>
                    <a:pt x="16891" y="2472182"/>
                  </a:lnTo>
                  <a:cubicBezTo>
                    <a:pt x="7493" y="2472182"/>
                    <a:pt x="0" y="2464562"/>
                    <a:pt x="0" y="24552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455291"/>
                  </a:lnTo>
                  <a:lnTo>
                    <a:pt x="16891" y="2455291"/>
                  </a:lnTo>
                  <a:lnTo>
                    <a:pt x="16891" y="2438400"/>
                  </a:lnTo>
                  <a:lnTo>
                    <a:pt x="211963" y="2438400"/>
                  </a:lnTo>
                  <a:lnTo>
                    <a:pt x="211963" y="2455291"/>
                  </a:lnTo>
                  <a:lnTo>
                    <a:pt x="195072" y="2455291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9601200" y="5175504"/>
            <a:ext cx="1097280" cy="640080"/>
            <a:chOff x="0" y="0"/>
            <a:chExt cx="1463040" cy="8534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463040" cy="853440"/>
            </a:xfrm>
            <a:custGeom>
              <a:avLst/>
              <a:gdLst/>
              <a:ahLst/>
              <a:cxnLst/>
              <a:rect r="r" b="b" t="t" l="l"/>
              <a:pathLst>
                <a:path h="8534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4843" t="0" r="-24843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66675"/>
              <a:ext cx="1463040" cy="9201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066B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04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9601200" y="5175504"/>
            <a:ext cx="7680960" cy="640080"/>
            <a:chOff x="0" y="0"/>
            <a:chExt cx="10241280" cy="85344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0241280" cy="853440"/>
            </a:xfrm>
            <a:custGeom>
              <a:avLst/>
              <a:gdLst/>
              <a:ahLst/>
              <a:cxnLst/>
              <a:rect r="r" b="b" t="t" l="l"/>
              <a:pathLst>
                <a:path h="8534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47625"/>
              <a:ext cx="10241280" cy="9010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3359"/>
                </a:lnSpc>
              </a:pPr>
              <a:r>
                <a:rPr lang="en-US" sz="27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Benchmarking Results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9601200" y="6035040"/>
            <a:ext cx="7680960" cy="548640"/>
            <a:chOff x="0" y="0"/>
            <a:chExt cx="10241280" cy="73152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0241280" cy="731520"/>
            </a:xfrm>
            <a:custGeom>
              <a:avLst/>
              <a:gdLst/>
              <a:ahLst/>
              <a:cxnLst/>
              <a:rect r="r" b="b" t="t" l="l"/>
              <a:pathLst>
                <a:path h="73152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2790" r="0" b="-222790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47625"/>
              <a:ext cx="1024128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LangSmith data-driven decisions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542287" y="7217407"/>
            <a:ext cx="8242297" cy="1841497"/>
            <a:chOff x="0" y="0"/>
            <a:chExt cx="10989729" cy="2455329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8509" y="8509"/>
              <a:ext cx="109728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0989818" cy="2455418"/>
            </a:xfrm>
            <a:custGeom>
              <a:avLst/>
              <a:gdLst/>
              <a:ahLst/>
              <a:cxnLst/>
              <a:rect r="r" b="b" t="t" l="l"/>
              <a:pathLst>
                <a:path h="2455418" w="10989818">
                  <a:moveTo>
                    <a:pt x="8509" y="0"/>
                  </a:moveTo>
                  <a:lnTo>
                    <a:pt x="10981309" y="0"/>
                  </a:lnTo>
                  <a:cubicBezTo>
                    <a:pt x="10986008" y="0"/>
                    <a:pt x="10989818" y="3810"/>
                    <a:pt x="10989818" y="8509"/>
                  </a:cubicBezTo>
                  <a:lnTo>
                    <a:pt x="10989818" y="2446909"/>
                  </a:lnTo>
                  <a:cubicBezTo>
                    <a:pt x="10989818" y="2451608"/>
                    <a:pt x="10986008" y="2455418"/>
                    <a:pt x="10981309" y="2455418"/>
                  </a:cubicBezTo>
                  <a:lnTo>
                    <a:pt x="8509" y="2455418"/>
                  </a:lnTo>
                  <a:cubicBezTo>
                    <a:pt x="3810" y="2455418"/>
                    <a:pt x="0" y="2451608"/>
                    <a:pt x="0" y="244690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446909"/>
                  </a:lnTo>
                  <a:lnTo>
                    <a:pt x="8509" y="2446909"/>
                  </a:lnTo>
                  <a:lnTo>
                    <a:pt x="8509" y="2438400"/>
                  </a:lnTo>
                  <a:lnTo>
                    <a:pt x="10981309" y="2438400"/>
                  </a:lnTo>
                  <a:lnTo>
                    <a:pt x="10981309" y="2446909"/>
                  </a:lnTo>
                  <a:lnTo>
                    <a:pt x="10972800" y="2446909"/>
                  </a:lnTo>
                  <a:lnTo>
                    <a:pt x="10972800" y="8509"/>
                  </a:lnTo>
                  <a:lnTo>
                    <a:pt x="10981309" y="8509"/>
                  </a:lnTo>
                  <a:lnTo>
                    <a:pt x="109813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535943" y="7211063"/>
            <a:ext cx="171707" cy="1854203"/>
            <a:chOff x="0" y="0"/>
            <a:chExt cx="228943" cy="2472271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16891" y="16891"/>
              <a:ext cx="195072" cy="2438400"/>
            </a:xfrm>
            <a:custGeom>
              <a:avLst/>
              <a:gdLst/>
              <a:ahLst/>
              <a:cxnLst/>
              <a:rect r="r" b="b" t="t" l="l"/>
              <a:pathLst>
                <a:path h="2438400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28854" cy="2472182"/>
            </a:xfrm>
            <a:custGeom>
              <a:avLst/>
              <a:gdLst/>
              <a:ahLst/>
              <a:cxnLst/>
              <a:rect r="r" b="b" t="t" l="l"/>
              <a:pathLst>
                <a:path h="2472182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2455291"/>
                  </a:lnTo>
                  <a:cubicBezTo>
                    <a:pt x="228854" y="2464689"/>
                    <a:pt x="221234" y="2472182"/>
                    <a:pt x="211963" y="2472182"/>
                  </a:cubicBezTo>
                  <a:lnTo>
                    <a:pt x="16891" y="2472182"/>
                  </a:lnTo>
                  <a:cubicBezTo>
                    <a:pt x="7493" y="2472182"/>
                    <a:pt x="0" y="2464562"/>
                    <a:pt x="0" y="24552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455291"/>
                  </a:lnTo>
                  <a:lnTo>
                    <a:pt x="16891" y="2455291"/>
                  </a:lnTo>
                  <a:lnTo>
                    <a:pt x="16891" y="2438400"/>
                  </a:lnTo>
                  <a:lnTo>
                    <a:pt x="211963" y="2438400"/>
                  </a:lnTo>
                  <a:lnTo>
                    <a:pt x="211963" y="2455291"/>
                  </a:lnTo>
                  <a:lnTo>
                    <a:pt x="195072" y="2455291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822960" y="7370064"/>
            <a:ext cx="1097280" cy="640080"/>
            <a:chOff x="0" y="0"/>
            <a:chExt cx="1463040" cy="85344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1463040" cy="853440"/>
            </a:xfrm>
            <a:custGeom>
              <a:avLst/>
              <a:gdLst/>
              <a:ahLst/>
              <a:cxnLst/>
              <a:rect r="r" b="b" t="t" l="l"/>
              <a:pathLst>
                <a:path h="8534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4843" t="0" r="-24843" b="0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-66675"/>
              <a:ext cx="1463040" cy="9201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066B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05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822960" y="7370064"/>
            <a:ext cx="7680960" cy="640080"/>
            <a:chOff x="0" y="0"/>
            <a:chExt cx="10241280" cy="85344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10241280" cy="853440"/>
            </a:xfrm>
            <a:custGeom>
              <a:avLst/>
              <a:gdLst/>
              <a:ahLst/>
              <a:cxnLst/>
              <a:rect r="r" b="b" t="t" l="l"/>
              <a:pathLst>
                <a:path h="8534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47625"/>
              <a:ext cx="10241280" cy="9010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3359"/>
                </a:lnSpc>
              </a:pPr>
              <a:r>
                <a:rPr lang="en-US" sz="27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Demo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822960" y="8229600"/>
            <a:ext cx="7680960" cy="548640"/>
            <a:chOff x="0" y="0"/>
            <a:chExt cx="10241280" cy="73152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10241280" cy="731520"/>
            </a:xfrm>
            <a:custGeom>
              <a:avLst/>
              <a:gdLst/>
              <a:ahLst/>
              <a:cxnLst/>
              <a:rect r="r" b="b" t="t" l="l"/>
              <a:pathLst>
                <a:path h="73152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2790" r="0" b="-22279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47625"/>
              <a:ext cx="1024128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Live prototype walkthrough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9320527" y="7217407"/>
            <a:ext cx="8242297" cy="1841497"/>
            <a:chOff x="0" y="0"/>
            <a:chExt cx="10989729" cy="2455329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8509" y="8509"/>
              <a:ext cx="109728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0989818" cy="2455418"/>
            </a:xfrm>
            <a:custGeom>
              <a:avLst/>
              <a:gdLst/>
              <a:ahLst/>
              <a:cxnLst/>
              <a:rect r="r" b="b" t="t" l="l"/>
              <a:pathLst>
                <a:path h="2455418" w="10989818">
                  <a:moveTo>
                    <a:pt x="8509" y="0"/>
                  </a:moveTo>
                  <a:lnTo>
                    <a:pt x="10981309" y="0"/>
                  </a:lnTo>
                  <a:cubicBezTo>
                    <a:pt x="10986008" y="0"/>
                    <a:pt x="10989818" y="3810"/>
                    <a:pt x="10989818" y="8509"/>
                  </a:cubicBezTo>
                  <a:lnTo>
                    <a:pt x="10989818" y="2446909"/>
                  </a:lnTo>
                  <a:cubicBezTo>
                    <a:pt x="10989818" y="2451608"/>
                    <a:pt x="10986008" y="2455418"/>
                    <a:pt x="10981309" y="2455418"/>
                  </a:cubicBezTo>
                  <a:lnTo>
                    <a:pt x="8509" y="2455418"/>
                  </a:lnTo>
                  <a:cubicBezTo>
                    <a:pt x="3810" y="2455418"/>
                    <a:pt x="0" y="2451608"/>
                    <a:pt x="0" y="244690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446909"/>
                  </a:lnTo>
                  <a:lnTo>
                    <a:pt x="8509" y="2446909"/>
                  </a:lnTo>
                  <a:lnTo>
                    <a:pt x="8509" y="2438400"/>
                  </a:lnTo>
                  <a:lnTo>
                    <a:pt x="10981309" y="2438400"/>
                  </a:lnTo>
                  <a:lnTo>
                    <a:pt x="10981309" y="2446909"/>
                  </a:lnTo>
                  <a:lnTo>
                    <a:pt x="10972800" y="2446909"/>
                  </a:lnTo>
                  <a:lnTo>
                    <a:pt x="10972800" y="8509"/>
                  </a:lnTo>
                  <a:lnTo>
                    <a:pt x="10981309" y="8509"/>
                  </a:lnTo>
                  <a:lnTo>
                    <a:pt x="109813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89" id="89"/>
          <p:cNvGrpSpPr/>
          <p:nvPr/>
        </p:nvGrpSpPr>
        <p:grpSpPr>
          <a:xfrm rot="0">
            <a:off x="9314183" y="7211063"/>
            <a:ext cx="171707" cy="1854203"/>
            <a:chOff x="0" y="0"/>
            <a:chExt cx="228943" cy="2472271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16891" y="16891"/>
              <a:ext cx="195072" cy="2438400"/>
            </a:xfrm>
            <a:custGeom>
              <a:avLst/>
              <a:gdLst/>
              <a:ahLst/>
              <a:cxnLst/>
              <a:rect r="r" b="b" t="t" l="l"/>
              <a:pathLst>
                <a:path h="2438400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228854" cy="2472182"/>
            </a:xfrm>
            <a:custGeom>
              <a:avLst/>
              <a:gdLst/>
              <a:ahLst/>
              <a:cxnLst/>
              <a:rect r="r" b="b" t="t" l="l"/>
              <a:pathLst>
                <a:path h="2472182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2455291"/>
                  </a:lnTo>
                  <a:cubicBezTo>
                    <a:pt x="228854" y="2464689"/>
                    <a:pt x="221234" y="2472182"/>
                    <a:pt x="211963" y="2472182"/>
                  </a:cubicBezTo>
                  <a:lnTo>
                    <a:pt x="16891" y="2472182"/>
                  </a:lnTo>
                  <a:cubicBezTo>
                    <a:pt x="7493" y="2472182"/>
                    <a:pt x="0" y="2464562"/>
                    <a:pt x="0" y="24552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455291"/>
                  </a:lnTo>
                  <a:lnTo>
                    <a:pt x="16891" y="2455291"/>
                  </a:lnTo>
                  <a:lnTo>
                    <a:pt x="16891" y="2438400"/>
                  </a:lnTo>
                  <a:lnTo>
                    <a:pt x="211963" y="2438400"/>
                  </a:lnTo>
                  <a:lnTo>
                    <a:pt x="211963" y="2455291"/>
                  </a:lnTo>
                  <a:lnTo>
                    <a:pt x="195072" y="2455291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9601200" y="7370064"/>
            <a:ext cx="1097280" cy="640080"/>
            <a:chOff x="0" y="0"/>
            <a:chExt cx="1463040" cy="8534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1463040" cy="853440"/>
            </a:xfrm>
            <a:custGeom>
              <a:avLst/>
              <a:gdLst/>
              <a:ahLst/>
              <a:cxnLst/>
              <a:rect r="r" b="b" t="t" l="l"/>
              <a:pathLst>
                <a:path h="8534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4843" t="0" r="-24843" b="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66675"/>
              <a:ext cx="1463040" cy="9201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066B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06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9601200" y="7370064"/>
            <a:ext cx="7680960" cy="640080"/>
            <a:chOff x="0" y="0"/>
            <a:chExt cx="10241280" cy="85344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10241280" cy="853440"/>
            </a:xfrm>
            <a:custGeom>
              <a:avLst/>
              <a:gdLst/>
              <a:ahLst/>
              <a:cxnLst/>
              <a:rect r="r" b="b" t="t" l="l"/>
              <a:pathLst>
                <a:path h="8534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47625"/>
              <a:ext cx="10241280" cy="9010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3359"/>
                </a:lnSpc>
              </a:pPr>
              <a:r>
                <a:rPr lang="en-US" sz="2799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Roadmap &amp; Q&amp;A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9601200" y="8229600"/>
            <a:ext cx="7680960" cy="548640"/>
            <a:chOff x="0" y="0"/>
            <a:chExt cx="10241280" cy="731520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0241280" cy="731520"/>
            </a:xfrm>
            <a:custGeom>
              <a:avLst/>
              <a:gdLst/>
              <a:ahLst/>
              <a:cxnLst/>
              <a:rect r="r" b="b" t="t" l="l"/>
              <a:pathLst>
                <a:path h="73152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2790" r="0" b="-222790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47625"/>
              <a:ext cx="1024128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Production path and next steps</a:t>
              </a:r>
            </a:p>
          </p:txBody>
        </p:sp>
      </p:grpSp>
      <p:sp>
        <p:nvSpPr>
          <p:cNvPr name="TextBox 101" id="101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Page 2</a:t>
            </a:r>
          </a:p>
        </p:txBody>
      </p:sp>
    </p:spTree>
  </p:cSld>
  <p:clrMapOvr>
    <a:masterClrMapping/>
  </p:clrMapOvr>
  <p:transition spd="slow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84A9FF">
                <a:alpha val="100000"/>
              </a:srgbClr>
            </a:gs>
            <a:gs pos="50000">
              <a:srgbClr val="F5F8FF">
                <a:alpha val="100000"/>
              </a:srgbClr>
            </a:gs>
            <a:gs pos="100000">
              <a:srgbClr val="5387F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244859" cy="10312403"/>
            <a:chOff x="0" y="0"/>
            <a:chExt cx="326479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292608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292608">
                  <a:moveTo>
                    <a:pt x="0" y="0"/>
                  </a:moveTo>
                  <a:lnTo>
                    <a:pt x="292608" y="0"/>
                  </a:lnTo>
                  <a:lnTo>
                    <a:pt x="292608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26390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326390">
                  <a:moveTo>
                    <a:pt x="16891" y="0"/>
                  </a:moveTo>
                  <a:lnTo>
                    <a:pt x="309499" y="0"/>
                  </a:lnTo>
                  <a:cubicBezTo>
                    <a:pt x="318897" y="0"/>
                    <a:pt x="326390" y="7620"/>
                    <a:pt x="326390" y="16891"/>
                  </a:cubicBezTo>
                  <a:lnTo>
                    <a:pt x="326390" y="13732890"/>
                  </a:lnTo>
                  <a:cubicBezTo>
                    <a:pt x="326390" y="13742290"/>
                    <a:pt x="318770" y="13749782"/>
                    <a:pt x="309499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309499" y="13716000"/>
                  </a:lnTo>
                  <a:lnTo>
                    <a:pt x="309499" y="13732890"/>
                  </a:lnTo>
                  <a:lnTo>
                    <a:pt x="292608" y="13732890"/>
                  </a:lnTo>
                  <a:lnTo>
                    <a:pt x="292608" y="16891"/>
                  </a:lnTo>
                  <a:lnTo>
                    <a:pt x="309499" y="16891"/>
                  </a:lnTo>
                  <a:lnTo>
                    <a:pt x="309499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548640" y="548640"/>
            <a:ext cx="16459200" cy="731520"/>
            <a:chOff x="0" y="0"/>
            <a:chExt cx="21945600" cy="975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975360"/>
            </a:xfrm>
            <a:custGeom>
              <a:avLst/>
              <a:gdLst/>
              <a:ahLst/>
              <a:cxnLst/>
              <a:rect r="r" b="b" t="t" l="l"/>
              <a:pathLst>
                <a:path h="975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1945600" cy="1022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600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BUSINESS PROBLEM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48640" y="1371600"/>
            <a:ext cx="16459200" cy="1287066"/>
            <a:chOff x="0" y="0"/>
            <a:chExt cx="21945600" cy="171608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716088"/>
            </a:xfrm>
            <a:custGeom>
              <a:avLst/>
              <a:gdLst/>
              <a:ahLst/>
              <a:cxnLst/>
              <a:rect r="r" b="b" t="t" l="l"/>
              <a:pathLst>
                <a:path h="1716088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16088"/>
                  </a:lnTo>
                  <a:lnTo>
                    <a:pt x="0" y="17160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6550" r="0" b="-19180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23825"/>
              <a:ext cx="21945600" cy="18399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80"/>
                </a:lnSpc>
              </a:pPr>
              <a:r>
                <a:rPr lang="en-US" sz="6400" b="true">
                  <a:solidFill>
                    <a:srgbClr val="1A305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Challenge BMW Faces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2287" y="2828287"/>
            <a:ext cx="5499097" cy="2938777"/>
            <a:chOff x="0" y="0"/>
            <a:chExt cx="7332129" cy="391836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8509" y="8509"/>
              <a:ext cx="7315200" cy="3901440"/>
            </a:xfrm>
            <a:custGeom>
              <a:avLst/>
              <a:gdLst/>
              <a:ahLst/>
              <a:cxnLst/>
              <a:rect r="r" b="b" t="t" l="l"/>
              <a:pathLst>
                <a:path h="390144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3901440"/>
                  </a:lnTo>
                  <a:lnTo>
                    <a:pt x="0" y="390144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332218" cy="3918458"/>
            </a:xfrm>
            <a:custGeom>
              <a:avLst/>
              <a:gdLst/>
              <a:ahLst/>
              <a:cxnLst/>
              <a:rect r="r" b="b" t="t" l="l"/>
              <a:pathLst>
                <a:path h="3918458" w="7332218">
                  <a:moveTo>
                    <a:pt x="8509" y="0"/>
                  </a:moveTo>
                  <a:lnTo>
                    <a:pt x="7323709" y="0"/>
                  </a:lnTo>
                  <a:cubicBezTo>
                    <a:pt x="7328408" y="0"/>
                    <a:pt x="7332218" y="3810"/>
                    <a:pt x="7332218" y="8509"/>
                  </a:cubicBezTo>
                  <a:lnTo>
                    <a:pt x="7332218" y="3909949"/>
                  </a:lnTo>
                  <a:cubicBezTo>
                    <a:pt x="7332218" y="3914648"/>
                    <a:pt x="7328408" y="3918458"/>
                    <a:pt x="7323709" y="3918458"/>
                  </a:cubicBezTo>
                  <a:lnTo>
                    <a:pt x="8509" y="3918458"/>
                  </a:lnTo>
                  <a:cubicBezTo>
                    <a:pt x="3810" y="3918458"/>
                    <a:pt x="0" y="3914648"/>
                    <a:pt x="0" y="39099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3909949"/>
                  </a:lnTo>
                  <a:lnTo>
                    <a:pt x="8509" y="3909949"/>
                  </a:lnTo>
                  <a:lnTo>
                    <a:pt x="8509" y="3901440"/>
                  </a:lnTo>
                  <a:lnTo>
                    <a:pt x="7323709" y="3901440"/>
                  </a:lnTo>
                  <a:lnTo>
                    <a:pt x="7323709" y="3909949"/>
                  </a:lnTo>
                  <a:lnTo>
                    <a:pt x="7315200" y="3909949"/>
                  </a:lnTo>
                  <a:lnTo>
                    <a:pt x="7315200" y="8509"/>
                  </a:lnTo>
                  <a:lnTo>
                    <a:pt x="7323709" y="8509"/>
                  </a:lnTo>
                  <a:lnTo>
                    <a:pt x="73237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35943" y="2821943"/>
            <a:ext cx="5511803" cy="135131"/>
            <a:chOff x="0" y="0"/>
            <a:chExt cx="7349071" cy="18017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7315200" cy="146304"/>
            </a:xfrm>
            <a:custGeom>
              <a:avLst/>
              <a:gdLst/>
              <a:ahLst/>
              <a:cxnLst/>
              <a:rect r="r" b="b" t="t" l="l"/>
              <a:pathLst>
                <a:path h="146304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46304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348982" cy="180088"/>
            </a:xfrm>
            <a:custGeom>
              <a:avLst/>
              <a:gdLst/>
              <a:ahLst/>
              <a:cxnLst/>
              <a:rect r="r" b="b" t="t" l="l"/>
              <a:pathLst>
                <a:path h="180088" w="7348982">
                  <a:moveTo>
                    <a:pt x="16891" y="0"/>
                  </a:moveTo>
                  <a:lnTo>
                    <a:pt x="7332091" y="0"/>
                  </a:lnTo>
                  <a:cubicBezTo>
                    <a:pt x="7341489" y="0"/>
                    <a:pt x="7348982" y="7620"/>
                    <a:pt x="7348982" y="16891"/>
                  </a:cubicBezTo>
                  <a:lnTo>
                    <a:pt x="7348982" y="163195"/>
                  </a:lnTo>
                  <a:cubicBezTo>
                    <a:pt x="7348982" y="172593"/>
                    <a:pt x="7341362" y="180086"/>
                    <a:pt x="7332091" y="180086"/>
                  </a:cubicBezTo>
                  <a:lnTo>
                    <a:pt x="16891" y="180086"/>
                  </a:lnTo>
                  <a:cubicBezTo>
                    <a:pt x="7620" y="180213"/>
                    <a:pt x="0" y="172593"/>
                    <a:pt x="0" y="16319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3195"/>
                  </a:lnTo>
                  <a:lnTo>
                    <a:pt x="16891" y="163195"/>
                  </a:lnTo>
                  <a:lnTo>
                    <a:pt x="16891" y="146304"/>
                  </a:lnTo>
                  <a:lnTo>
                    <a:pt x="7332091" y="146304"/>
                  </a:lnTo>
                  <a:lnTo>
                    <a:pt x="7332091" y="163195"/>
                  </a:lnTo>
                  <a:lnTo>
                    <a:pt x="7315200" y="163195"/>
                  </a:lnTo>
                  <a:lnTo>
                    <a:pt x="7315200" y="16891"/>
                  </a:lnTo>
                  <a:lnTo>
                    <a:pt x="7332091" y="16891"/>
                  </a:lnTo>
                  <a:lnTo>
                    <a:pt x="7332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548640" y="3108960"/>
            <a:ext cx="5486400" cy="1280160"/>
            <a:chOff x="0" y="0"/>
            <a:chExt cx="7315200" cy="17068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315200" cy="1706880"/>
            </a:xfrm>
            <a:custGeom>
              <a:avLst/>
              <a:gdLst/>
              <a:ahLst/>
              <a:cxnLst/>
              <a:rect r="r" b="b" t="t" l="l"/>
              <a:pathLst>
                <a:path h="170688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507" r="0" b="-335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42875"/>
              <a:ext cx="7315200" cy="1849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640"/>
                </a:lnSpc>
              </a:pPr>
              <a:r>
                <a:rPr lang="en-US" sz="7200" b="true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100s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548640" y="4480560"/>
            <a:ext cx="5486400" cy="548640"/>
            <a:chOff x="0" y="0"/>
            <a:chExt cx="7315200" cy="7315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31520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731520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Daily Inquiries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548640" y="5120640"/>
            <a:ext cx="5486400" cy="548640"/>
            <a:chOff x="0" y="0"/>
            <a:chExt cx="7315200" cy="73152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31520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731520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Vehicles, warranty, service, ordering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394447" y="2828287"/>
            <a:ext cx="5499097" cy="2938777"/>
            <a:chOff x="0" y="0"/>
            <a:chExt cx="7332129" cy="391836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8509" y="8509"/>
              <a:ext cx="7315200" cy="3901440"/>
            </a:xfrm>
            <a:custGeom>
              <a:avLst/>
              <a:gdLst/>
              <a:ahLst/>
              <a:cxnLst/>
              <a:rect r="r" b="b" t="t" l="l"/>
              <a:pathLst>
                <a:path h="390144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3901440"/>
                  </a:lnTo>
                  <a:lnTo>
                    <a:pt x="0" y="390144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332218" cy="3918458"/>
            </a:xfrm>
            <a:custGeom>
              <a:avLst/>
              <a:gdLst/>
              <a:ahLst/>
              <a:cxnLst/>
              <a:rect r="r" b="b" t="t" l="l"/>
              <a:pathLst>
                <a:path h="3918458" w="7332218">
                  <a:moveTo>
                    <a:pt x="8509" y="0"/>
                  </a:moveTo>
                  <a:lnTo>
                    <a:pt x="7323709" y="0"/>
                  </a:lnTo>
                  <a:cubicBezTo>
                    <a:pt x="7328408" y="0"/>
                    <a:pt x="7332218" y="3810"/>
                    <a:pt x="7332218" y="8509"/>
                  </a:cubicBezTo>
                  <a:lnTo>
                    <a:pt x="7332218" y="3909949"/>
                  </a:lnTo>
                  <a:cubicBezTo>
                    <a:pt x="7332218" y="3914648"/>
                    <a:pt x="7328408" y="3918458"/>
                    <a:pt x="7323709" y="3918458"/>
                  </a:cubicBezTo>
                  <a:lnTo>
                    <a:pt x="8509" y="3918458"/>
                  </a:lnTo>
                  <a:cubicBezTo>
                    <a:pt x="3810" y="3918458"/>
                    <a:pt x="0" y="3914648"/>
                    <a:pt x="0" y="39099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3909949"/>
                  </a:lnTo>
                  <a:lnTo>
                    <a:pt x="8509" y="3909949"/>
                  </a:lnTo>
                  <a:lnTo>
                    <a:pt x="8509" y="3901440"/>
                  </a:lnTo>
                  <a:lnTo>
                    <a:pt x="7323709" y="3901440"/>
                  </a:lnTo>
                  <a:lnTo>
                    <a:pt x="7323709" y="3909949"/>
                  </a:lnTo>
                  <a:lnTo>
                    <a:pt x="7315200" y="3909949"/>
                  </a:lnTo>
                  <a:lnTo>
                    <a:pt x="7315200" y="8509"/>
                  </a:lnTo>
                  <a:lnTo>
                    <a:pt x="7323709" y="8509"/>
                  </a:lnTo>
                  <a:lnTo>
                    <a:pt x="73237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6388103" y="2821943"/>
            <a:ext cx="5511803" cy="135131"/>
            <a:chOff x="0" y="0"/>
            <a:chExt cx="7349071" cy="18017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16891" y="16891"/>
              <a:ext cx="7315200" cy="146304"/>
            </a:xfrm>
            <a:custGeom>
              <a:avLst/>
              <a:gdLst/>
              <a:ahLst/>
              <a:cxnLst/>
              <a:rect r="r" b="b" t="t" l="l"/>
              <a:pathLst>
                <a:path h="146304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46304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348982" cy="180088"/>
            </a:xfrm>
            <a:custGeom>
              <a:avLst/>
              <a:gdLst/>
              <a:ahLst/>
              <a:cxnLst/>
              <a:rect r="r" b="b" t="t" l="l"/>
              <a:pathLst>
                <a:path h="180088" w="7348982">
                  <a:moveTo>
                    <a:pt x="16891" y="0"/>
                  </a:moveTo>
                  <a:lnTo>
                    <a:pt x="7332091" y="0"/>
                  </a:lnTo>
                  <a:cubicBezTo>
                    <a:pt x="7341489" y="0"/>
                    <a:pt x="7348982" y="7620"/>
                    <a:pt x="7348982" y="16891"/>
                  </a:cubicBezTo>
                  <a:lnTo>
                    <a:pt x="7348982" y="163195"/>
                  </a:lnTo>
                  <a:cubicBezTo>
                    <a:pt x="7348982" y="172593"/>
                    <a:pt x="7341362" y="180086"/>
                    <a:pt x="7332091" y="180086"/>
                  </a:cubicBezTo>
                  <a:lnTo>
                    <a:pt x="16891" y="180086"/>
                  </a:lnTo>
                  <a:cubicBezTo>
                    <a:pt x="7620" y="180213"/>
                    <a:pt x="0" y="172593"/>
                    <a:pt x="0" y="16319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3195"/>
                  </a:lnTo>
                  <a:lnTo>
                    <a:pt x="16891" y="163195"/>
                  </a:lnTo>
                  <a:lnTo>
                    <a:pt x="16891" y="146304"/>
                  </a:lnTo>
                  <a:lnTo>
                    <a:pt x="7332091" y="146304"/>
                  </a:lnTo>
                  <a:lnTo>
                    <a:pt x="7332091" y="163195"/>
                  </a:lnTo>
                  <a:lnTo>
                    <a:pt x="7315200" y="163195"/>
                  </a:lnTo>
                  <a:lnTo>
                    <a:pt x="7315200" y="16891"/>
                  </a:lnTo>
                  <a:lnTo>
                    <a:pt x="7332091" y="16891"/>
                  </a:lnTo>
                  <a:lnTo>
                    <a:pt x="7332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6400800" y="3108960"/>
            <a:ext cx="5486400" cy="1280160"/>
            <a:chOff x="0" y="0"/>
            <a:chExt cx="7315200" cy="170688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315200" cy="1706880"/>
            </a:xfrm>
            <a:custGeom>
              <a:avLst/>
              <a:gdLst/>
              <a:ahLst/>
              <a:cxnLst/>
              <a:rect r="r" b="b" t="t" l="l"/>
              <a:pathLst>
                <a:path h="170688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507" r="0" b="-33507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142875"/>
              <a:ext cx="7315200" cy="1849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640"/>
                </a:lnSpc>
              </a:pPr>
              <a:r>
                <a:rPr lang="en-US" sz="7200" b="true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∞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400800" y="4480560"/>
            <a:ext cx="5486400" cy="548640"/>
            <a:chOff x="0" y="0"/>
            <a:chExt cx="7315200" cy="73152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31520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57150"/>
              <a:ext cx="731520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Knowledge Exists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400800" y="5120640"/>
            <a:ext cx="5486400" cy="548640"/>
            <a:chOff x="0" y="0"/>
            <a:chExt cx="7315200" cy="73152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731520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731520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But not easily accessible to customers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2246607" y="2828287"/>
            <a:ext cx="5499097" cy="2938777"/>
            <a:chOff x="0" y="0"/>
            <a:chExt cx="7332129" cy="3918369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8509" y="8509"/>
              <a:ext cx="7315200" cy="3901440"/>
            </a:xfrm>
            <a:custGeom>
              <a:avLst/>
              <a:gdLst/>
              <a:ahLst/>
              <a:cxnLst/>
              <a:rect r="r" b="b" t="t" l="l"/>
              <a:pathLst>
                <a:path h="390144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3901440"/>
                  </a:lnTo>
                  <a:lnTo>
                    <a:pt x="0" y="390144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7332218" cy="3918458"/>
            </a:xfrm>
            <a:custGeom>
              <a:avLst/>
              <a:gdLst/>
              <a:ahLst/>
              <a:cxnLst/>
              <a:rect r="r" b="b" t="t" l="l"/>
              <a:pathLst>
                <a:path h="3918458" w="7332218">
                  <a:moveTo>
                    <a:pt x="8509" y="0"/>
                  </a:moveTo>
                  <a:lnTo>
                    <a:pt x="7323709" y="0"/>
                  </a:lnTo>
                  <a:cubicBezTo>
                    <a:pt x="7328408" y="0"/>
                    <a:pt x="7332218" y="3810"/>
                    <a:pt x="7332218" y="8509"/>
                  </a:cubicBezTo>
                  <a:lnTo>
                    <a:pt x="7332218" y="3909949"/>
                  </a:lnTo>
                  <a:cubicBezTo>
                    <a:pt x="7332218" y="3914648"/>
                    <a:pt x="7328408" y="3918458"/>
                    <a:pt x="7323709" y="3918458"/>
                  </a:cubicBezTo>
                  <a:lnTo>
                    <a:pt x="8509" y="3918458"/>
                  </a:lnTo>
                  <a:cubicBezTo>
                    <a:pt x="3810" y="3918458"/>
                    <a:pt x="0" y="3914648"/>
                    <a:pt x="0" y="39099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3909949"/>
                  </a:lnTo>
                  <a:lnTo>
                    <a:pt x="8509" y="3909949"/>
                  </a:lnTo>
                  <a:lnTo>
                    <a:pt x="8509" y="3901440"/>
                  </a:lnTo>
                  <a:lnTo>
                    <a:pt x="7323709" y="3901440"/>
                  </a:lnTo>
                  <a:lnTo>
                    <a:pt x="7323709" y="3909949"/>
                  </a:lnTo>
                  <a:lnTo>
                    <a:pt x="7315200" y="3909949"/>
                  </a:lnTo>
                  <a:lnTo>
                    <a:pt x="7315200" y="8509"/>
                  </a:lnTo>
                  <a:lnTo>
                    <a:pt x="7323709" y="8509"/>
                  </a:lnTo>
                  <a:lnTo>
                    <a:pt x="73237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2240263" y="2821943"/>
            <a:ext cx="5511803" cy="135131"/>
            <a:chOff x="0" y="0"/>
            <a:chExt cx="7349071" cy="180175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16891" y="16891"/>
              <a:ext cx="7315200" cy="146304"/>
            </a:xfrm>
            <a:custGeom>
              <a:avLst/>
              <a:gdLst/>
              <a:ahLst/>
              <a:cxnLst/>
              <a:rect r="r" b="b" t="t" l="l"/>
              <a:pathLst>
                <a:path h="146304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46304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348982" cy="180088"/>
            </a:xfrm>
            <a:custGeom>
              <a:avLst/>
              <a:gdLst/>
              <a:ahLst/>
              <a:cxnLst/>
              <a:rect r="r" b="b" t="t" l="l"/>
              <a:pathLst>
                <a:path h="180088" w="7348982">
                  <a:moveTo>
                    <a:pt x="16891" y="0"/>
                  </a:moveTo>
                  <a:lnTo>
                    <a:pt x="7332091" y="0"/>
                  </a:lnTo>
                  <a:cubicBezTo>
                    <a:pt x="7341489" y="0"/>
                    <a:pt x="7348982" y="7620"/>
                    <a:pt x="7348982" y="16891"/>
                  </a:cubicBezTo>
                  <a:lnTo>
                    <a:pt x="7348982" y="163195"/>
                  </a:lnTo>
                  <a:cubicBezTo>
                    <a:pt x="7348982" y="172593"/>
                    <a:pt x="7341362" y="180086"/>
                    <a:pt x="7332091" y="180086"/>
                  </a:cubicBezTo>
                  <a:lnTo>
                    <a:pt x="16891" y="180086"/>
                  </a:lnTo>
                  <a:cubicBezTo>
                    <a:pt x="7620" y="180213"/>
                    <a:pt x="0" y="172593"/>
                    <a:pt x="0" y="16319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3195"/>
                  </a:lnTo>
                  <a:lnTo>
                    <a:pt x="16891" y="163195"/>
                  </a:lnTo>
                  <a:lnTo>
                    <a:pt x="16891" y="146304"/>
                  </a:lnTo>
                  <a:lnTo>
                    <a:pt x="7332091" y="146304"/>
                  </a:lnTo>
                  <a:lnTo>
                    <a:pt x="7332091" y="163195"/>
                  </a:lnTo>
                  <a:lnTo>
                    <a:pt x="7315200" y="163195"/>
                  </a:lnTo>
                  <a:lnTo>
                    <a:pt x="7315200" y="16891"/>
                  </a:lnTo>
                  <a:lnTo>
                    <a:pt x="7332091" y="16891"/>
                  </a:lnTo>
                  <a:lnTo>
                    <a:pt x="7332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2252960" y="3108960"/>
            <a:ext cx="5486400" cy="1280160"/>
            <a:chOff x="0" y="0"/>
            <a:chExt cx="7315200" cy="17068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315200" cy="1706880"/>
            </a:xfrm>
            <a:custGeom>
              <a:avLst/>
              <a:gdLst/>
              <a:ahLst/>
              <a:cxnLst/>
              <a:rect r="r" b="b" t="t" l="l"/>
              <a:pathLst>
                <a:path h="170688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507" r="0" b="-33507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142875"/>
              <a:ext cx="7315200" cy="1849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640"/>
                </a:lnSpc>
              </a:pPr>
              <a:r>
                <a:rPr lang="en-US" sz="7200" b="true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24/7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2252960" y="4480560"/>
            <a:ext cx="5486400" cy="548640"/>
            <a:chOff x="0" y="0"/>
            <a:chExt cx="7315200" cy="73152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731520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57150"/>
              <a:ext cx="731520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Expected Support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2252960" y="5120640"/>
            <a:ext cx="5486400" cy="548640"/>
            <a:chOff x="0" y="0"/>
            <a:chExt cx="7315200" cy="73152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731520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731520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Customers expect instant answers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535943" y="6205223"/>
            <a:ext cx="17216123" cy="3134363"/>
            <a:chOff x="0" y="0"/>
            <a:chExt cx="22954831" cy="4179151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16891" y="16891"/>
              <a:ext cx="22920960" cy="4145280"/>
            </a:xfrm>
            <a:custGeom>
              <a:avLst/>
              <a:gdLst/>
              <a:ahLst/>
              <a:cxnLst/>
              <a:rect r="r" b="b" t="t" l="l"/>
              <a:pathLst>
                <a:path h="4145280" w="22920960">
                  <a:moveTo>
                    <a:pt x="0" y="0"/>
                  </a:moveTo>
                  <a:lnTo>
                    <a:pt x="22920960" y="0"/>
                  </a:lnTo>
                  <a:lnTo>
                    <a:pt x="22920960" y="4145280"/>
                  </a:lnTo>
                  <a:lnTo>
                    <a:pt x="0" y="414528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2954743" cy="4179062"/>
            </a:xfrm>
            <a:custGeom>
              <a:avLst/>
              <a:gdLst/>
              <a:ahLst/>
              <a:cxnLst/>
              <a:rect r="r" b="b" t="t" l="l"/>
              <a:pathLst>
                <a:path h="4179062" w="22954743">
                  <a:moveTo>
                    <a:pt x="16891" y="0"/>
                  </a:moveTo>
                  <a:lnTo>
                    <a:pt x="22937851" y="0"/>
                  </a:lnTo>
                  <a:cubicBezTo>
                    <a:pt x="22947249" y="0"/>
                    <a:pt x="22954743" y="7620"/>
                    <a:pt x="22954743" y="16891"/>
                  </a:cubicBezTo>
                  <a:lnTo>
                    <a:pt x="22954743" y="4162171"/>
                  </a:lnTo>
                  <a:cubicBezTo>
                    <a:pt x="22954743" y="4171569"/>
                    <a:pt x="22947123" y="4179062"/>
                    <a:pt x="22937851" y="4179062"/>
                  </a:cubicBezTo>
                  <a:lnTo>
                    <a:pt x="16891" y="4179062"/>
                  </a:lnTo>
                  <a:cubicBezTo>
                    <a:pt x="7493" y="4179062"/>
                    <a:pt x="0" y="4171442"/>
                    <a:pt x="0" y="416217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4162171"/>
                  </a:lnTo>
                  <a:lnTo>
                    <a:pt x="16891" y="4162171"/>
                  </a:lnTo>
                  <a:lnTo>
                    <a:pt x="16891" y="4145280"/>
                  </a:lnTo>
                  <a:lnTo>
                    <a:pt x="22937851" y="4145280"/>
                  </a:lnTo>
                  <a:lnTo>
                    <a:pt x="22937851" y="4162171"/>
                  </a:lnTo>
                  <a:lnTo>
                    <a:pt x="22920961" y="4162171"/>
                  </a:lnTo>
                  <a:lnTo>
                    <a:pt x="22920961" y="16891"/>
                  </a:lnTo>
                  <a:lnTo>
                    <a:pt x="22937851" y="16891"/>
                  </a:lnTo>
                  <a:lnTo>
                    <a:pt x="229378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C853"/>
            </a:solid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914400" y="6492240"/>
            <a:ext cx="16459200" cy="731520"/>
            <a:chOff x="0" y="0"/>
            <a:chExt cx="21945600" cy="97536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1945600" cy="975360"/>
            </a:xfrm>
            <a:custGeom>
              <a:avLst/>
              <a:gdLst/>
              <a:ahLst/>
              <a:cxnLst/>
              <a:rect r="r" b="b" t="t" l="l"/>
              <a:pathLst>
                <a:path h="975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57150"/>
              <a:ext cx="21945600" cy="10325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40"/>
                </a:lnSpc>
              </a:pPr>
              <a:r>
                <a:rPr lang="en-US" sz="3200" b="true">
                  <a:solidFill>
                    <a:srgbClr val="00C85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Solution: AI Chatbot with RAG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914400" y="7406640"/>
            <a:ext cx="16459200" cy="731520"/>
            <a:chOff x="0" y="0"/>
            <a:chExt cx="21945600" cy="97536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1945600" cy="975360"/>
            </a:xfrm>
            <a:custGeom>
              <a:avLst/>
              <a:gdLst/>
              <a:ahLst/>
              <a:cxnLst/>
              <a:rect r="r" b="b" t="t" l="l"/>
              <a:pathLst>
                <a:path h="975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57150"/>
              <a:ext cx="21945600" cy="10325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Answer customer questions instantly  •  Reduce support workload  •  Available 24/7  •  Grounded in verified knowledge base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17373600" y="9472936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Page 3</a:t>
            </a:r>
          </a:p>
        </p:txBody>
      </p:sp>
    </p:spTree>
  </p:cSld>
  <p:clrMapOvr>
    <a:masterClrMapping/>
  </p:clrMapOvr>
  <p:transition spd="slow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84A9FF">
                <a:alpha val="100000"/>
              </a:srgbClr>
            </a:gs>
            <a:gs pos="50000">
              <a:srgbClr val="F5F8FF">
                <a:alpha val="100000"/>
              </a:srgbClr>
            </a:gs>
            <a:gs pos="100000">
              <a:srgbClr val="5387F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244859" cy="10312403"/>
            <a:chOff x="0" y="0"/>
            <a:chExt cx="326479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292608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292608">
                  <a:moveTo>
                    <a:pt x="0" y="0"/>
                  </a:moveTo>
                  <a:lnTo>
                    <a:pt x="292608" y="0"/>
                  </a:lnTo>
                  <a:lnTo>
                    <a:pt x="292608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26390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326390">
                  <a:moveTo>
                    <a:pt x="16891" y="0"/>
                  </a:moveTo>
                  <a:lnTo>
                    <a:pt x="309499" y="0"/>
                  </a:lnTo>
                  <a:cubicBezTo>
                    <a:pt x="318897" y="0"/>
                    <a:pt x="326390" y="7620"/>
                    <a:pt x="326390" y="16891"/>
                  </a:cubicBezTo>
                  <a:lnTo>
                    <a:pt x="326390" y="13732890"/>
                  </a:lnTo>
                  <a:cubicBezTo>
                    <a:pt x="326390" y="13742290"/>
                    <a:pt x="318770" y="13749782"/>
                    <a:pt x="309499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309499" y="13716000"/>
                  </a:lnTo>
                  <a:lnTo>
                    <a:pt x="309499" y="13732890"/>
                  </a:lnTo>
                  <a:lnTo>
                    <a:pt x="292608" y="13732890"/>
                  </a:lnTo>
                  <a:lnTo>
                    <a:pt x="292608" y="16891"/>
                  </a:lnTo>
                  <a:lnTo>
                    <a:pt x="309499" y="16891"/>
                  </a:lnTo>
                  <a:lnTo>
                    <a:pt x="309499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548640" y="548640"/>
            <a:ext cx="16459200" cy="731520"/>
            <a:chOff x="0" y="0"/>
            <a:chExt cx="21945600" cy="975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975360"/>
            </a:xfrm>
            <a:custGeom>
              <a:avLst/>
              <a:gdLst/>
              <a:ahLst/>
              <a:cxnLst/>
              <a:rect r="r" b="b" t="t" l="l"/>
              <a:pathLst>
                <a:path h="975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1945600" cy="1022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600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SOLUTION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48640" y="1371600"/>
            <a:ext cx="16459200" cy="1287066"/>
            <a:chOff x="0" y="0"/>
            <a:chExt cx="21945600" cy="171608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716088"/>
            </a:xfrm>
            <a:custGeom>
              <a:avLst/>
              <a:gdLst/>
              <a:ahLst/>
              <a:cxnLst/>
              <a:rect r="r" b="b" t="t" l="l"/>
              <a:pathLst>
                <a:path h="1716088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16088"/>
                  </a:lnTo>
                  <a:lnTo>
                    <a:pt x="0" y="17160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6550" r="0" b="-19180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23825"/>
              <a:ext cx="21945600" cy="18399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80"/>
                </a:lnSpc>
              </a:pPr>
              <a:r>
                <a:rPr lang="en-US" sz="6400" b="true">
                  <a:solidFill>
                    <a:srgbClr val="1A305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Why RAG? Comparing Approaches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2287" y="2828287"/>
            <a:ext cx="5499097" cy="6596377"/>
            <a:chOff x="0" y="0"/>
            <a:chExt cx="7332129" cy="879516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8509" y="8509"/>
              <a:ext cx="7315200" cy="8778240"/>
            </a:xfrm>
            <a:custGeom>
              <a:avLst/>
              <a:gdLst/>
              <a:ahLst/>
              <a:cxnLst/>
              <a:rect r="r" b="b" t="t" l="l"/>
              <a:pathLst>
                <a:path h="877824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8778240"/>
                  </a:lnTo>
                  <a:lnTo>
                    <a:pt x="0" y="877824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332218" cy="8795258"/>
            </a:xfrm>
            <a:custGeom>
              <a:avLst/>
              <a:gdLst/>
              <a:ahLst/>
              <a:cxnLst/>
              <a:rect r="r" b="b" t="t" l="l"/>
              <a:pathLst>
                <a:path h="8795258" w="7332218">
                  <a:moveTo>
                    <a:pt x="8509" y="0"/>
                  </a:moveTo>
                  <a:lnTo>
                    <a:pt x="7323709" y="0"/>
                  </a:lnTo>
                  <a:cubicBezTo>
                    <a:pt x="7328408" y="0"/>
                    <a:pt x="7332218" y="3810"/>
                    <a:pt x="7332218" y="8509"/>
                  </a:cubicBezTo>
                  <a:lnTo>
                    <a:pt x="7332218" y="8786749"/>
                  </a:lnTo>
                  <a:cubicBezTo>
                    <a:pt x="7332218" y="8791448"/>
                    <a:pt x="7328408" y="8795258"/>
                    <a:pt x="7323709" y="8795258"/>
                  </a:cubicBezTo>
                  <a:lnTo>
                    <a:pt x="8509" y="8795258"/>
                  </a:lnTo>
                  <a:cubicBezTo>
                    <a:pt x="3810" y="8795258"/>
                    <a:pt x="0" y="8791448"/>
                    <a:pt x="0" y="87867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8786749"/>
                  </a:lnTo>
                  <a:lnTo>
                    <a:pt x="8509" y="8786749"/>
                  </a:lnTo>
                  <a:lnTo>
                    <a:pt x="8509" y="8778240"/>
                  </a:lnTo>
                  <a:lnTo>
                    <a:pt x="7323709" y="8778240"/>
                  </a:lnTo>
                  <a:lnTo>
                    <a:pt x="7323709" y="8786749"/>
                  </a:lnTo>
                  <a:lnTo>
                    <a:pt x="7315200" y="8786749"/>
                  </a:lnTo>
                  <a:lnTo>
                    <a:pt x="7315200" y="8509"/>
                  </a:lnTo>
                  <a:lnTo>
                    <a:pt x="7323709" y="8509"/>
                  </a:lnTo>
                  <a:lnTo>
                    <a:pt x="73237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FF6D00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35943" y="2821943"/>
            <a:ext cx="5511803" cy="135131"/>
            <a:chOff x="0" y="0"/>
            <a:chExt cx="7349071" cy="18017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7315200" cy="146304"/>
            </a:xfrm>
            <a:custGeom>
              <a:avLst/>
              <a:gdLst/>
              <a:ahLst/>
              <a:cxnLst/>
              <a:rect r="r" b="b" t="t" l="l"/>
              <a:pathLst>
                <a:path h="146304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46304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FF6D00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348982" cy="180088"/>
            </a:xfrm>
            <a:custGeom>
              <a:avLst/>
              <a:gdLst/>
              <a:ahLst/>
              <a:cxnLst/>
              <a:rect r="r" b="b" t="t" l="l"/>
              <a:pathLst>
                <a:path h="180088" w="7348982">
                  <a:moveTo>
                    <a:pt x="16891" y="0"/>
                  </a:moveTo>
                  <a:lnTo>
                    <a:pt x="7332091" y="0"/>
                  </a:lnTo>
                  <a:cubicBezTo>
                    <a:pt x="7341489" y="0"/>
                    <a:pt x="7348982" y="7620"/>
                    <a:pt x="7348982" y="16891"/>
                  </a:cubicBezTo>
                  <a:lnTo>
                    <a:pt x="7348982" y="163195"/>
                  </a:lnTo>
                  <a:cubicBezTo>
                    <a:pt x="7348982" y="172593"/>
                    <a:pt x="7341362" y="180086"/>
                    <a:pt x="7332091" y="180086"/>
                  </a:cubicBezTo>
                  <a:lnTo>
                    <a:pt x="16891" y="180086"/>
                  </a:lnTo>
                  <a:cubicBezTo>
                    <a:pt x="7620" y="180213"/>
                    <a:pt x="0" y="172593"/>
                    <a:pt x="0" y="16319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3195"/>
                  </a:lnTo>
                  <a:lnTo>
                    <a:pt x="16891" y="163195"/>
                  </a:lnTo>
                  <a:lnTo>
                    <a:pt x="16891" y="146304"/>
                  </a:lnTo>
                  <a:lnTo>
                    <a:pt x="7332091" y="146304"/>
                  </a:lnTo>
                  <a:lnTo>
                    <a:pt x="7332091" y="163195"/>
                  </a:lnTo>
                  <a:lnTo>
                    <a:pt x="7315200" y="163195"/>
                  </a:lnTo>
                  <a:lnTo>
                    <a:pt x="7315200" y="16891"/>
                  </a:lnTo>
                  <a:lnTo>
                    <a:pt x="7332091" y="16891"/>
                  </a:lnTo>
                  <a:lnTo>
                    <a:pt x="7332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FF6D00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22960" y="3108960"/>
            <a:ext cx="4937760" cy="822960"/>
            <a:chOff x="0" y="0"/>
            <a:chExt cx="6583680" cy="10972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5836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910" r="0" b="-6691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658368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40"/>
                </a:lnSpc>
              </a:pPr>
              <a:r>
                <a:rPr lang="en-US" sz="3200" b="true">
                  <a:solidFill>
                    <a:srgbClr val="FF6D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Fine-tuning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4206240"/>
            <a:ext cx="4937760" cy="548640"/>
            <a:chOff x="0" y="0"/>
            <a:chExt cx="6583680" cy="7315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583680" cy="731520"/>
            </a:xfrm>
            <a:custGeom>
              <a:avLst/>
              <a:gdLst/>
              <a:ahLst/>
              <a:cxnLst/>
              <a:rect r="r" b="b" t="t" l="l"/>
              <a:pathLst>
                <a:path h="73152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5365" r="0" b="-125365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658368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 b="true">
                  <a:solidFill>
                    <a:srgbClr val="8899A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Strengths: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822960" y="4846320"/>
            <a:ext cx="4937760" cy="1280160"/>
            <a:chOff x="0" y="0"/>
            <a:chExt cx="6583680" cy="17068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583680" cy="1706880"/>
            </a:xfrm>
            <a:custGeom>
              <a:avLst/>
              <a:gdLst/>
              <a:ahLst/>
              <a:cxnLst/>
              <a:rect r="r" b="b" t="t" l="l"/>
              <a:pathLst>
                <a:path h="170688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156" r="0" b="-25156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6583680" cy="17545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Domain specific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822960" y="6309360"/>
            <a:ext cx="4937760" cy="548640"/>
            <a:chOff x="0" y="0"/>
            <a:chExt cx="6583680" cy="73152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583680" cy="731520"/>
            </a:xfrm>
            <a:custGeom>
              <a:avLst/>
              <a:gdLst/>
              <a:ahLst/>
              <a:cxnLst/>
              <a:rect r="r" b="b" t="t" l="l"/>
              <a:pathLst>
                <a:path h="73152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5365" r="0" b="-125365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658368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 b="true">
                  <a:solidFill>
                    <a:srgbClr val="8899A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Limitations: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822960" y="6949440"/>
            <a:ext cx="4937760" cy="1463040"/>
            <a:chOff x="0" y="0"/>
            <a:chExt cx="6583680" cy="19507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583680" cy="1950720"/>
            </a:xfrm>
            <a:custGeom>
              <a:avLst/>
              <a:gdLst/>
              <a:ahLst/>
              <a:cxnLst/>
              <a:rect r="r" b="b" t="t" l="l"/>
              <a:pathLst>
                <a:path h="195072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762" r="0" b="-15761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6583680" cy="1998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Expensive, slow, needs retraining for updates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6394447" y="2828287"/>
            <a:ext cx="5499097" cy="6596377"/>
            <a:chOff x="0" y="0"/>
            <a:chExt cx="7332129" cy="879516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8509" y="8509"/>
              <a:ext cx="7315200" cy="8778240"/>
            </a:xfrm>
            <a:custGeom>
              <a:avLst/>
              <a:gdLst/>
              <a:ahLst/>
              <a:cxnLst/>
              <a:rect r="r" b="b" t="t" l="l"/>
              <a:pathLst>
                <a:path h="877824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8778240"/>
                  </a:lnTo>
                  <a:lnTo>
                    <a:pt x="0" y="877824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332218" cy="8795258"/>
            </a:xfrm>
            <a:custGeom>
              <a:avLst/>
              <a:gdLst/>
              <a:ahLst/>
              <a:cxnLst/>
              <a:rect r="r" b="b" t="t" l="l"/>
              <a:pathLst>
                <a:path h="8795258" w="7332218">
                  <a:moveTo>
                    <a:pt x="8509" y="0"/>
                  </a:moveTo>
                  <a:lnTo>
                    <a:pt x="7323709" y="0"/>
                  </a:lnTo>
                  <a:cubicBezTo>
                    <a:pt x="7328408" y="0"/>
                    <a:pt x="7332218" y="3810"/>
                    <a:pt x="7332218" y="8509"/>
                  </a:cubicBezTo>
                  <a:lnTo>
                    <a:pt x="7332218" y="8786749"/>
                  </a:lnTo>
                  <a:cubicBezTo>
                    <a:pt x="7332218" y="8791448"/>
                    <a:pt x="7328408" y="8795258"/>
                    <a:pt x="7323709" y="8795258"/>
                  </a:cubicBezTo>
                  <a:lnTo>
                    <a:pt x="8509" y="8795258"/>
                  </a:lnTo>
                  <a:cubicBezTo>
                    <a:pt x="3810" y="8795258"/>
                    <a:pt x="0" y="8791448"/>
                    <a:pt x="0" y="87867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8786749"/>
                  </a:lnTo>
                  <a:lnTo>
                    <a:pt x="8509" y="8786749"/>
                  </a:lnTo>
                  <a:lnTo>
                    <a:pt x="8509" y="8778240"/>
                  </a:lnTo>
                  <a:lnTo>
                    <a:pt x="7323709" y="8778240"/>
                  </a:lnTo>
                  <a:lnTo>
                    <a:pt x="7323709" y="8786749"/>
                  </a:lnTo>
                  <a:lnTo>
                    <a:pt x="7315200" y="8786749"/>
                  </a:lnTo>
                  <a:lnTo>
                    <a:pt x="7315200" y="8509"/>
                  </a:lnTo>
                  <a:lnTo>
                    <a:pt x="7323709" y="8509"/>
                  </a:lnTo>
                  <a:lnTo>
                    <a:pt x="73237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FF1744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6388103" y="2821943"/>
            <a:ext cx="5511803" cy="135131"/>
            <a:chOff x="0" y="0"/>
            <a:chExt cx="7349071" cy="180175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6891" y="16891"/>
              <a:ext cx="7315200" cy="146304"/>
            </a:xfrm>
            <a:custGeom>
              <a:avLst/>
              <a:gdLst/>
              <a:ahLst/>
              <a:cxnLst/>
              <a:rect r="r" b="b" t="t" l="l"/>
              <a:pathLst>
                <a:path h="146304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46304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FF1744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348982" cy="180088"/>
            </a:xfrm>
            <a:custGeom>
              <a:avLst/>
              <a:gdLst/>
              <a:ahLst/>
              <a:cxnLst/>
              <a:rect r="r" b="b" t="t" l="l"/>
              <a:pathLst>
                <a:path h="180088" w="7348982">
                  <a:moveTo>
                    <a:pt x="16891" y="0"/>
                  </a:moveTo>
                  <a:lnTo>
                    <a:pt x="7332091" y="0"/>
                  </a:lnTo>
                  <a:cubicBezTo>
                    <a:pt x="7341489" y="0"/>
                    <a:pt x="7348982" y="7620"/>
                    <a:pt x="7348982" y="16891"/>
                  </a:cubicBezTo>
                  <a:lnTo>
                    <a:pt x="7348982" y="163195"/>
                  </a:lnTo>
                  <a:cubicBezTo>
                    <a:pt x="7348982" y="172593"/>
                    <a:pt x="7341362" y="180086"/>
                    <a:pt x="7332091" y="180086"/>
                  </a:cubicBezTo>
                  <a:lnTo>
                    <a:pt x="16891" y="180086"/>
                  </a:lnTo>
                  <a:cubicBezTo>
                    <a:pt x="7620" y="180213"/>
                    <a:pt x="0" y="172593"/>
                    <a:pt x="0" y="16319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3195"/>
                  </a:lnTo>
                  <a:lnTo>
                    <a:pt x="16891" y="163195"/>
                  </a:lnTo>
                  <a:lnTo>
                    <a:pt x="16891" y="146304"/>
                  </a:lnTo>
                  <a:lnTo>
                    <a:pt x="7332091" y="146304"/>
                  </a:lnTo>
                  <a:lnTo>
                    <a:pt x="7332091" y="163195"/>
                  </a:lnTo>
                  <a:lnTo>
                    <a:pt x="7315200" y="163195"/>
                  </a:lnTo>
                  <a:lnTo>
                    <a:pt x="7315200" y="16891"/>
                  </a:lnTo>
                  <a:lnTo>
                    <a:pt x="7332091" y="16891"/>
                  </a:lnTo>
                  <a:lnTo>
                    <a:pt x="7332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FF1744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6675120" y="3108960"/>
            <a:ext cx="4937760" cy="822960"/>
            <a:chOff x="0" y="0"/>
            <a:chExt cx="6583680" cy="10972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5836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910" r="0" b="-6691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57150"/>
              <a:ext cx="658368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40"/>
                </a:lnSpc>
              </a:pPr>
              <a:r>
                <a:rPr lang="en-US" sz="3200" b="true">
                  <a:solidFill>
                    <a:srgbClr val="FF174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Prompt Engineering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6675120" y="4206240"/>
            <a:ext cx="4937760" cy="548640"/>
            <a:chOff x="0" y="0"/>
            <a:chExt cx="6583680" cy="7315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6583680" cy="731520"/>
            </a:xfrm>
            <a:custGeom>
              <a:avLst/>
              <a:gdLst/>
              <a:ahLst/>
              <a:cxnLst/>
              <a:rect r="r" b="b" t="t" l="l"/>
              <a:pathLst>
                <a:path h="73152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5365" r="0" b="-12536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658368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 b="true">
                  <a:solidFill>
                    <a:srgbClr val="8899A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Strengths: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675120" y="4846320"/>
            <a:ext cx="4937760" cy="1280160"/>
            <a:chOff x="0" y="0"/>
            <a:chExt cx="6583680" cy="17068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583680" cy="1706880"/>
            </a:xfrm>
            <a:custGeom>
              <a:avLst/>
              <a:gdLst/>
              <a:ahLst/>
              <a:cxnLst/>
              <a:rect r="r" b="b" t="t" l="l"/>
              <a:pathLst>
                <a:path h="170688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156" r="0" b="-25156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6583680" cy="17545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Simple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6675120" y="6309360"/>
            <a:ext cx="4937760" cy="548640"/>
            <a:chOff x="0" y="0"/>
            <a:chExt cx="6583680" cy="7315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583680" cy="731520"/>
            </a:xfrm>
            <a:custGeom>
              <a:avLst/>
              <a:gdLst/>
              <a:ahLst/>
              <a:cxnLst/>
              <a:rect r="r" b="b" t="t" l="l"/>
              <a:pathLst>
                <a:path h="73152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5365" r="0" b="-12536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47625"/>
              <a:ext cx="658368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 b="true">
                  <a:solidFill>
                    <a:srgbClr val="8899A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Limitations: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6675120" y="6949440"/>
            <a:ext cx="4937760" cy="1463040"/>
            <a:chOff x="0" y="0"/>
            <a:chExt cx="6583680" cy="195072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583680" cy="1950720"/>
            </a:xfrm>
            <a:custGeom>
              <a:avLst/>
              <a:gdLst/>
              <a:ahLst/>
              <a:cxnLst/>
              <a:rect r="r" b="b" t="t" l="l"/>
              <a:pathLst>
                <a:path h="195072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762" r="0" b="-15761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47625"/>
              <a:ext cx="6583680" cy="1998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Limited context, hallucinations, no knowledge base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2227557" y="2809237"/>
            <a:ext cx="5537197" cy="6634477"/>
            <a:chOff x="0" y="0"/>
            <a:chExt cx="7382929" cy="8845969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33909" y="33909"/>
              <a:ext cx="7315200" cy="8778240"/>
            </a:xfrm>
            <a:custGeom>
              <a:avLst/>
              <a:gdLst/>
              <a:ahLst/>
              <a:cxnLst/>
              <a:rect r="r" b="b" t="t" l="l"/>
              <a:pathLst>
                <a:path h="877824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8778240"/>
                  </a:lnTo>
                  <a:lnTo>
                    <a:pt x="0" y="8778240"/>
                  </a:lnTo>
                  <a:close/>
                </a:path>
              </a:pathLst>
            </a:custGeom>
            <a:solidFill>
              <a:srgbClr val="0A2E1A"/>
            </a:solidFill>
          </p:spPr>
        </p:sp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383018" cy="8846058"/>
            </a:xfrm>
            <a:custGeom>
              <a:avLst/>
              <a:gdLst/>
              <a:ahLst/>
              <a:cxnLst/>
              <a:rect r="r" b="b" t="t" l="l"/>
              <a:pathLst>
                <a:path h="8846058" w="7383018">
                  <a:moveTo>
                    <a:pt x="33909" y="0"/>
                  </a:moveTo>
                  <a:lnTo>
                    <a:pt x="7349109" y="0"/>
                  </a:lnTo>
                  <a:cubicBezTo>
                    <a:pt x="7367778" y="0"/>
                    <a:pt x="7383018" y="15113"/>
                    <a:pt x="7383018" y="33909"/>
                  </a:cubicBezTo>
                  <a:lnTo>
                    <a:pt x="7383018" y="8812149"/>
                  </a:lnTo>
                  <a:cubicBezTo>
                    <a:pt x="7383018" y="8830818"/>
                    <a:pt x="7367905" y="8846058"/>
                    <a:pt x="7349109" y="8846058"/>
                  </a:cubicBezTo>
                  <a:lnTo>
                    <a:pt x="33909" y="8846058"/>
                  </a:lnTo>
                  <a:cubicBezTo>
                    <a:pt x="15240" y="8846058"/>
                    <a:pt x="0" y="8830945"/>
                    <a:pt x="0" y="8812149"/>
                  </a:cubicBezTo>
                  <a:lnTo>
                    <a:pt x="0" y="33909"/>
                  </a:lnTo>
                  <a:cubicBezTo>
                    <a:pt x="0" y="15113"/>
                    <a:pt x="15113" y="0"/>
                    <a:pt x="33909" y="0"/>
                  </a:cubicBezTo>
                  <a:moveTo>
                    <a:pt x="33909" y="67691"/>
                  </a:moveTo>
                  <a:lnTo>
                    <a:pt x="33909" y="33909"/>
                  </a:lnTo>
                  <a:lnTo>
                    <a:pt x="67691" y="33909"/>
                  </a:lnTo>
                  <a:lnTo>
                    <a:pt x="67691" y="8812149"/>
                  </a:lnTo>
                  <a:lnTo>
                    <a:pt x="33909" y="8812149"/>
                  </a:lnTo>
                  <a:lnTo>
                    <a:pt x="33909" y="8778240"/>
                  </a:lnTo>
                  <a:lnTo>
                    <a:pt x="7349109" y="8778240"/>
                  </a:lnTo>
                  <a:lnTo>
                    <a:pt x="7349109" y="8812149"/>
                  </a:lnTo>
                  <a:lnTo>
                    <a:pt x="7315200" y="8812149"/>
                  </a:lnTo>
                  <a:lnTo>
                    <a:pt x="7315200" y="33909"/>
                  </a:lnTo>
                  <a:lnTo>
                    <a:pt x="7349109" y="33909"/>
                  </a:lnTo>
                  <a:lnTo>
                    <a:pt x="7349109" y="67691"/>
                  </a:lnTo>
                  <a:lnTo>
                    <a:pt x="33909" y="67691"/>
                  </a:lnTo>
                  <a:close/>
                </a:path>
              </a:pathLst>
            </a:custGeom>
            <a:solidFill>
              <a:srgbClr val="00C853"/>
            </a:solid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2240263" y="2821943"/>
            <a:ext cx="5511803" cy="135131"/>
            <a:chOff x="0" y="0"/>
            <a:chExt cx="7349071" cy="180175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16891" y="16891"/>
              <a:ext cx="7315200" cy="146304"/>
            </a:xfrm>
            <a:custGeom>
              <a:avLst/>
              <a:gdLst/>
              <a:ahLst/>
              <a:cxnLst/>
              <a:rect r="r" b="b" t="t" l="l"/>
              <a:pathLst>
                <a:path h="146304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46304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00C853"/>
            </a:solidFill>
          </p:spPr>
        </p:sp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348982" cy="180088"/>
            </a:xfrm>
            <a:custGeom>
              <a:avLst/>
              <a:gdLst/>
              <a:ahLst/>
              <a:cxnLst/>
              <a:rect r="r" b="b" t="t" l="l"/>
              <a:pathLst>
                <a:path h="180088" w="7348982">
                  <a:moveTo>
                    <a:pt x="16891" y="0"/>
                  </a:moveTo>
                  <a:lnTo>
                    <a:pt x="7332091" y="0"/>
                  </a:lnTo>
                  <a:cubicBezTo>
                    <a:pt x="7341489" y="0"/>
                    <a:pt x="7348982" y="7620"/>
                    <a:pt x="7348982" y="16891"/>
                  </a:cubicBezTo>
                  <a:lnTo>
                    <a:pt x="7348982" y="163195"/>
                  </a:lnTo>
                  <a:cubicBezTo>
                    <a:pt x="7348982" y="172593"/>
                    <a:pt x="7341362" y="180086"/>
                    <a:pt x="7332091" y="180086"/>
                  </a:cubicBezTo>
                  <a:lnTo>
                    <a:pt x="16891" y="180086"/>
                  </a:lnTo>
                  <a:cubicBezTo>
                    <a:pt x="7620" y="180213"/>
                    <a:pt x="0" y="172593"/>
                    <a:pt x="0" y="16319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3195"/>
                  </a:lnTo>
                  <a:lnTo>
                    <a:pt x="16891" y="163195"/>
                  </a:lnTo>
                  <a:lnTo>
                    <a:pt x="16891" y="146304"/>
                  </a:lnTo>
                  <a:lnTo>
                    <a:pt x="7332091" y="146304"/>
                  </a:lnTo>
                  <a:lnTo>
                    <a:pt x="7332091" y="163195"/>
                  </a:lnTo>
                  <a:lnTo>
                    <a:pt x="7315200" y="163195"/>
                  </a:lnTo>
                  <a:lnTo>
                    <a:pt x="7315200" y="16891"/>
                  </a:lnTo>
                  <a:lnTo>
                    <a:pt x="7332091" y="16891"/>
                  </a:lnTo>
                  <a:lnTo>
                    <a:pt x="7332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C853"/>
            </a:solid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12527280" y="3108960"/>
            <a:ext cx="4937760" cy="822960"/>
            <a:chOff x="0" y="0"/>
            <a:chExt cx="6583680" cy="109728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65836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910" r="0" b="-6691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57150"/>
              <a:ext cx="658368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40"/>
                </a:lnSpc>
              </a:pPr>
              <a:r>
                <a:rPr lang="en-US" sz="3200" b="true">
                  <a:solidFill>
                    <a:srgbClr val="00C85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RAG 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2527280" y="4206240"/>
            <a:ext cx="4937760" cy="548640"/>
            <a:chOff x="0" y="0"/>
            <a:chExt cx="6583680" cy="73152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6583680" cy="731520"/>
            </a:xfrm>
            <a:custGeom>
              <a:avLst/>
              <a:gdLst/>
              <a:ahLst/>
              <a:cxnLst/>
              <a:rect r="r" b="b" t="t" l="l"/>
              <a:pathLst>
                <a:path h="73152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5365" r="0" b="-125365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47625"/>
              <a:ext cx="658368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 b="true">
                  <a:solidFill>
                    <a:srgbClr val="8899A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Strengths: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2527280" y="4846320"/>
            <a:ext cx="4937760" cy="1280160"/>
            <a:chOff x="0" y="0"/>
            <a:chExt cx="6583680" cy="170688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6583680" cy="1706880"/>
            </a:xfrm>
            <a:custGeom>
              <a:avLst/>
              <a:gdLst/>
              <a:ahLst/>
              <a:cxnLst/>
              <a:rect r="r" b="b" t="t" l="l"/>
              <a:pathLst>
                <a:path h="170688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156" r="0" b="-25156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47625"/>
              <a:ext cx="6583680" cy="17545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Retrieves exact knowledge, no hallucinations, easy to update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12527280" y="6309360"/>
            <a:ext cx="4937760" cy="548640"/>
            <a:chOff x="0" y="0"/>
            <a:chExt cx="6583680" cy="73152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6583680" cy="731520"/>
            </a:xfrm>
            <a:custGeom>
              <a:avLst/>
              <a:gdLst/>
              <a:ahLst/>
              <a:cxnLst/>
              <a:rect r="r" b="b" t="t" l="l"/>
              <a:pathLst>
                <a:path h="73152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5365" r="0" b="-125365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47625"/>
              <a:ext cx="658368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 b="true">
                  <a:solidFill>
                    <a:srgbClr val="8899A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Limitations: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2527280" y="6949440"/>
            <a:ext cx="4937760" cy="1463040"/>
            <a:chOff x="0" y="0"/>
            <a:chExt cx="6583680" cy="195072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583680" cy="1950720"/>
            </a:xfrm>
            <a:custGeom>
              <a:avLst/>
              <a:gdLst/>
              <a:ahLst/>
              <a:cxnLst/>
              <a:rect r="r" b="b" t="t" l="l"/>
              <a:pathLst>
                <a:path h="195072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762" r="0" b="-15761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47625"/>
              <a:ext cx="6583680" cy="1998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Slightly more complex setup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2527280" y="8778240"/>
            <a:ext cx="4937760" cy="457200"/>
            <a:chOff x="0" y="0"/>
            <a:chExt cx="6583680" cy="60960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6583680" cy="609600"/>
            </a:xfrm>
            <a:custGeom>
              <a:avLst/>
              <a:gdLst/>
              <a:ahLst/>
              <a:cxnLst/>
              <a:rect r="r" b="b" t="t" l="l"/>
              <a:pathLst>
                <a:path h="60960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0438" r="0" b="-160438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38100"/>
              <a:ext cx="658368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400">
                  <a:solidFill>
                    <a:srgbClr val="00C85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RECOMMENDED</a:t>
              </a:r>
            </a:p>
          </p:txBody>
        </p:sp>
      </p:grpSp>
      <p:sp>
        <p:nvSpPr>
          <p:cNvPr name="TextBox 77" id="77"/>
          <p:cNvSpPr txBox="true"/>
          <p:nvPr/>
        </p:nvSpPr>
        <p:spPr>
          <a:xfrm rot="0">
            <a:off x="17388207" y="9548489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Page 4</a:t>
            </a:r>
          </a:p>
        </p:txBody>
      </p:sp>
    </p:spTree>
  </p:cSld>
  <p:clrMapOvr>
    <a:masterClrMapping/>
  </p:clrMapOvr>
  <p:transition spd="slow">
    <p:push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84A9FF">
                <a:alpha val="100000"/>
              </a:srgbClr>
            </a:gs>
            <a:gs pos="50000">
              <a:srgbClr val="F5F8FF">
                <a:alpha val="100000"/>
              </a:srgbClr>
            </a:gs>
            <a:gs pos="100000">
              <a:srgbClr val="5387F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244859" cy="10312403"/>
            <a:chOff x="0" y="0"/>
            <a:chExt cx="326479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292608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292608">
                  <a:moveTo>
                    <a:pt x="0" y="0"/>
                  </a:moveTo>
                  <a:lnTo>
                    <a:pt x="292608" y="0"/>
                  </a:lnTo>
                  <a:lnTo>
                    <a:pt x="292608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26390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326390">
                  <a:moveTo>
                    <a:pt x="16891" y="0"/>
                  </a:moveTo>
                  <a:lnTo>
                    <a:pt x="309499" y="0"/>
                  </a:lnTo>
                  <a:cubicBezTo>
                    <a:pt x="318897" y="0"/>
                    <a:pt x="326390" y="7620"/>
                    <a:pt x="326390" y="16891"/>
                  </a:cubicBezTo>
                  <a:lnTo>
                    <a:pt x="326390" y="13732890"/>
                  </a:lnTo>
                  <a:cubicBezTo>
                    <a:pt x="326390" y="13742290"/>
                    <a:pt x="318770" y="13749782"/>
                    <a:pt x="309499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309499" y="13716000"/>
                  </a:lnTo>
                  <a:lnTo>
                    <a:pt x="309499" y="13732890"/>
                  </a:lnTo>
                  <a:lnTo>
                    <a:pt x="292608" y="13732890"/>
                  </a:lnTo>
                  <a:lnTo>
                    <a:pt x="292608" y="16891"/>
                  </a:lnTo>
                  <a:lnTo>
                    <a:pt x="309499" y="16891"/>
                  </a:lnTo>
                  <a:lnTo>
                    <a:pt x="309499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548640" y="548640"/>
            <a:ext cx="16459200" cy="731520"/>
            <a:chOff x="0" y="0"/>
            <a:chExt cx="21945600" cy="975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975360"/>
            </a:xfrm>
            <a:custGeom>
              <a:avLst/>
              <a:gdLst/>
              <a:ahLst/>
              <a:cxnLst/>
              <a:rect r="r" b="b" t="t" l="l"/>
              <a:pathLst>
                <a:path h="975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1945600" cy="1022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600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ARCHITECTURE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48640" y="1371600"/>
            <a:ext cx="16459200" cy="1287066"/>
            <a:chOff x="0" y="0"/>
            <a:chExt cx="21945600" cy="171608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716088"/>
            </a:xfrm>
            <a:custGeom>
              <a:avLst/>
              <a:gdLst/>
              <a:ahLst/>
              <a:cxnLst/>
              <a:rect r="r" b="b" t="t" l="l"/>
              <a:pathLst>
                <a:path h="1716088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16088"/>
                  </a:lnTo>
                  <a:lnTo>
                    <a:pt x="0" y="17160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655" r="0" b="-1847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23825"/>
              <a:ext cx="21945600" cy="18399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80"/>
                </a:lnSpc>
              </a:pPr>
              <a:r>
                <a:rPr lang="en-US" sz="6400" b="true">
                  <a:solidFill>
                    <a:srgbClr val="1A305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RAG Pipeline Overview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444503" y="2639063"/>
            <a:ext cx="3042923" cy="2402843"/>
            <a:chOff x="0" y="0"/>
            <a:chExt cx="4057231" cy="320379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16891" y="16891"/>
              <a:ext cx="4023360" cy="3169920"/>
            </a:xfrm>
            <a:custGeom>
              <a:avLst/>
              <a:gdLst/>
              <a:ahLst/>
              <a:cxnLst/>
              <a:rect r="r" b="b" t="t" l="l"/>
              <a:pathLst>
                <a:path h="316992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3169920"/>
                  </a:lnTo>
                  <a:lnTo>
                    <a:pt x="0" y="316992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057142" cy="3203702"/>
            </a:xfrm>
            <a:custGeom>
              <a:avLst/>
              <a:gdLst/>
              <a:ahLst/>
              <a:cxnLst/>
              <a:rect r="r" b="b" t="t" l="l"/>
              <a:pathLst>
                <a:path h="3203702" w="4057142">
                  <a:moveTo>
                    <a:pt x="16891" y="0"/>
                  </a:moveTo>
                  <a:lnTo>
                    <a:pt x="4040251" y="0"/>
                  </a:lnTo>
                  <a:cubicBezTo>
                    <a:pt x="4049649" y="0"/>
                    <a:pt x="4057142" y="7620"/>
                    <a:pt x="4057142" y="16891"/>
                  </a:cubicBezTo>
                  <a:lnTo>
                    <a:pt x="4057142" y="3186811"/>
                  </a:lnTo>
                  <a:cubicBezTo>
                    <a:pt x="4057142" y="3196209"/>
                    <a:pt x="4049522" y="3203702"/>
                    <a:pt x="4040251" y="3203702"/>
                  </a:cubicBezTo>
                  <a:lnTo>
                    <a:pt x="16891" y="3203702"/>
                  </a:lnTo>
                  <a:cubicBezTo>
                    <a:pt x="7493" y="3203702"/>
                    <a:pt x="0" y="3196082"/>
                    <a:pt x="0" y="318681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186811"/>
                  </a:lnTo>
                  <a:lnTo>
                    <a:pt x="16891" y="3186811"/>
                  </a:lnTo>
                  <a:lnTo>
                    <a:pt x="16891" y="3169920"/>
                  </a:lnTo>
                  <a:lnTo>
                    <a:pt x="4040251" y="3169920"/>
                  </a:lnTo>
                  <a:lnTo>
                    <a:pt x="4040251" y="3186811"/>
                  </a:lnTo>
                  <a:lnTo>
                    <a:pt x="4023360" y="3186811"/>
                  </a:lnTo>
                  <a:lnTo>
                    <a:pt x="4023360" y="16891"/>
                  </a:lnTo>
                  <a:lnTo>
                    <a:pt x="4040251" y="16891"/>
                  </a:lnTo>
                  <a:lnTo>
                    <a:pt x="40402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444503" y="2639063"/>
            <a:ext cx="3042923" cy="135131"/>
            <a:chOff x="0" y="0"/>
            <a:chExt cx="4057231" cy="18017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4023360" cy="146304"/>
            </a:xfrm>
            <a:custGeom>
              <a:avLst/>
              <a:gdLst/>
              <a:ahLst/>
              <a:cxnLst/>
              <a:rect r="r" b="b" t="t" l="l"/>
              <a:pathLst>
                <a:path h="146304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46304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057142" cy="180088"/>
            </a:xfrm>
            <a:custGeom>
              <a:avLst/>
              <a:gdLst/>
              <a:ahLst/>
              <a:cxnLst/>
              <a:rect r="r" b="b" t="t" l="l"/>
              <a:pathLst>
                <a:path h="180088" w="4057142">
                  <a:moveTo>
                    <a:pt x="16891" y="0"/>
                  </a:moveTo>
                  <a:lnTo>
                    <a:pt x="4040251" y="0"/>
                  </a:lnTo>
                  <a:cubicBezTo>
                    <a:pt x="4049649" y="0"/>
                    <a:pt x="4057142" y="7620"/>
                    <a:pt x="4057142" y="16891"/>
                  </a:cubicBezTo>
                  <a:lnTo>
                    <a:pt x="4057142" y="163195"/>
                  </a:lnTo>
                  <a:cubicBezTo>
                    <a:pt x="4057142" y="172593"/>
                    <a:pt x="4049522" y="180086"/>
                    <a:pt x="4040251" y="180086"/>
                  </a:cubicBezTo>
                  <a:lnTo>
                    <a:pt x="16891" y="180086"/>
                  </a:lnTo>
                  <a:cubicBezTo>
                    <a:pt x="7620" y="180213"/>
                    <a:pt x="0" y="172593"/>
                    <a:pt x="0" y="16319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3195"/>
                  </a:lnTo>
                  <a:lnTo>
                    <a:pt x="16891" y="163195"/>
                  </a:lnTo>
                  <a:lnTo>
                    <a:pt x="16891" y="146304"/>
                  </a:lnTo>
                  <a:lnTo>
                    <a:pt x="4040251" y="146304"/>
                  </a:lnTo>
                  <a:lnTo>
                    <a:pt x="4040251" y="163195"/>
                  </a:lnTo>
                  <a:lnTo>
                    <a:pt x="4023360" y="163195"/>
                  </a:lnTo>
                  <a:lnTo>
                    <a:pt x="4023360" y="16891"/>
                  </a:lnTo>
                  <a:lnTo>
                    <a:pt x="4040251" y="16891"/>
                  </a:lnTo>
                  <a:lnTo>
                    <a:pt x="40402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457200" y="2926080"/>
            <a:ext cx="3017520" cy="1188720"/>
            <a:chOff x="0" y="0"/>
            <a:chExt cx="4023360" cy="15849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023360" cy="1584960"/>
            </a:xfrm>
            <a:custGeom>
              <a:avLst/>
              <a:gdLst/>
              <a:ahLst/>
              <a:cxnLst/>
              <a:rect r="r" b="b" t="t" l="l"/>
              <a:pathLst>
                <a:path h="158496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43" t="0" r="-543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4023360" cy="16230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Query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457200" y="4297680"/>
            <a:ext cx="3017520" cy="548640"/>
            <a:chOff x="0" y="0"/>
            <a:chExt cx="4023360" cy="7315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023360" cy="731520"/>
            </a:xfrm>
            <a:custGeom>
              <a:avLst/>
              <a:gdLst/>
              <a:ahLst/>
              <a:cxnLst/>
              <a:rect r="r" b="b" t="t" l="l"/>
              <a:pathLst>
                <a:path h="73152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167" r="0" b="-57167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02336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Streamlit UI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449317" y="3815077"/>
            <a:ext cx="507997" cy="50797"/>
            <a:chOff x="0" y="0"/>
            <a:chExt cx="677329" cy="6772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33909" y="0"/>
              <a:ext cx="609600" cy="67691"/>
            </a:xfrm>
            <a:custGeom>
              <a:avLst/>
              <a:gdLst/>
              <a:ahLst/>
              <a:cxnLst/>
              <a:rect r="r" b="b" t="t" l="l"/>
              <a:pathLst>
                <a:path h="67691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7691"/>
                  </a:lnTo>
                  <a:lnTo>
                    <a:pt x="0" y="67691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3712464" y="3621024"/>
            <a:ext cx="365760" cy="457200"/>
            <a:chOff x="0" y="0"/>
            <a:chExt cx="487680" cy="609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87680" cy="609600"/>
            </a:xfrm>
            <a:custGeom>
              <a:avLst/>
              <a:gdLst/>
              <a:ahLst/>
              <a:cxnLst/>
              <a:rect r="r" b="b" t="t" l="l"/>
              <a:pathLst>
                <a:path h="609600" w="487680">
                  <a:moveTo>
                    <a:pt x="0" y="0"/>
                  </a:moveTo>
                  <a:lnTo>
                    <a:pt x="487680" y="0"/>
                  </a:lnTo>
                  <a:lnTo>
                    <a:pt x="48768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79" t="0" r="-110379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48768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0066B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▶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3919223" y="2639063"/>
            <a:ext cx="3042923" cy="2402843"/>
            <a:chOff x="0" y="0"/>
            <a:chExt cx="4057231" cy="3203791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16891" y="16891"/>
              <a:ext cx="4023360" cy="3169920"/>
            </a:xfrm>
            <a:custGeom>
              <a:avLst/>
              <a:gdLst/>
              <a:ahLst/>
              <a:cxnLst/>
              <a:rect r="r" b="b" t="t" l="l"/>
              <a:pathLst>
                <a:path h="316992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3169920"/>
                  </a:lnTo>
                  <a:lnTo>
                    <a:pt x="0" y="316992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057142" cy="3203702"/>
            </a:xfrm>
            <a:custGeom>
              <a:avLst/>
              <a:gdLst/>
              <a:ahLst/>
              <a:cxnLst/>
              <a:rect r="r" b="b" t="t" l="l"/>
              <a:pathLst>
                <a:path h="3203702" w="4057142">
                  <a:moveTo>
                    <a:pt x="16891" y="0"/>
                  </a:moveTo>
                  <a:lnTo>
                    <a:pt x="4040251" y="0"/>
                  </a:lnTo>
                  <a:cubicBezTo>
                    <a:pt x="4049649" y="0"/>
                    <a:pt x="4057142" y="7620"/>
                    <a:pt x="4057142" y="16891"/>
                  </a:cubicBezTo>
                  <a:lnTo>
                    <a:pt x="4057142" y="3186811"/>
                  </a:lnTo>
                  <a:cubicBezTo>
                    <a:pt x="4057142" y="3196209"/>
                    <a:pt x="4049522" y="3203702"/>
                    <a:pt x="4040251" y="3203702"/>
                  </a:cubicBezTo>
                  <a:lnTo>
                    <a:pt x="16891" y="3203702"/>
                  </a:lnTo>
                  <a:cubicBezTo>
                    <a:pt x="7493" y="3203702"/>
                    <a:pt x="0" y="3196082"/>
                    <a:pt x="0" y="318681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186811"/>
                  </a:lnTo>
                  <a:lnTo>
                    <a:pt x="16891" y="3186811"/>
                  </a:lnTo>
                  <a:lnTo>
                    <a:pt x="16891" y="3169920"/>
                  </a:lnTo>
                  <a:lnTo>
                    <a:pt x="4040251" y="3169920"/>
                  </a:lnTo>
                  <a:lnTo>
                    <a:pt x="4040251" y="3186811"/>
                  </a:lnTo>
                  <a:lnTo>
                    <a:pt x="4023360" y="3186811"/>
                  </a:lnTo>
                  <a:lnTo>
                    <a:pt x="4023360" y="16891"/>
                  </a:lnTo>
                  <a:lnTo>
                    <a:pt x="4040251" y="16891"/>
                  </a:lnTo>
                  <a:lnTo>
                    <a:pt x="40402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3919223" y="2639063"/>
            <a:ext cx="3042923" cy="135131"/>
            <a:chOff x="0" y="0"/>
            <a:chExt cx="4057231" cy="18017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16891" y="16891"/>
              <a:ext cx="4023360" cy="146304"/>
            </a:xfrm>
            <a:custGeom>
              <a:avLst/>
              <a:gdLst/>
              <a:ahLst/>
              <a:cxnLst/>
              <a:rect r="r" b="b" t="t" l="l"/>
              <a:pathLst>
                <a:path h="146304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46304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057142" cy="180088"/>
            </a:xfrm>
            <a:custGeom>
              <a:avLst/>
              <a:gdLst/>
              <a:ahLst/>
              <a:cxnLst/>
              <a:rect r="r" b="b" t="t" l="l"/>
              <a:pathLst>
                <a:path h="180088" w="4057142">
                  <a:moveTo>
                    <a:pt x="16891" y="0"/>
                  </a:moveTo>
                  <a:lnTo>
                    <a:pt x="4040251" y="0"/>
                  </a:lnTo>
                  <a:cubicBezTo>
                    <a:pt x="4049649" y="0"/>
                    <a:pt x="4057142" y="7620"/>
                    <a:pt x="4057142" y="16891"/>
                  </a:cubicBezTo>
                  <a:lnTo>
                    <a:pt x="4057142" y="163195"/>
                  </a:lnTo>
                  <a:cubicBezTo>
                    <a:pt x="4057142" y="172593"/>
                    <a:pt x="4049522" y="180086"/>
                    <a:pt x="4040251" y="180086"/>
                  </a:cubicBezTo>
                  <a:lnTo>
                    <a:pt x="16891" y="180086"/>
                  </a:lnTo>
                  <a:cubicBezTo>
                    <a:pt x="7620" y="180213"/>
                    <a:pt x="0" y="172593"/>
                    <a:pt x="0" y="16319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3195"/>
                  </a:lnTo>
                  <a:lnTo>
                    <a:pt x="16891" y="163195"/>
                  </a:lnTo>
                  <a:lnTo>
                    <a:pt x="16891" y="146304"/>
                  </a:lnTo>
                  <a:lnTo>
                    <a:pt x="4040251" y="146304"/>
                  </a:lnTo>
                  <a:lnTo>
                    <a:pt x="4040251" y="163195"/>
                  </a:lnTo>
                  <a:lnTo>
                    <a:pt x="4023360" y="163195"/>
                  </a:lnTo>
                  <a:lnTo>
                    <a:pt x="4023360" y="16891"/>
                  </a:lnTo>
                  <a:lnTo>
                    <a:pt x="4040251" y="16891"/>
                  </a:lnTo>
                  <a:lnTo>
                    <a:pt x="40402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3931920" y="2926080"/>
            <a:ext cx="3017520" cy="1188720"/>
            <a:chOff x="0" y="0"/>
            <a:chExt cx="4023360" cy="158496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023360" cy="1584960"/>
            </a:xfrm>
            <a:custGeom>
              <a:avLst/>
              <a:gdLst/>
              <a:ahLst/>
              <a:cxnLst/>
              <a:rect r="r" b="b" t="t" l="l"/>
              <a:pathLst>
                <a:path h="158496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43" t="0" r="-543" b="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4023360" cy="16230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LangGraph</a:t>
              </a:r>
            </a:p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Retrieve Node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3931920" y="4297680"/>
            <a:ext cx="3017520" cy="548640"/>
            <a:chOff x="0" y="0"/>
            <a:chExt cx="4023360" cy="7315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023360" cy="731520"/>
            </a:xfrm>
            <a:custGeom>
              <a:avLst/>
              <a:gdLst/>
              <a:ahLst/>
              <a:cxnLst/>
              <a:rect r="r" b="b" t="t" l="l"/>
              <a:pathLst>
                <a:path h="73152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167" r="0" b="-57167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402336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Stateful graph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6924037" y="3815077"/>
            <a:ext cx="507997" cy="50797"/>
            <a:chOff x="0" y="0"/>
            <a:chExt cx="677329" cy="67729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33909" y="0"/>
              <a:ext cx="609600" cy="67691"/>
            </a:xfrm>
            <a:custGeom>
              <a:avLst/>
              <a:gdLst/>
              <a:ahLst/>
              <a:cxnLst/>
              <a:rect r="r" b="b" t="t" l="l"/>
              <a:pathLst>
                <a:path h="67691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7691"/>
                  </a:lnTo>
                  <a:lnTo>
                    <a:pt x="0" y="67691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7187184" y="3621024"/>
            <a:ext cx="365760" cy="457200"/>
            <a:chOff x="0" y="0"/>
            <a:chExt cx="487680" cy="6096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87680" cy="609600"/>
            </a:xfrm>
            <a:custGeom>
              <a:avLst/>
              <a:gdLst/>
              <a:ahLst/>
              <a:cxnLst/>
              <a:rect r="r" b="b" t="t" l="l"/>
              <a:pathLst>
                <a:path h="609600" w="487680">
                  <a:moveTo>
                    <a:pt x="0" y="0"/>
                  </a:moveTo>
                  <a:lnTo>
                    <a:pt x="487680" y="0"/>
                  </a:lnTo>
                  <a:lnTo>
                    <a:pt x="48768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79" t="0" r="-110379" b="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48768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0066B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▶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7393943" y="2639063"/>
            <a:ext cx="3042923" cy="2402843"/>
            <a:chOff x="0" y="0"/>
            <a:chExt cx="4057231" cy="3203791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16891" y="16891"/>
              <a:ext cx="4023360" cy="3169920"/>
            </a:xfrm>
            <a:custGeom>
              <a:avLst/>
              <a:gdLst/>
              <a:ahLst/>
              <a:cxnLst/>
              <a:rect r="r" b="b" t="t" l="l"/>
              <a:pathLst>
                <a:path h="316992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3169920"/>
                  </a:lnTo>
                  <a:lnTo>
                    <a:pt x="0" y="316992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4057142" cy="3203702"/>
            </a:xfrm>
            <a:custGeom>
              <a:avLst/>
              <a:gdLst/>
              <a:ahLst/>
              <a:cxnLst/>
              <a:rect r="r" b="b" t="t" l="l"/>
              <a:pathLst>
                <a:path h="3203702" w="4057142">
                  <a:moveTo>
                    <a:pt x="16891" y="0"/>
                  </a:moveTo>
                  <a:lnTo>
                    <a:pt x="4040251" y="0"/>
                  </a:lnTo>
                  <a:cubicBezTo>
                    <a:pt x="4049649" y="0"/>
                    <a:pt x="4057142" y="7620"/>
                    <a:pt x="4057142" y="16891"/>
                  </a:cubicBezTo>
                  <a:lnTo>
                    <a:pt x="4057142" y="3186811"/>
                  </a:lnTo>
                  <a:cubicBezTo>
                    <a:pt x="4057142" y="3196209"/>
                    <a:pt x="4049522" y="3203702"/>
                    <a:pt x="4040251" y="3203702"/>
                  </a:cubicBezTo>
                  <a:lnTo>
                    <a:pt x="16891" y="3203702"/>
                  </a:lnTo>
                  <a:cubicBezTo>
                    <a:pt x="7493" y="3203702"/>
                    <a:pt x="0" y="3196082"/>
                    <a:pt x="0" y="318681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186811"/>
                  </a:lnTo>
                  <a:lnTo>
                    <a:pt x="16891" y="3186811"/>
                  </a:lnTo>
                  <a:lnTo>
                    <a:pt x="16891" y="3169920"/>
                  </a:lnTo>
                  <a:lnTo>
                    <a:pt x="4040251" y="3169920"/>
                  </a:lnTo>
                  <a:lnTo>
                    <a:pt x="4040251" y="3186811"/>
                  </a:lnTo>
                  <a:lnTo>
                    <a:pt x="4023360" y="3186811"/>
                  </a:lnTo>
                  <a:lnTo>
                    <a:pt x="4023360" y="16891"/>
                  </a:lnTo>
                  <a:lnTo>
                    <a:pt x="4040251" y="16891"/>
                  </a:lnTo>
                  <a:lnTo>
                    <a:pt x="40402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7393943" y="2639063"/>
            <a:ext cx="3042923" cy="135131"/>
            <a:chOff x="0" y="0"/>
            <a:chExt cx="4057231" cy="180175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16891" y="16891"/>
              <a:ext cx="4023360" cy="146304"/>
            </a:xfrm>
            <a:custGeom>
              <a:avLst/>
              <a:gdLst/>
              <a:ahLst/>
              <a:cxnLst/>
              <a:rect r="r" b="b" t="t" l="l"/>
              <a:pathLst>
                <a:path h="146304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46304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4057142" cy="180088"/>
            </a:xfrm>
            <a:custGeom>
              <a:avLst/>
              <a:gdLst/>
              <a:ahLst/>
              <a:cxnLst/>
              <a:rect r="r" b="b" t="t" l="l"/>
              <a:pathLst>
                <a:path h="180088" w="4057142">
                  <a:moveTo>
                    <a:pt x="16891" y="0"/>
                  </a:moveTo>
                  <a:lnTo>
                    <a:pt x="4040251" y="0"/>
                  </a:lnTo>
                  <a:cubicBezTo>
                    <a:pt x="4049649" y="0"/>
                    <a:pt x="4057142" y="7620"/>
                    <a:pt x="4057142" y="16891"/>
                  </a:cubicBezTo>
                  <a:lnTo>
                    <a:pt x="4057142" y="163195"/>
                  </a:lnTo>
                  <a:cubicBezTo>
                    <a:pt x="4057142" y="172593"/>
                    <a:pt x="4049522" y="180086"/>
                    <a:pt x="4040251" y="180086"/>
                  </a:cubicBezTo>
                  <a:lnTo>
                    <a:pt x="16891" y="180086"/>
                  </a:lnTo>
                  <a:cubicBezTo>
                    <a:pt x="7620" y="180213"/>
                    <a:pt x="0" y="172593"/>
                    <a:pt x="0" y="16319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3195"/>
                  </a:lnTo>
                  <a:lnTo>
                    <a:pt x="16891" y="163195"/>
                  </a:lnTo>
                  <a:lnTo>
                    <a:pt x="16891" y="146304"/>
                  </a:lnTo>
                  <a:lnTo>
                    <a:pt x="4040251" y="146304"/>
                  </a:lnTo>
                  <a:lnTo>
                    <a:pt x="4040251" y="163195"/>
                  </a:lnTo>
                  <a:lnTo>
                    <a:pt x="4023360" y="163195"/>
                  </a:lnTo>
                  <a:lnTo>
                    <a:pt x="4023360" y="16891"/>
                  </a:lnTo>
                  <a:lnTo>
                    <a:pt x="4040251" y="16891"/>
                  </a:lnTo>
                  <a:lnTo>
                    <a:pt x="40402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7406640" y="2926080"/>
            <a:ext cx="3017520" cy="1188720"/>
            <a:chOff x="0" y="0"/>
            <a:chExt cx="4023360" cy="158496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023360" cy="1584960"/>
            </a:xfrm>
            <a:custGeom>
              <a:avLst/>
              <a:gdLst/>
              <a:ahLst/>
              <a:cxnLst/>
              <a:rect r="r" b="b" t="t" l="l"/>
              <a:pathLst>
                <a:path h="158496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43" t="0" r="-543" b="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4023360" cy="16230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ChromaDB</a:t>
              </a:r>
            </a:p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MMR Search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7406640" y="4297680"/>
            <a:ext cx="3017520" cy="548640"/>
            <a:chOff x="0" y="0"/>
            <a:chExt cx="4023360" cy="73152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4023360" cy="731520"/>
            </a:xfrm>
            <a:custGeom>
              <a:avLst/>
              <a:gdLst/>
              <a:ahLst/>
              <a:cxnLst/>
              <a:rect r="r" b="b" t="t" l="l"/>
              <a:pathLst>
                <a:path h="73152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167" r="0" b="-57167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402336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Vector store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0398757" y="3815077"/>
            <a:ext cx="507997" cy="50797"/>
            <a:chOff x="0" y="0"/>
            <a:chExt cx="677329" cy="67729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33909" y="0"/>
              <a:ext cx="609600" cy="67691"/>
            </a:xfrm>
            <a:custGeom>
              <a:avLst/>
              <a:gdLst/>
              <a:ahLst/>
              <a:cxnLst/>
              <a:rect r="r" b="b" t="t" l="l"/>
              <a:pathLst>
                <a:path h="67691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7691"/>
                  </a:lnTo>
                  <a:lnTo>
                    <a:pt x="0" y="67691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10661904" y="3621024"/>
            <a:ext cx="365760" cy="457200"/>
            <a:chOff x="0" y="0"/>
            <a:chExt cx="487680" cy="6096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87680" cy="609600"/>
            </a:xfrm>
            <a:custGeom>
              <a:avLst/>
              <a:gdLst/>
              <a:ahLst/>
              <a:cxnLst/>
              <a:rect r="r" b="b" t="t" l="l"/>
              <a:pathLst>
                <a:path h="609600" w="487680">
                  <a:moveTo>
                    <a:pt x="0" y="0"/>
                  </a:moveTo>
                  <a:lnTo>
                    <a:pt x="487680" y="0"/>
                  </a:lnTo>
                  <a:lnTo>
                    <a:pt x="48768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79" t="0" r="-110379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48768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0066B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▶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0868663" y="2639063"/>
            <a:ext cx="3042923" cy="2402843"/>
            <a:chOff x="0" y="0"/>
            <a:chExt cx="4057231" cy="3203791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16891" y="16891"/>
              <a:ext cx="4023360" cy="3169920"/>
            </a:xfrm>
            <a:custGeom>
              <a:avLst/>
              <a:gdLst/>
              <a:ahLst/>
              <a:cxnLst/>
              <a:rect r="r" b="b" t="t" l="l"/>
              <a:pathLst>
                <a:path h="316992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3169920"/>
                  </a:lnTo>
                  <a:lnTo>
                    <a:pt x="0" y="316992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4057142" cy="3203702"/>
            </a:xfrm>
            <a:custGeom>
              <a:avLst/>
              <a:gdLst/>
              <a:ahLst/>
              <a:cxnLst/>
              <a:rect r="r" b="b" t="t" l="l"/>
              <a:pathLst>
                <a:path h="3203702" w="4057142">
                  <a:moveTo>
                    <a:pt x="16891" y="0"/>
                  </a:moveTo>
                  <a:lnTo>
                    <a:pt x="4040251" y="0"/>
                  </a:lnTo>
                  <a:cubicBezTo>
                    <a:pt x="4049649" y="0"/>
                    <a:pt x="4057142" y="7620"/>
                    <a:pt x="4057142" y="16891"/>
                  </a:cubicBezTo>
                  <a:lnTo>
                    <a:pt x="4057142" y="3186811"/>
                  </a:lnTo>
                  <a:cubicBezTo>
                    <a:pt x="4057142" y="3196209"/>
                    <a:pt x="4049522" y="3203702"/>
                    <a:pt x="4040251" y="3203702"/>
                  </a:cubicBezTo>
                  <a:lnTo>
                    <a:pt x="16891" y="3203702"/>
                  </a:lnTo>
                  <a:cubicBezTo>
                    <a:pt x="7493" y="3203702"/>
                    <a:pt x="0" y="3196082"/>
                    <a:pt x="0" y="318681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186811"/>
                  </a:lnTo>
                  <a:lnTo>
                    <a:pt x="16891" y="3186811"/>
                  </a:lnTo>
                  <a:lnTo>
                    <a:pt x="16891" y="3169920"/>
                  </a:lnTo>
                  <a:lnTo>
                    <a:pt x="4040251" y="3169920"/>
                  </a:lnTo>
                  <a:lnTo>
                    <a:pt x="4040251" y="3186811"/>
                  </a:lnTo>
                  <a:lnTo>
                    <a:pt x="4023360" y="3186811"/>
                  </a:lnTo>
                  <a:lnTo>
                    <a:pt x="4023360" y="16891"/>
                  </a:lnTo>
                  <a:lnTo>
                    <a:pt x="4040251" y="16891"/>
                  </a:lnTo>
                  <a:lnTo>
                    <a:pt x="40402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0868663" y="2639063"/>
            <a:ext cx="3042923" cy="135131"/>
            <a:chOff x="0" y="0"/>
            <a:chExt cx="4057231" cy="180175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16891" y="16891"/>
              <a:ext cx="4023360" cy="146304"/>
            </a:xfrm>
            <a:custGeom>
              <a:avLst/>
              <a:gdLst/>
              <a:ahLst/>
              <a:cxnLst/>
              <a:rect r="r" b="b" t="t" l="l"/>
              <a:pathLst>
                <a:path h="146304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46304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4057142" cy="180088"/>
            </a:xfrm>
            <a:custGeom>
              <a:avLst/>
              <a:gdLst/>
              <a:ahLst/>
              <a:cxnLst/>
              <a:rect r="r" b="b" t="t" l="l"/>
              <a:pathLst>
                <a:path h="180088" w="4057142">
                  <a:moveTo>
                    <a:pt x="16891" y="0"/>
                  </a:moveTo>
                  <a:lnTo>
                    <a:pt x="4040251" y="0"/>
                  </a:lnTo>
                  <a:cubicBezTo>
                    <a:pt x="4049649" y="0"/>
                    <a:pt x="4057142" y="7620"/>
                    <a:pt x="4057142" y="16891"/>
                  </a:cubicBezTo>
                  <a:lnTo>
                    <a:pt x="4057142" y="163195"/>
                  </a:lnTo>
                  <a:cubicBezTo>
                    <a:pt x="4057142" y="172593"/>
                    <a:pt x="4049522" y="180086"/>
                    <a:pt x="4040251" y="180086"/>
                  </a:cubicBezTo>
                  <a:lnTo>
                    <a:pt x="16891" y="180086"/>
                  </a:lnTo>
                  <a:cubicBezTo>
                    <a:pt x="7620" y="180213"/>
                    <a:pt x="0" y="172593"/>
                    <a:pt x="0" y="16319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3195"/>
                  </a:lnTo>
                  <a:lnTo>
                    <a:pt x="16891" y="163195"/>
                  </a:lnTo>
                  <a:lnTo>
                    <a:pt x="16891" y="146304"/>
                  </a:lnTo>
                  <a:lnTo>
                    <a:pt x="4040251" y="146304"/>
                  </a:lnTo>
                  <a:lnTo>
                    <a:pt x="4040251" y="163195"/>
                  </a:lnTo>
                  <a:lnTo>
                    <a:pt x="4023360" y="163195"/>
                  </a:lnTo>
                  <a:lnTo>
                    <a:pt x="4023360" y="16891"/>
                  </a:lnTo>
                  <a:lnTo>
                    <a:pt x="4040251" y="16891"/>
                  </a:lnTo>
                  <a:lnTo>
                    <a:pt x="40402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10881360" y="2926080"/>
            <a:ext cx="3017520" cy="1188720"/>
            <a:chOff x="0" y="0"/>
            <a:chExt cx="4023360" cy="158496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4023360" cy="1584960"/>
            </a:xfrm>
            <a:custGeom>
              <a:avLst/>
              <a:gdLst/>
              <a:ahLst/>
              <a:cxnLst/>
              <a:rect r="r" b="b" t="t" l="l"/>
              <a:pathLst>
                <a:path h="158496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43" t="0" r="-543" b="0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4023360" cy="16230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LangChain</a:t>
              </a:r>
            </a:p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LCEL Chain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0881360" y="4297680"/>
            <a:ext cx="3017520" cy="548640"/>
            <a:chOff x="0" y="0"/>
            <a:chExt cx="4023360" cy="73152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4023360" cy="731520"/>
            </a:xfrm>
            <a:custGeom>
              <a:avLst/>
              <a:gdLst/>
              <a:ahLst/>
              <a:cxnLst/>
              <a:rect r="r" b="b" t="t" l="l"/>
              <a:pathLst>
                <a:path h="73152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167" r="0" b="-57167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402336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Prompt + LLM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3873477" y="3815077"/>
            <a:ext cx="507997" cy="50797"/>
            <a:chOff x="0" y="0"/>
            <a:chExt cx="677329" cy="67729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33909" y="0"/>
              <a:ext cx="609600" cy="67691"/>
            </a:xfrm>
            <a:custGeom>
              <a:avLst/>
              <a:gdLst/>
              <a:ahLst/>
              <a:cxnLst/>
              <a:rect r="r" b="b" t="t" l="l"/>
              <a:pathLst>
                <a:path h="67691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67691"/>
                  </a:lnTo>
                  <a:lnTo>
                    <a:pt x="0" y="67691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4136624" y="3621024"/>
            <a:ext cx="365760" cy="457200"/>
            <a:chOff x="0" y="0"/>
            <a:chExt cx="487680" cy="60960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487680" cy="609600"/>
            </a:xfrm>
            <a:custGeom>
              <a:avLst/>
              <a:gdLst/>
              <a:ahLst/>
              <a:cxnLst/>
              <a:rect r="r" b="b" t="t" l="l"/>
              <a:pathLst>
                <a:path h="609600" w="487680">
                  <a:moveTo>
                    <a:pt x="0" y="0"/>
                  </a:moveTo>
                  <a:lnTo>
                    <a:pt x="487680" y="0"/>
                  </a:lnTo>
                  <a:lnTo>
                    <a:pt x="487680" y="609600"/>
                  </a:lnTo>
                  <a:lnTo>
                    <a:pt x="0" y="609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79" t="0" r="-110379" b="0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38100"/>
              <a:ext cx="487680" cy="647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0066B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▶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4343383" y="2639063"/>
            <a:ext cx="3042923" cy="2402843"/>
            <a:chOff x="0" y="0"/>
            <a:chExt cx="4057231" cy="3203791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16891" y="16891"/>
              <a:ext cx="4023360" cy="3169920"/>
            </a:xfrm>
            <a:custGeom>
              <a:avLst/>
              <a:gdLst/>
              <a:ahLst/>
              <a:cxnLst/>
              <a:rect r="r" b="b" t="t" l="l"/>
              <a:pathLst>
                <a:path h="316992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3169920"/>
                  </a:lnTo>
                  <a:lnTo>
                    <a:pt x="0" y="316992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4057142" cy="3203702"/>
            </a:xfrm>
            <a:custGeom>
              <a:avLst/>
              <a:gdLst/>
              <a:ahLst/>
              <a:cxnLst/>
              <a:rect r="r" b="b" t="t" l="l"/>
              <a:pathLst>
                <a:path h="3203702" w="4057142">
                  <a:moveTo>
                    <a:pt x="16891" y="0"/>
                  </a:moveTo>
                  <a:lnTo>
                    <a:pt x="4040251" y="0"/>
                  </a:lnTo>
                  <a:cubicBezTo>
                    <a:pt x="4049649" y="0"/>
                    <a:pt x="4057142" y="7620"/>
                    <a:pt x="4057142" y="16891"/>
                  </a:cubicBezTo>
                  <a:lnTo>
                    <a:pt x="4057142" y="3186811"/>
                  </a:lnTo>
                  <a:cubicBezTo>
                    <a:pt x="4057142" y="3196209"/>
                    <a:pt x="4049522" y="3203702"/>
                    <a:pt x="4040251" y="3203702"/>
                  </a:cubicBezTo>
                  <a:lnTo>
                    <a:pt x="16891" y="3203702"/>
                  </a:lnTo>
                  <a:cubicBezTo>
                    <a:pt x="7493" y="3203702"/>
                    <a:pt x="0" y="3196082"/>
                    <a:pt x="0" y="318681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186811"/>
                  </a:lnTo>
                  <a:lnTo>
                    <a:pt x="16891" y="3186811"/>
                  </a:lnTo>
                  <a:lnTo>
                    <a:pt x="16891" y="3169920"/>
                  </a:lnTo>
                  <a:lnTo>
                    <a:pt x="4040251" y="3169920"/>
                  </a:lnTo>
                  <a:lnTo>
                    <a:pt x="4040251" y="3186811"/>
                  </a:lnTo>
                  <a:lnTo>
                    <a:pt x="4023360" y="3186811"/>
                  </a:lnTo>
                  <a:lnTo>
                    <a:pt x="4023360" y="16891"/>
                  </a:lnTo>
                  <a:lnTo>
                    <a:pt x="4040251" y="16891"/>
                  </a:lnTo>
                  <a:lnTo>
                    <a:pt x="40402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C853"/>
            </a:solidFill>
          </p:spPr>
        </p:sp>
      </p:grpSp>
      <p:grpSp>
        <p:nvGrpSpPr>
          <p:cNvPr name="Group 82" id="82"/>
          <p:cNvGrpSpPr/>
          <p:nvPr/>
        </p:nvGrpSpPr>
        <p:grpSpPr>
          <a:xfrm rot="0">
            <a:off x="14343383" y="2639063"/>
            <a:ext cx="3042923" cy="135131"/>
            <a:chOff x="0" y="0"/>
            <a:chExt cx="4057231" cy="180175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16891" y="16891"/>
              <a:ext cx="4023360" cy="146304"/>
            </a:xfrm>
            <a:custGeom>
              <a:avLst/>
              <a:gdLst/>
              <a:ahLst/>
              <a:cxnLst/>
              <a:rect r="r" b="b" t="t" l="l"/>
              <a:pathLst>
                <a:path h="146304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46304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00C853"/>
            </a:solidFill>
          </p:spPr>
        </p:sp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057142" cy="180088"/>
            </a:xfrm>
            <a:custGeom>
              <a:avLst/>
              <a:gdLst/>
              <a:ahLst/>
              <a:cxnLst/>
              <a:rect r="r" b="b" t="t" l="l"/>
              <a:pathLst>
                <a:path h="180088" w="4057142">
                  <a:moveTo>
                    <a:pt x="16891" y="0"/>
                  </a:moveTo>
                  <a:lnTo>
                    <a:pt x="4040251" y="0"/>
                  </a:lnTo>
                  <a:cubicBezTo>
                    <a:pt x="4049649" y="0"/>
                    <a:pt x="4057142" y="7620"/>
                    <a:pt x="4057142" y="16891"/>
                  </a:cubicBezTo>
                  <a:lnTo>
                    <a:pt x="4057142" y="163195"/>
                  </a:lnTo>
                  <a:cubicBezTo>
                    <a:pt x="4057142" y="172593"/>
                    <a:pt x="4049522" y="180086"/>
                    <a:pt x="4040251" y="180086"/>
                  </a:cubicBezTo>
                  <a:lnTo>
                    <a:pt x="16891" y="180086"/>
                  </a:lnTo>
                  <a:cubicBezTo>
                    <a:pt x="7620" y="180213"/>
                    <a:pt x="0" y="172593"/>
                    <a:pt x="0" y="16319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3195"/>
                  </a:lnTo>
                  <a:lnTo>
                    <a:pt x="16891" y="163195"/>
                  </a:lnTo>
                  <a:lnTo>
                    <a:pt x="16891" y="146304"/>
                  </a:lnTo>
                  <a:lnTo>
                    <a:pt x="4040251" y="146304"/>
                  </a:lnTo>
                  <a:lnTo>
                    <a:pt x="4040251" y="163195"/>
                  </a:lnTo>
                  <a:lnTo>
                    <a:pt x="4023360" y="163195"/>
                  </a:lnTo>
                  <a:lnTo>
                    <a:pt x="4023360" y="16891"/>
                  </a:lnTo>
                  <a:lnTo>
                    <a:pt x="4040251" y="16891"/>
                  </a:lnTo>
                  <a:lnTo>
                    <a:pt x="40402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C853"/>
            </a:solid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14356080" y="2926080"/>
            <a:ext cx="3017520" cy="1188720"/>
            <a:chOff x="0" y="0"/>
            <a:chExt cx="4023360" cy="158496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4023360" cy="1584960"/>
            </a:xfrm>
            <a:custGeom>
              <a:avLst/>
              <a:gdLst/>
              <a:ahLst/>
              <a:cxnLst/>
              <a:rect r="r" b="b" t="t" l="l"/>
              <a:pathLst>
                <a:path h="158496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43" t="0" r="-543" b="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38100"/>
              <a:ext cx="4023360" cy="16230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Streaming</a:t>
              </a:r>
            </a:p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Response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4356080" y="4297680"/>
            <a:ext cx="3017520" cy="548640"/>
            <a:chOff x="0" y="0"/>
            <a:chExt cx="4023360" cy="73152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023360" cy="731520"/>
            </a:xfrm>
            <a:custGeom>
              <a:avLst/>
              <a:gdLst/>
              <a:ahLst/>
              <a:cxnLst/>
              <a:rect r="r" b="b" t="t" l="l"/>
              <a:pathLst>
                <a:path h="731520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167" r="0" b="-57167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38100"/>
              <a:ext cx="402336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Token by token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548640" y="5486400"/>
            <a:ext cx="16459200" cy="548640"/>
            <a:chOff x="0" y="0"/>
            <a:chExt cx="21945600" cy="73152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21945600" cy="731520"/>
            </a:xfrm>
            <a:custGeom>
              <a:avLst/>
              <a:gdLst/>
              <a:ahLst/>
              <a:cxnLst/>
              <a:rect r="r" b="b" t="t" l="l"/>
              <a:pathLst>
                <a:path h="7315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38100"/>
              <a:ext cx="2194560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400">
                  <a:solidFill>
                    <a:srgbClr val="1A1A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INGESTION PIPELINE (one-time setup)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450847" y="6120127"/>
            <a:ext cx="3853177" cy="1567177"/>
            <a:chOff x="0" y="0"/>
            <a:chExt cx="5137569" cy="2089569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8509" y="8509"/>
              <a:ext cx="51206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0A1E3A"/>
            </a:solidFill>
          </p:spPr>
        </p:sp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5137658" cy="2089658"/>
            </a:xfrm>
            <a:custGeom>
              <a:avLst/>
              <a:gdLst/>
              <a:ahLst/>
              <a:cxnLst/>
              <a:rect r="r" b="b" t="t" l="l"/>
              <a:pathLst>
                <a:path h="2089658" w="5137658">
                  <a:moveTo>
                    <a:pt x="8509" y="0"/>
                  </a:moveTo>
                  <a:lnTo>
                    <a:pt x="5129149" y="0"/>
                  </a:lnTo>
                  <a:cubicBezTo>
                    <a:pt x="5133848" y="0"/>
                    <a:pt x="5137658" y="3810"/>
                    <a:pt x="5137658" y="8509"/>
                  </a:cubicBezTo>
                  <a:lnTo>
                    <a:pt x="5137658" y="2081149"/>
                  </a:lnTo>
                  <a:cubicBezTo>
                    <a:pt x="5137658" y="2085848"/>
                    <a:pt x="5133848" y="2089658"/>
                    <a:pt x="5129149" y="2089658"/>
                  </a:cubicBezTo>
                  <a:lnTo>
                    <a:pt x="8509" y="2089658"/>
                  </a:lnTo>
                  <a:cubicBezTo>
                    <a:pt x="3810" y="2089658"/>
                    <a:pt x="0" y="2085848"/>
                    <a:pt x="0" y="20811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081149"/>
                  </a:lnTo>
                  <a:lnTo>
                    <a:pt x="8509" y="2081149"/>
                  </a:lnTo>
                  <a:lnTo>
                    <a:pt x="8509" y="2072640"/>
                  </a:lnTo>
                  <a:lnTo>
                    <a:pt x="5129149" y="2072640"/>
                  </a:lnTo>
                  <a:lnTo>
                    <a:pt x="5129149" y="2081149"/>
                  </a:lnTo>
                  <a:lnTo>
                    <a:pt x="5120640" y="2081149"/>
                  </a:lnTo>
                  <a:lnTo>
                    <a:pt x="5120640" y="8509"/>
                  </a:lnTo>
                  <a:lnTo>
                    <a:pt x="5129149" y="8509"/>
                  </a:lnTo>
                  <a:lnTo>
                    <a:pt x="512914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8899AA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457200" y="6126480"/>
            <a:ext cx="3840480" cy="1554480"/>
            <a:chOff x="0" y="0"/>
            <a:chExt cx="5120640" cy="20726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51206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32" t="0" r="-1932" b="0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-38100"/>
              <a:ext cx="5120640" cy="2110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6 Knowledge Base</a:t>
              </a:r>
            </a:p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.txt Documents</a:t>
              </a:r>
            </a:p>
          </p:txBody>
        </p:sp>
      </p:grpSp>
      <p:grpSp>
        <p:nvGrpSpPr>
          <p:cNvPr name="Group 100" id="100"/>
          <p:cNvGrpSpPr/>
          <p:nvPr/>
        </p:nvGrpSpPr>
        <p:grpSpPr>
          <a:xfrm rot="0">
            <a:off x="4297680" y="6583680"/>
            <a:ext cx="457200" cy="640080"/>
            <a:chOff x="0" y="0"/>
            <a:chExt cx="609600" cy="85344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609600" cy="853440"/>
            </a:xfrm>
            <a:custGeom>
              <a:avLst/>
              <a:gdLst/>
              <a:ahLst/>
              <a:cxnLst/>
              <a:rect r="r" b="b" t="t" l="l"/>
              <a:pathLst>
                <a:path h="85344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9625" t="0" r="-129625" b="0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47625"/>
              <a:ext cx="609600" cy="9010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4748527" y="6120127"/>
            <a:ext cx="3853177" cy="1567177"/>
            <a:chOff x="0" y="0"/>
            <a:chExt cx="5137569" cy="2089569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8509" y="8509"/>
              <a:ext cx="51206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0A1E3A"/>
            </a:solidFill>
          </p:spPr>
        </p:sp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5137658" cy="2089658"/>
            </a:xfrm>
            <a:custGeom>
              <a:avLst/>
              <a:gdLst/>
              <a:ahLst/>
              <a:cxnLst/>
              <a:rect r="r" b="b" t="t" l="l"/>
              <a:pathLst>
                <a:path h="2089658" w="5137658">
                  <a:moveTo>
                    <a:pt x="8509" y="0"/>
                  </a:moveTo>
                  <a:lnTo>
                    <a:pt x="5129149" y="0"/>
                  </a:lnTo>
                  <a:cubicBezTo>
                    <a:pt x="5133848" y="0"/>
                    <a:pt x="5137658" y="3810"/>
                    <a:pt x="5137658" y="8509"/>
                  </a:cubicBezTo>
                  <a:lnTo>
                    <a:pt x="5137658" y="2081149"/>
                  </a:lnTo>
                  <a:cubicBezTo>
                    <a:pt x="5137658" y="2085848"/>
                    <a:pt x="5133848" y="2089658"/>
                    <a:pt x="5129149" y="2089658"/>
                  </a:cubicBezTo>
                  <a:lnTo>
                    <a:pt x="8509" y="2089658"/>
                  </a:lnTo>
                  <a:cubicBezTo>
                    <a:pt x="3810" y="2089658"/>
                    <a:pt x="0" y="2085848"/>
                    <a:pt x="0" y="20811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081149"/>
                  </a:lnTo>
                  <a:lnTo>
                    <a:pt x="8509" y="2081149"/>
                  </a:lnTo>
                  <a:lnTo>
                    <a:pt x="8509" y="2072640"/>
                  </a:lnTo>
                  <a:lnTo>
                    <a:pt x="5129149" y="2072640"/>
                  </a:lnTo>
                  <a:lnTo>
                    <a:pt x="5129149" y="2081149"/>
                  </a:lnTo>
                  <a:lnTo>
                    <a:pt x="5120640" y="2081149"/>
                  </a:lnTo>
                  <a:lnTo>
                    <a:pt x="5120640" y="8509"/>
                  </a:lnTo>
                  <a:lnTo>
                    <a:pt x="5129149" y="8509"/>
                  </a:lnTo>
                  <a:lnTo>
                    <a:pt x="512914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8899AA"/>
            </a:solidFill>
          </p:spPr>
        </p:sp>
      </p:grpSp>
      <p:grpSp>
        <p:nvGrpSpPr>
          <p:cNvPr name="Group 106" id="106"/>
          <p:cNvGrpSpPr/>
          <p:nvPr/>
        </p:nvGrpSpPr>
        <p:grpSpPr>
          <a:xfrm rot="0">
            <a:off x="4754880" y="6126480"/>
            <a:ext cx="3840480" cy="1554480"/>
            <a:chOff x="0" y="0"/>
            <a:chExt cx="5120640" cy="2072640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51206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32" t="0" r="-1932" b="0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38100"/>
              <a:ext cx="5120640" cy="2110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DirectoryLoader</a:t>
              </a:r>
            </a:p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 TextSplitter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8595360" y="6583680"/>
            <a:ext cx="457200" cy="640080"/>
            <a:chOff x="0" y="0"/>
            <a:chExt cx="609600" cy="85344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609600" cy="853440"/>
            </a:xfrm>
            <a:custGeom>
              <a:avLst/>
              <a:gdLst/>
              <a:ahLst/>
              <a:cxnLst/>
              <a:rect r="r" b="b" t="t" l="l"/>
              <a:pathLst>
                <a:path h="85344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9625" t="0" r="-129625" b="0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47625"/>
              <a:ext cx="609600" cy="9010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9046207" y="6120127"/>
            <a:ext cx="3853177" cy="1567177"/>
            <a:chOff x="0" y="0"/>
            <a:chExt cx="5137569" cy="2089569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8509" y="8509"/>
              <a:ext cx="51206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0A1E3A"/>
            </a:solidFill>
          </p:spPr>
        </p:sp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5137658" cy="2089658"/>
            </a:xfrm>
            <a:custGeom>
              <a:avLst/>
              <a:gdLst/>
              <a:ahLst/>
              <a:cxnLst/>
              <a:rect r="r" b="b" t="t" l="l"/>
              <a:pathLst>
                <a:path h="2089658" w="5137658">
                  <a:moveTo>
                    <a:pt x="8509" y="0"/>
                  </a:moveTo>
                  <a:lnTo>
                    <a:pt x="5129149" y="0"/>
                  </a:lnTo>
                  <a:cubicBezTo>
                    <a:pt x="5133848" y="0"/>
                    <a:pt x="5137658" y="3810"/>
                    <a:pt x="5137658" y="8509"/>
                  </a:cubicBezTo>
                  <a:lnTo>
                    <a:pt x="5137658" y="2081149"/>
                  </a:lnTo>
                  <a:cubicBezTo>
                    <a:pt x="5137658" y="2085848"/>
                    <a:pt x="5133848" y="2089658"/>
                    <a:pt x="5129149" y="2089658"/>
                  </a:cubicBezTo>
                  <a:lnTo>
                    <a:pt x="8509" y="2089658"/>
                  </a:lnTo>
                  <a:cubicBezTo>
                    <a:pt x="3810" y="2089658"/>
                    <a:pt x="0" y="2085848"/>
                    <a:pt x="0" y="20811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081149"/>
                  </a:lnTo>
                  <a:lnTo>
                    <a:pt x="8509" y="2081149"/>
                  </a:lnTo>
                  <a:lnTo>
                    <a:pt x="8509" y="2072640"/>
                  </a:lnTo>
                  <a:lnTo>
                    <a:pt x="5129149" y="2072640"/>
                  </a:lnTo>
                  <a:lnTo>
                    <a:pt x="5129149" y="2081149"/>
                  </a:lnTo>
                  <a:lnTo>
                    <a:pt x="5120640" y="2081149"/>
                  </a:lnTo>
                  <a:lnTo>
                    <a:pt x="5120640" y="8509"/>
                  </a:lnTo>
                  <a:lnTo>
                    <a:pt x="5129149" y="8509"/>
                  </a:lnTo>
                  <a:lnTo>
                    <a:pt x="512914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8899AA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9052560" y="6126480"/>
            <a:ext cx="3840480" cy="1554480"/>
            <a:chOff x="0" y="0"/>
            <a:chExt cx="5120640" cy="207264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51206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32" t="0" r="-1932" b="0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38100"/>
              <a:ext cx="5120640" cy="2110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nomic-embed-text</a:t>
              </a:r>
            </a:p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Embeddings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2893040" y="6583680"/>
            <a:ext cx="457200" cy="640080"/>
            <a:chOff x="0" y="0"/>
            <a:chExt cx="609600" cy="85344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609600" cy="853440"/>
            </a:xfrm>
            <a:custGeom>
              <a:avLst/>
              <a:gdLst/>
              <a:ahLst/>
              <a:cxnLst/>
              <a:rect r="r" b="b" t="t" l="l"/>
              <a:pathLst>
                <a:path h="853440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9625" t="0" r="-129625" b="0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47625"/>
              <a:ext cx="609600" cy="9010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8899A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13343887" y="6120127"/>
            <a:ext cx="3853177" cy="1567177"/>
            <a:chOff x="0" y="0"/>
            <a:chExt cx="5137569" cy="2089569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8509" y="8509"/>
              <a:ext cx="51206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0A1E3A"/>
            </a:solidFill>
          </p:spPr>
        </p:sp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5137658" cy="2089658"/>
            </a:xfrm>
            <a:custGeom>
              <a:avLst/>
              <a:gdLst/>
              <a:ahLst/>
              <a:cxnLst/>
              <a:rect r="r" b="b" t="t" l="l"/>
              <a:pathLst>
                <a:path h="2089658" w="5137658">
                  <a:moveTo>
                    <a:pt x="8509" y="0"/>
                  </a:moveTo>
                  <a:lnTo>
                    <a:pt x="5129149" y="0"/>
                  </a:lnTo>
                  <a:cubicBezTo>
                    <a:pt x="5133848" y="0"/>
                    <a:pt x="5137658" y="3810"/>
                    <a:pt x="5137658" y="8509"/>
                  </a:cubicBezTo>
                  <a:lnTo>
                    <a:pt x="5137658" y="2081149"/>
                  </a:lnTo>
                  <a:cubicBezTo>
                    <a:pt x="5137658" y="2085848"/>
                    <a:pt x="5133848" y="2089658"/>
                    <a:pt x="5129149" y="2089658"/>
                  </a:cubicBezTo>
                  <a:lnTo>
                    <a:pt x="8509" y="2089658"/>
                  </a:lnTo>
                  <a:cubicBezTo>
                    <a:pt x="3810" y="2089658"/>
                    <a:pt x="0" y="2085848"/>
                    <a:pt x="0" y="20811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081149"/>
                  </a:lnTo>
                  <a:lnTo>
                    <a:pt x="8509" y="2081149"/>
                  </a:lnTo>
                  <a:lnTo>
                    <a:pt x="8509" y="2072640"/>
                  </a:lnTo>
                  <a:lnTo>
                    <a:pt x="5129149" y="2072640"/>
                  </a:lnTo>
                  <a:lnTo>
                    <a:pt x="5129149" y="2081149"/>
                  </a:lnTo>
                  <a:lnTo>
                    <a:pt x="5120640" y="2081149"/>
                  </a:lnTo>
                  <a:lnTo>
                    <a:pt x="5120640" y="8509"/>
                  </a:lnTo>
                  <a:lnTo>
                    <a:pt x="5129149" y="8509"/>
                  </a:lnTo>
                  <a:lnTo>
                    <a:pt x="512914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8899AA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3350240" y="6126480"/>
            <a:ext cx="3840480" cy="1554480"/>
            <a:chOff x="0" y="0"/>
            <a:chExt cx="5120640" cy="2072640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51206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32" t="0" r="-1932" b="0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38100"/>
              <a:ext cx="5120640" cy="2110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ChromaDB</a:t>
              </a:r>
            </a:p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Persistent Store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535943" y="8125463"/>
            <a:ext cx="17216123" cy="1305563"/>
            <a:chOff x="0" y="0"/>
            <a:chExt cx="22954831" cy="1740751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16891" y="16891"/>
              <a:ext cx="22920960" cy="1706880"/>
            </a:xfrm>
            <a:custGeom>
              <a:avLst/>
              <a:gdLst/>
              <a:ahLst/>
              <a:cxnLst/>
              <a:rect r="r" b="b" t="t" l="l"/>
              <a:pathLst>
                <a:path h="1706880" w="22920960">
                  <a:moveTo>
                    <a:pt x="0" y="0"/>
                  </a:moveTo>
                  <a:lnTo>
                    <a:pt x="22920960" y="0"/>
                  </a:lnTo>
                  <a:lnTo>
                    <a:pt x="22920960" y="1706880"/>
                  </a:lnTo>
                  <a:lnTo>
                    <a:pt x="0" y="1706880"/>
                  </a:lnTo>
                  <a:close/>
                </a:path>
              </a:pathLst>
            </a:custGeom>
            <a:solidFill>
              <a:srgbClr val="1A1A2E"/>
            </a:solidFill>
          </p:spPr>
        </p:sp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22954743" cy="1740662"/>
            </a:xfrm>
            <a:custGeom>
              <a:avLst/>
              <a:gdLst/>
              <a:ahLst/>
              <a:cxnLst/>
              <a:rect r="r" b="b" t="t" l="l"/>
              <a:pathLst>
                <a:path h="1740662" w="22954743">
                  <a:moveTo>
                    <a:pt x="16891" y="0"/>
                  </a:moveTo>
                  <a:lnTo>
                    <a:pt x="22937851" y="0"/>
                  </a:lnTo>
                  <a:cubicBezTo>
                    <a:pt x="22947249" y="0"/>
                    <a:pt x="22954743" y="7620"/>
                    <a:pt x="22954743" y="16891"/>
                  </a:cubicBezTo>
                  <a:lnTo>
                    <a:pt x="22954743" y="1723771"/>
                  </a:lnTo>
                  <a:cubicBezTo>
                    <a:pt x="22954743" y="1733169"/>
                    <a:pt x="22947123" y="1740662"/>
                    <a:pt x="22937851" y="1740662"/>
                  </a:cubicBezTo>
                  <a:lnTo>
                    <a:pt x="16891" y="1740662"/>
                  </a:lnTo>
                  <a:cubicBezTo>
                    <a:pt x="7493" y="1740662"/>
                    <a:pt x="0" y="1733042"/>
                    <a:pt x="0" y="172377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23771"/>
                  </a:lnTo>
                  <a:lnTo>
                    <a:pt x="16891" y="1723771"/>
                  </a:lnTo>
                  <a:lnTo>
                    <a:pt x="16891" y="1706880"/>
                  </a:lnTo>
                  <a:lnTo>
                    <a:pt x="22937851" y="1706880"/>
                  </a:lnTo>
                  <a:lnTo>
                    <a:pt x="22937851" y="1723771"/>
                  </a:lnTo>
                  <a:lnTo>
                    <a:pt x="22920961" y="1723771"/>
                  </a:lnTo>
                  <a:lnTo>
                    <a:pt x="22920961" y="16891"/>
                  </a:lnTo>
                  <a:lnTo>
                    <a:pt x="22937851" y="16891"/>
                  </a:lnTo>
                  <a:lnTo>
                    <a:pt x="229378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FFD700"/>
            </a:solidFill>
          </p:spPr>
        </p:sp>
      </p:grpSp>
      <p:grpSp>
        <p:nvGrpSpPr>
          <p:cNvPr name="Group 130" id="130"/>
          <p:cNvGrpSpPr/>
          <p:nvPr/>
        </p:nvGrpSpPr>
        <p:grpSpPr>
          <a:xfrm rot="0">
            <a:off x="914400" y="8229600"/>
            <a:ext cx="16459200" cy="1005840"/>
            <a:chOff x="0" y="0"/>
            <a:chExt cx="21945600" cy="1341120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21945600" cy="1341120"/>
            </a:xfrm>
            <a:custGeom>
              <a:avLst/>
              <a:gdLst/>
              <a:ahLst/>
              <a:cxnLst/>
              <a:rect r="r" b="b" t="t" l="l"/>
              <a:pathLst>
                <a:path h="13411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8846" r="0" b="-268846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-38100"/>
              <a:ext cx="21945600" cy="13792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D7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LangSmith Observability - traces every step: retrieval latency, LLM latency, token usage, inputs/outputs</a:t>
              </a:r>
            </a:p>
          </p:txBody>
        </p:sp>
      </p:grpSp>
      <p:sp>
        <p:nvSpPr>
          <p:cNvPr name="TextBox 133" id="133"/>
          <p:cNvSpPr txBox="true"/>
          <p:nvPr/>
        </p:nvSpPr>
        <p:spPr>
          <a:xfrm rot="0">
            <a:off x="17259300" y="9564376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Page 5</a:t>
            </a:r>
          </a:p>
        </p:txBody>
      </p:sp>
    </p:spTree>
  </p:cSld>
  <p:clrMapOvr>
    <a:masterClrMapping/>
  </p:clrMapOvr>
  <p:transition spd="slow">
    <p:push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84A9FF">
                <a:alpha val="100000"/>
              </a:srgbClr>
            </a:gs>
            <a:gs pos="50000">
              <a:srgbClr val="F5F8FF">
                <a:alpha val="100000"/>
              </a:srgbClr>
            </a:gs>
            <a:gs pos="100000">
              <a:srgbClr val="5387F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244859" cy="10312403"/>
            <a:chOff x="0" y="0"/>
            <a:chExt cx="326479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292608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292608">
                  <a:moveTo>
                    <a:pt x="0" y="0"/>
                  </a:moveTo>
                  <a:lnTo>
                    <a:pt x="292608" y="0"/>
                  </a:lnTo>
                  <a:lnTo>
                    <a:pt x="292608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26390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326390">
                  <a:moveTo>
                    <a:pt x="16891" y="0"/>
                  </a:moveTo>
                  <a:lnTo>
                    <a:pt x="309499" y="0"/>
                  </a:lnTo>
                  <a:cubicBezTo>
                    <a:pt x="318897" y="0"/>
                    <a:pt x="326390" y="7620"/>
                    <a:pt x="326390" y="16891"/>
                  </a:cubicBezTo>
                  <a:lnTo>
                    <a:pt x="326390" y="13732890"/>
                  </a:lnTo>
                  <a:cubicBezTo>
                    <a:pt x="326390" y="13742290"/>
                    <a:pt x="318770" y="13749782"/>
                    <a:pt x="309499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309499" y="13716000"/>
                  </a:lnTo>
                  <a:lnTo>
                    <a:pt x="309499" y="13732890"/>
                  </a:lnTo>
                  <a:lnTo>
                    <a:pt x="292608" y="13732890"/>
                  </a:lnTo>
                  <a:lnTo>
                    <a:pt x="292608" y="16891"/>
                  </a:lnTo>
                  <a:lnTo>
                    <a:pt x="309499" y="16891"/>
                  </a:lnTo>
                  <a:lnTo>
                    <a:pt x="309499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548640" y="548640"/>
            <a:ext cx="16459200" cy="731520"/>
            <a:chOff x="0" y="0"/>
            <a:chExt cx="21945600" cy="975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975360"/>
            </a:xfrm>
            <a:custGeom>
              <a:avLst/>
              <a:gdLst/>
              <a:ahLst/>
              <a:cxnLst/>
              <a:rect r="r" b="b" t="t" l="l"/>
              <a:pathLst>
                <a:path h="975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1945600" cy="1022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600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DECISIONS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48640" y="1371600"/>
            <a:ext cx="16459200" cy="1287066"/>
            <a:chOff x="0" y="0"/>
            <a:chExt cx="21945600" cy="171608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716088"/>
            </a:xfrm>
            <a:custGeom>
              <a:avLst/>
              <a:gdLst/>
              <a:ahLst/>
              <a:cxnLst/>
              <a:rect r="r" b="b" t="t" l="l"/>
              <a:pathLst>
                <a:path h="1716088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16088"/>
                  </a:lnTo>
                  <a:lnTo>
                    <a:pt x="0" y="17160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655" r="0" b="-1847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23825"/>
              <a:ext cx="21945600" cy="18399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80"/>
                </a:lnSpc>
              </a:pPr>
              <a:r>
                <a:rPr lang="en-US" sz="6400" b="true">
                  <a:solidFill>
                    <a:srgbClr val="1A305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Why I Chose What I Chose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2287" y="2645407"/>
            <a:ext cx="8242297" cy="2115817"/>
            <a:chOff x="0" y="0"/>
            <a:chExt cx="10989729" cy="282108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8509" y="8509"/>
              <a:ext cx="10972800" cy="2804160"/>
            </a:xfrm>
            <a:custGeom>
              <a:avLst/>
              <a:gdLst/>
              <a:ahLst/>
              <a:cxnLst/>
              <a:rect r="r" b="b" t="t" l="l"/>
              <a:pathLst>
                <a:path h="280416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804160"/>
                  </a:lnTo>
                  <a:lnTo>
                    <a:pt x="0" y="280416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89818" cy="2821178"/>
            </a:xfrm>
            <a:custGeom>
              <a:avLst/>
              <a:gdLst/>
              <a:ahLst/>
              <a:cxnLst/>
              <a:rect r="r" b="b" t="t" l="l"/>
              <a:pathLst>
                <a:path h="2821178" w="10989818">
                  <a:moveTo>
                    <a:pt x="8509" y="0"/>
                  </a:moveTo>
                  <a:lnTo>
                    <a:pt x="10981309" y="0"/>
                  </a:lnTo>
                  <a:cubicBezTo>
                    <a:pt x="10986008" y="0"/>
                    <a:pt x="10989818" y="3810"/>
                    <a:pt x="10989818" y="8509"/>
                  </a:cubicBezTo>
                  <a:lnTo>
                    <a:pt x="10989818" y="2812669"/>
                  </a:lnTo>
                  <a:cubicBezTo>
                    <a:pt x="10989818" y="2817368"/>
                    <a:pt x="10986008" y="2821178"/>
                    <a:pt x="10981309" y="2821178"/>
                  </a:cubicBezTo>
                  <a:lnTo>
                    <a:pt x="8509" y="2821178"/>
                  </a:lnTo>
                  <a:cubicBezTo>
                    <a:pt x="3810" y="2821178"/>
                    <a:pt x="0" y="2817368"/>
                    <a:pt x="0" y="281266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812669"/>
                  </a:lnTo>
                  <a:lnTo>
                    <a:pt x="8509" y="2812669"/>
                  </a:lnTo>
                  <a:lnTo>
                    <a:pt x="8509" y="2804160"/>
                  </a:lnTo>
                  <a:lnTo>
                    <a:pt x="10981309" y="2804160"/>
                  </a:lnTo>
                  <a:lnTo>
                    <a:pt x="10981309" y="2812669"/>
                  </a:lnTo>
                  <a:lnTo>
                    <a:pt x="10972800" y="2812669"/>
                  </a:lnTo>
                  <a:lnTo>
                    <a:pt x="10972800" y="8509"/>
                  </a:lnTo>
                  <a:lnTo>
                    <a:pt x="10981309" y="8509"/>
                  </a:lnTo>
                  <a:lnTo>
                    <a:pt x="109813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35943" y="2639063"/>
            <a:ext cx="171707" cy="2128523"/>
            <a:chOff x="0" y="0"/>
            <a:chExt cx="228943" cy="283803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195072" cy="2804160"/>
            </a:xfrm>
            <a:custGeom>
              <a:avLst/>
              <a:gdLst/>
              <a:ahLst/>
              <a:cxnLst/>
              <a:rect r="r" b="b" t="t" l="l"/>
              <a:pathLst>
                <a:path h="2804160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2804160"/>
                  </a:lnTo>
                  <a:lnTo>
                    <a:pt x="0" y="2804160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28854" cy="2837942"/>
            </a:xfrm>
            <a:custGeom>
              <a:avLst/>
              <a:gdLst/>
              <a:ahLst/>
              <a:cxnLst/>
              <a:rect r="r" b="b" t="t" l="l"/>
              <a:pathLst>
                <a:path h="2837942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2821051"/>
                  </a:lnTo>
                  <a:cubicBezTo>
                    <a:pt x="228854" y="2830449"/>
                    <a:pt x="221234" y="2837942"/>
                    <a:pt x="211963" y="2837942"/>
                  </a:cubicBezTo>
                  <a:lnTo>
                    <a:pt x="16891" y="2837942"/>
                  </a:lnTo>
                  <a:cubicBezTo>
                    <a:pt x="7493" y="2837942"/>
                    <a:pt x="0" y="2830322"/>
                    <a:pt x="0" y="28210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821051"/>
                  </a:lnTo>
                  <a:lnTo>
                    <a:pt x="16891" y="2821051"/>
                  </a:lnTo>
                  <a:lnTo>
                    <a:pt x="16891" y="2804160"/>
                  </a:lnTo>
                  <a:lnTo>
                    <a:pt x="211963" y="2804160"/>
                  </a:lnTo>
                  <a:lnTo>
                    <a:pt x="211963" y="2821051"/>
                  </a:lnTo>
                  <a:lnTo>
                    <a:pt x="195072" y="2821051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22960" y="2834640"/>
            <a:ext cx="7680960" cy="548640"/>
            <a:chOff x="0" y="0"/>
            <a:chExt cx="10241280" cy="7315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241280" cy="731520"/>
            </a:xfrm>
            <a:custGeom>
              <a:avLst/>
              <a:gdLst/>
              <a:ahLst/>
              <a:cxnLst/>
              <a:rect r="r" b="b" t="t" l="l"/>
              <a:pathLst>
                <a:path h="73152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2790" r="0" b="-22279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102412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llama3.2:1b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3474720"/>
            <a:ext cx="7680960" cy="1097280"/>
            <a:chOff x="0" y="0"/>
            <a:chExt cx="10241280" cy="14630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2412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0241280" cy="15011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Lightweight, CPU-friendly. Benchmarked vs tinyllama - better quality with acceptable latency for prototype.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320527" y="2645407"/>
            <a:ext cx="8242297" cy="2115817"/>
            <a:chOff x="0" y="0"/>
            <a:chExt cx="10989729" cy="282108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8509" y="8509"/>
              <a:ext cx="10972800" cy="2804160"/>
            </a:xfrm>
            <a:custGeom>
              <a:avLst/>
              <a:gdLst/>
              <a:ahLst/>
              <a:cxnLst/>
              <a:rect r="r" b="b" t="t" l="l"/>
              <a:pathLst>
                <a:path h="280416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804160"/>
                  </a:lnTo>
                  <a:lnTo>
                    <a:pt x="0" y="280416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989818" cy="2821178"/>
            </a:xfrm>
            <a:custGeom>
              <a:avLst/>
              <a:gdLst/>
              <a:ahLst/>
              <a:cxnLst/>
              <a:rect r="r" b="b" t="t" l="l"/>
              <a:pathLst>
                <a:path h="2821178" w="10989818">
                  <a:moveTo>
                    <a:pt x="8509" y="0"/>
                  </a:moveTo>
                  <a:lnTo>
                    <a:pt x="10981309" y="0"/>
                  </a:lnTo>
                  <a:cubicBezTo>
                    <a:pt x="10986008" y="0"/>
                    <a:pt x="10989818" y="3810"/>
                    <a:pt x="10989818" y="8509"/>
                  </a:cubicBezTo>
                  <a:lnTo>
                    <a:pt x="10989818" y="2812669"/>
                  </a:lnTo>
                  <a:cubicBezTo>
                    <a:pt x="10989818" y="2817368"/>
                    <a:pt x="10986008" y="2821178"/>
                    <a:pt x="10981309" y="2821178"/>
                  </a:cubicBezTo>
                  <a:lnTo>
                    <a:pt x="8509" y="2821178"/>
                  </a:lnTo>
                  <a:cubicBezTo>
                    <a:pt x="3810" y="2821178"/>
                    <a:pt x="0" y="2817368"/>
                    <a:pt x="0" y="281266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812669"/>
                  </a:lnTo>
                  <a:lnTo>
                    <a:pt x="8509" y="2812669"/>
                  </a:lnTo>
                  <a:lnTo>
                    <a:pt x="8509" y="2804160"/>
                  </a:lnTo>
                  <a:lnTo>
                    <a:pt x="10981309" y="2804160"/>
                  </a:lnTo>
                  <a:lnTo>
                    <a:pt x="10981309" y="2812669"/>
                  </a:lnTo>
                  <a:lnTo>
                    <a:pt x="10972800" y="2812669"/>
                  </a:lnTo>
                  <a:lnTo>
                    <a:pt x="10972800" y="8509"/>
                  </a:lnTo>
                  <a:lnTo>
                    <a:pt x="10981309" y="8509"/>
                  </a:lnTo>
                  <a:lnTo>
                    <a:pt x="109813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314183" y="2639063"/>
            <a:ext cx="171707" cy="2128523"/>
            <a:chOff x="0" y="0"/>
            <a:chExt cx="228943" cy="283803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6891" y="16891"/>
              <a:ext cx="195072" cy="2804160"/>
            </a:xfrm>
            <a:custGeom>
              <a:avLst/>
              <a:gdLst/>
              <a:ahLst/>
              <a:cxnLst/>
              <a:rect r="r" b="b" t="t" l="l"/>
              <a:pathLst>
                <a:path h="2804160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2804160"/>
                  </a:lnTo>
                  <a:lnTo>
                    <a:pt x="0" y="2804160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8854" cy="2837942"/>
            </a:xfrm>
            <a:custGeom>
              <a:avLst/>
              <a:gdLst/>
              <a:ahLst/>
              <a:cxnLst/>
              <a:rect r="r" b="b" t="t" l="l"/>
              <a:pathLst>
                <a:path h="2837942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2821051"/>
                  </a:lnTo>
                  <a:cubicBezTo>
                    <a:pt x="228854" y="2830449"/>
                    <a:pt x="221234" y="2837942"/>
                    <a:pt x="211963" y="2837942"/>
                  </a:cubicBezTo>
                  <a:lnTo>
                    <a:pt x="16891" y="2837942"/>
                  </a:lnTo>
                  <a:cubicBezTo>
                    <a:pt x="7493" y="2837942"/>
                    <a:pt x="0" y="2830322"/>
                    <a:pt x="0" y="28210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821051"/>
                  </a:lnTo>
                  <a:lnTo>
                    <a:pt x="16891" y="2821051"/>
                  </a:lnTo>
                  <a:lnTo>
                    <a:pt x="16891" y="2804160"/>
                  </a:lnTo>
                  <a:lnTo>
                    <a:pt x="211963" y="2804160"/>
                  </a:lnTo>
                  <a:lnTo>
                    <a:pt x="211963" y="2821051"/>
                  </a:lnTo>
                  <a:lnTo>
                    <a:pt x="195072" y="2821051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9601200" y="2834640"/>
            <a:ext cx="7680960" cy="548640"/>
            <a:chOff x="0" y="0"/>
            <a:chExt cx="10241280" cy="7315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241280" cy="731520"/>
            </a:xfrm>
            <a:custGeom>
              <a:avLst/>
              <a:gdLst/>
              <a:ahLst/>
              <a:cxnLst/>
              <a:rect r="r" b="b" t="t" l="l"/>
              <a:pathLst>
                <a:path h="73152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2790" r="0" b="-222790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57150"/>
              <a:ext cx="102412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nomic-embed-text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601200" y="3474720"/>
            <a:ext cx="7680960" cy="1097280"/>
            <a:chOff x="0" y="0"/>
            <a:chExt cx="10241280" cy="14630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2412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0241280" cy="15011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Best quality/speed tradeoff for local embedding. Runs via Ollama - no API key required.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542287" y="5022847"/>
            <a:ext cx="8242297" cy="2115817"/>
            <a:chOff x="0" y="0"/>
            <a:chExt cx="10989729" cy="282108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8509" y="8509"/>
              <a:ext cx="10972800" cy="2804160"/>
            </a:xfrm>
            <a:custGeom>
              <a:avLst/>
              <a:gdLst/>
              <a:ahLst/>
              <a:cxnLst/>
              <a:rect r="r" b="b" t="t" l="l"/>
              <a:pathLst>
                <a:path h="280416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804160"/>
                  </a:lnTo>
                  <a:lnTo>
                    <a:pt x="0" y="280416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989818" cy="2821178"/>
            </a:xfrm>
            <a:custGeom>
              <a:avLst/>
              <a:gdLst/>
              <a:ahLst/>
              <a:cxnLst/>
              <a:rect r="r" b="b" t="t" l="l"/>
              <a:pathLst>
                <a:path h="2821178" w="10989818">
                  <a:moveTo>
                    <a:pt x="8509" y="0"/>
                  </a:moveTo>
                  <a:lnTo>
                    <a:pt x="10981309" y="0"/>
                  </a:lnTo>
                  <a:cubicBezTo>
                    <a:pt x="10986008" y="0"/>
                    <a:pt x="10989818" y="3810"/>
                    <a:pt x="10989818" y="8509"/>
                  </a:cubicBezTo>
                  <a:lnTo>
                    <a:pt x="10989818" y="2812669"/>
                  </a:lnTo>
                  <a:cubicBezTo>
                    <a:pt x="10989818" y="2817368"/>
                    <a:pt x="10986008" y="2821178"/>
                    <a:pt x="10981309" y="2821178"/>
                  </a:cubicBezTo>
                  <a:lnTo>
                    <a:pt x="8509" y="2821178"/>
                  </a:lnTo>
                  <a:cubicBezTo>
                    <a:pt x="3810" y="2821178"/>
                    <a:pt x="0" y="2817368"/>
                    <a:pt x="0" y="281266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812669"/>
                  </a:lnTo>
                  <a:lnTo>
                    <a:pt x="8509" y="2812669"/>
                  </a:lnTo>
                  <a:lnTo>
                    <a:pt x="8509" y="2804160"/>
                  </a:lnTo>
                  <a:lnTo>
                    <a:pt x="10981309" y="2804160"/>
                  </a:lnTo>
                  <a:lnTo>
                    <a:pt x="10981309" y="2812669"/>
                  </a:lnTo>
                  <a:lnTo>
                    <a:pt x="10972800" y="2812669"/>
                  </a:lnTo>
                  <a:lnTo>
                    <a:pt x="10972800" y="8509"/>
                  </a:lnTo>
                  <a:lnTo>
                    <a:pt x="10981309" y="8509"/>
                  </a:lnTo>
                  <a:lnTo>
                    <a:pt x="109813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535943" y="5016503"/>
            <a:ext cx="171707" cy="2128523"/>
            <a:chOff x="0" y="0"/>
            <a:chExt cx="228943" cy="2838031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16891" y="16891"/>
              <a:ext cx="195072" cy="2804160"/>
            </a:xfrm>
            <a:custGeom>
              <a:avLst/>
              <a:gdLst/>
              <a:ahLst/>
              <a:cxnLst/>
              <a:rect r="r" b="b" t="t" l="l"/>
              <a:pathLst>
                <a:path h="2804160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2804160"/>
                  </a:lnTo>
                  <a:lnTo>
                    <a:pt x="0" y="2804160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28854" cy="2837942"/>
            </a:xfrm>
            <a:custGeom>
              <a:avLst/>
              <a:gdLst/>
              <a:ahLst/>
              <a:cxnLst/>
              <a:rect r="r" b="b" t="t" l="l"/>
              <a:pathLst>
                <a:path h="2837942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2821051"/>
                  </a:lnTo>
                  <a:cubicBezTo>
                    <a:pt x="228854" y="2830449"/>
                    <a:pt x="221234" y="2837942"/>
                    <a:pt x="211963" y="2837942"/>
                  </a:cubicBezTo>
                  <a:lnTo>
                    <a:pt x="16891" y="2837942"/>
                  </a:lnTo>
                  <a:cubicBezTo>
                    <a:pt x="7493" y="2837942"/>
                    <a:pt x="0" y="2830322"/>
                    <a:pt x="0" y="28210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821051"/>
                  </a:lnTo>
                  <a:lnTo>
                    <a:pt x="16891" y="2821051"/>
                  </a:lnTo>
                  <a:lnTo>
                    <a:pt x="16891" y="2804160"/>
                  </a:lnTo>
                  <a:lnTo>
                    <a:pt x="211963" y="2804160"/>
                  </a:lnTo>
                  <a:lnTo>
                    <a:pt x="211963" y="2821051"/>
                  </a:lnTo>
                  <a:lnTo>
                    <a:pt x="195072" y="2821051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822960" y="5212080"/>
            <a:ext cx="7680960" cy="548640"/>
            <a:chOff x="0" y="0"/>
            <a:chExt cx="10241280" cy="7315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241280" cy="731520"/>
            </a:xfrm>
            <a:custGeom>
              <a:avLst/>
              <a:gdLst/>
              <a:ahLst/>
              <a:cxnLst/>
              <a:rect r="r" b="b" t="t" l="l"/>
              <a:pathLst>
                <a:path h="73152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2790" r="0" b="-22279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57150"/>
              <a:ext cx="102412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MMR Retrieval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822960" y="5852160"/>
            <a:ext cx="7680960" cy="1097280"/>
            <a:chOff x="0" y="0"/>
            <a:chExt cx="10241280" cy="14630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2412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0241280" cy="15011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Reduces redundant chunks. plain similarity returned duplicate content from small docs. MMR balances relevance + diversity.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9320527" y="5022847"/>
            <a:ext cx="8242297" cy="2115817"/>
            <a:chOff x="0" y="0"/>
            <a:chExt cx="10989729" cy="282108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8509" y="8509"/>
              <a:ext cx="10972800" cy="2804160"/>
            </a:xfrm>
            <a:custGeom>
              <a:avLst/>
              <a:gdLst/>
              <a:ahLst/>
              <a:cxnLst/>
              <a:rect r="r" b="b" t="t" l="l"/>
              <a:pathLst>
                <a:path h="280416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804160"/>
                  </a:lnTo>
                  <a:lnTo>
                    <a:pt x="0" y="280416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0989818" cy="2821178"/>
            </a:xfrm>
            <a:custGeom>
              <a:avLst/>
              <a:gdLst/>
              <a:ahLst/>
              <a:cxnLst/>
              <a:rect r="r" b="b" t="t" l="l"/>
              <a:pathLst>
                <a:path h="2821178" w="10989818">
                  <a:moveTo>
                    <a:pt x="8509" y="0"/>
                  </a:moveTo>
                  <a:lnTo>
                    <a:pt x="10981309" y="0"/>
                  </a:lnTo>
                  <a:cubicBezTo>
                    <a:pt x="10986008" y="0"/>
                    <a:pt x="10989818" y="3810"/>
                    <a:pt x="10989818" y="8509"/>
                  </a:cubicBezTo>
                  <a:lnTo>
                    <a:pt x="10989818" y="2812669"/>
                  </a:lnTo>
                  <a:cubicBezTo>
                    <a:pt x="10989818" y="2817368"/>
                    <a:pt x="10986008" y="2821178"/>
                    <a:pt x="10981309" y="2821178"/>
                  </a:cubicBezTo>
                  <a:lnTo>
                    <a:pt x="8509" y="2821178"/>
                  </a:lnTo>
                  <a:cubicBezTo>
                    <a:pt x="3810" y="2821178"/>
                    <a:pt x="0" y="2817368"/>
                    <a:pt x="0" y="281266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812669"/>
                  </a:lnTo>
                  <a:lnTo>
                    <a:pt x="8509" y="2812669"/>
                  </a:lnTo>
                  <a:lnTo>
                    <a:pt x="8509" y="2804160"/>
                  </a:lnTo>
                  <a:lnTo>
                    <a:pt x="10981309" y="2804160"/>
                  </a:lnTo>
                  <a:lnTo>
                    <a:pt x="10981309" y="2812669"/>
                  </a:lnTo>
                  <a:lnTo>
                    <a:pt x="10972800" y="2812669"/>
                  </a:lnTo>
                  <a:lnTo>
                    <a:pt x="10972800" y="8509"/>
                  </a:lnTo>
                  <a:lnTo>
                    <a:pt x="10981309" y="8509"/>
                  </a:lnTo>
                  <a:lnTo>
                    <a:pt x="109813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9314183" y="5016503"/>
            <a:ext cx="171707" cy="2128523"/>
            <a:chOff x="0" y="0"/>
            <a:chExt cx="228943" cy="2838031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16891" y="16891"/>
              <a:ext cx="195072" cy="2804160"/>
            </a:xfrm>
            <a:custGeom>
              <a:avLst/>
              <a:gdLst/>
              <a:ahLst/>
              <a:cxnLst/>
              <a:rect r="r" b="b" t="t" l="l"/>
              <a:pathLst>
                <a:path h="2804160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2804160"/>
                  </a:lnTo>
                  <a:lnTo>
                    <a:pt x="0" y="2804160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28854" cy="2837942"/>
            </a:xfrm>
            <a:custGeom>
              <a:avLst/>
              <a:gdLst/>
              <a:ahLst/>
              <a:cxnLst/>
              <a:rect r="r" b="b" t="t" l="l"/>
              <a:pathLst>
                <a:path h="2837942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2821051"/>
                  </a:lnTo>
                  <a:cubicBezTo>
                    <a:pt x="228854" y="2830449"/>
                    <a:pt x="221234" y="2837942"/>
                    <a:pt x="211963" y="2837942"/>
                  </a:cubicBezTo>
                  <a:lnTo>
                    <a:pt x="16891" y="2837942"/>
                  </a:lnTo>
                  <a:cubicBezTo>
                    <a:pt x="7493" y="2837942"/>
                    <a:pt x="0" y="2830322"/>
                    <a:pt x="0" y="28210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821051"/>
                  </a:lnTo>
                  <a:lnTo>
                    <a:pt x="16891" y="2821051"/>
                  </a:lnTo>
                  <a:lnTo>
                    <a:pt x="16891" y="2804160"/>
                  </a:lnTo>
                  <a:lnTo>
                    <a:pt x="211963" y="2804160"/>
                  </a:lnTo>
                  <a:lnTo>
                    <a:pt x="211963" y="2821051"/>
                  </a:lnTo>
                  <a:lnTo>
                    <a:pt x="195072" y="2821051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9601200" y="5212080"/>
            <a:ext cx="7680960" cy="548640"/>
            <a:chOff x="0" y="0"/>
            <a:chExt cx="10241280" cy="73152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241280" cy="731520"/>
            </a:xfrm>
            <a:custGeom>
              <a:avLst/>
              <a:gdLst/>
              <a:ahLst/>
              <a:cxnLst/>
              <a:rect r="r" b="b" t="t" l="l"/>
              <a:pathLst>
                <a:path h="73152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2790" r="0" b="-22279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57150"/>
              <a:ext cx="102412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chunk_size=200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9601200" y="5852160"/>
            <a:ext cx="7680960" cy="1097280"/>
            <a:chOff x="0" y="0"/>
            <a:chExt cx="10241280" cy="14630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2412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10241280" cy="15011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Docs are ~1000 chars each. chunk_size=500 caused duplicates. 200 gives precise retrieval with no redundancy.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542287" y="7400287"/>
            <a:ext cx="8242297" cy="2115817"/>
            <a:chOff x="0" y="0"/>
            <a:chExt cx="10989729" cy="282108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8509" y="8509"/>
              <a:ext cx="10972800" cy="2804160"/>
            </a:xfrm>
            <a:custGeom>
              <a:avLst/>
              <a:gdLst/>
              <a:ahLst/>
              <a:cxnLst/>
              <a:rect r="r" b="b" t="t" l="l"/>
              <a:pathLst>
                <a:path h="280416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804160"/>
                  </a:lnTo>
                  <a:lnTo>
                    <a:pt x="0" y="280416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989818" cy="2821178"/>
            </a:xfrm>
            <a:custGeom>
              <a:avLst/>
              <a:gdLst/>
              <a:ahLst/>
              <a:cxnLst/>
              <a:rect r="r" b="b" t="t" l="l"/>
              <a:pathLst>
                <a:path h="2821178" w="10989818">
                  <a:moveTo>
                    <a:pt x="8509" y="0"/>
                  </a:moveTo>
                  <a:lnTo>
                    <a:pt x="10981309" y="0"/>
                  </a:lnTo>
                  <a:cubicBezTo>
                    <a:pt x="10986008" y="0"/>
                    <a:pt x="10989818" y="3810"/>
                    <a:pt x="10989818" y="8509"/>
                  </a:cubicBezTo>
                  <a:lnTo>
                    <a:pt x="10989818" y="2812669"/>
                  </a:lnTo>
                  <a:cubicBezTo>
                    <a:pt x="10989818" y="2817368"/>
                    <a:pt x="10986008" y="2821178"/>
                    <a:pt x="10981309" y="2821178"/>
                  </a:cubicBezTo>
                  <a:lnTo>
                    <a:pt x="8509" y="2821178"/>
                  </a:lnTo>
                  <a:cubicBezTo>
                    <a:pt x="3810" y="2821178"/>
                    <a:pt x="0" y="2817368"/>
                    <a:pt x="0" y="281266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812669"/>
                  </a:lnTo>
                  <a:lnTo>
                    <a:pt x="8509" y="2812669"/>
                  </a:lnTo>
                  <a:lnTo>
                    <a:pt x="8509" y="2804160"/>
                  </a:lnTo>
                  <a:lnTo>
                    <a:pt x="10981309" y="2804160"/>
                  </a:lnTo>
                  <a:lnTo>
                    <a:pt x="10981309" y="2812669"/>
                  </a:lnTo>
                  <a:lnTo>
                    <a:pt x="10972800" y="2812669"/>
                  </a:lnTo>
                  <a:lnTo>
                    <a:pt x="10972800" y="8509"/>
                  </a:lnTo>
                  <a:lnTo>
                    <a:pt x="10981309" y="8509"/>
                  </a:lnTo>
                  <a:lnTo>
                    <a:pt x="109813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535943" y="7393943"/>
            <a:ext cx="171707" cy="2128523"/>
            <a:chOff x="0" y="0"/>
            <a:chExt cx="228943" cy="2838031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16891" y="16891"/>
              <a:ext cx="195072" cy="2804160"/>
            </a:xfrm>
            <a:custGeom>
              <a:avLst/>
              <a:gdLst/>
              <a:ahLst/>
              <a:cxnLst/>
              <a:rect r="r" b="b" t="t" l="l"/>
              <a:pathLst>
                <a:path h="2804160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2804160"/>
                  </a:lnTo>
                  <a:lnTo>
                    <a:pt x="0" y="2804160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28854" cy="2837942"/>
            </a:xfrm>
            <a:custGeom>
              <a:avLst/>
              <a:gdLst/>
              <a:ahLst/>
              <a:cxnLst/>
              <a:rect r="r" b="b" t="t" l="l"/>
              <a:pathLst>
                <a:path h="2837942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2821051"/>
                  </a:lnTo>
                  <a:cubicBezTo>
                    <a:pt x="228854" y="2830449"/>
                    <a:pt x="221234" y="2837942"/>
                    <a:pt x="211963" y="2837942"/>
                  </a:cubicBezTo>
                  <a:lnTo>
                    <a:pt x="16891" y="2837942"/>
                  </a:lnTo>
                  <a:cubicBezTo>
                    <a:pt x="7493" y="2837942"/>
                    <a:pt x="0" y="2830322"/>
                    <a:pt x="0" y="28210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821051"/>
                  </a:lnTo>
                  <a:lnTo>
                    <a:pt x="16891" y="2821051"/>
                  </a:lnTo>
                  <a:lnTo>
                    <a:pt x="16891" y="2804160"/>
                  </a:lnTo>
                  <a:lnTo>
                    <a:pt x="211963" y="2804160"/>
                  </a:lnTo>
                  <a:lnTo>
                    <a:pt x="211963" y="2821051"/>
                  </a:lnTo>
                  <a:lnTo>
                    <a:pt x="195072" y="2821051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822960" y="7589520"/>
            <a:ext cx="7680960" cy="548640"/>
            <a:chOff x="0" y="0"/>
            <a:chExt cx="10241280" cy="73152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0241280" cy="731520"/>
            </a:xfrm>
            <a:custGeom>
              <a:avLst/>
              <a:gdLst/>
              <a:ahLst/>
              <a:cxnLst/>
              <a:rect r="r" b="b" t="t" l="l"/>
              <a:pathLst>
                <a:path h="73152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2790" r="0" b="-222790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57150"/>
              <a:ext cx="102412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LangGraph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822960" y="8229600"/>
            <a:ext cx="7680960" cy="1097280"/>
            <a:chOff x="0" y="0"/>
            <a:chExt cx="10241280" cy="14630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02412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10241280" cy="15011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Modular graph node for retrieval. Easy to extend with query rewriting, guardrails, or routing nodes later.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9320527" y="7400287"/>
            <a:ext cx="8242297" cy="2115817"/>
            <a:chOff x="0" y="0"/>
            <a:chExt cx="10989729" cy="2821089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8509" y="8509"/>
              <a:ext cx="10972800" cy="2804160"/>
            </a:xfrm>
            <a:custGeom>
              <a:avLst/>
              <a:gdLst/>
              <a:ahLst/>
              <a:cxnLst/>
              <a:rect r="r" b="b" t="t" l="l"/>
              <a:pathLst>
                <a:path h="280416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2804160"/>
                  </a:lnTo>
                  <a:lnTo>
                    <a:pt x="0" y="280416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0989818" cy="2821178"/>
            </a:xfrm>
            <a:custGeom>
              <a:avLst/>
              <a:gdLst/>
              <a:ahLst/>
              <a:cxnLst/>
              <a:rect r="r" b="b" t="t" l="l"/>
              <a:pathLst>
                <a:path h="2821178" w="10989818">
                  <a:moveTo>
                    <a:pt x="8509" y="0"/>
                  </a:moveTo>
                  <a:lnTo>
                    <a:pt x="10981309" y="0"/>
                  </a:lnTo>
                  <a:cubicBezTo>
                    <a:pt x="10986008" y="0"/>
                    <a:pt x="10989818" y="3810"/>
                    <a:pt x="10989818" y="8509"/>
                  </a:cubicBezTo>
                  <a:lnTo>
                    <a:pt x="10989818" y="2812669"/>
                  </a:lnTo>
                  <a:cubicBezTo>
                    <a:pt x="10989818" y="2817368"/>
                    <a:pt x="10986008" y="2821178"/>
                    <a:pt x="10981309" y="2821178"/>
                  </a:cubicBezTo>
                  <a:lnTo>
                    <a:pt x="8509" y="2821178"/>
                  </a:lnTo>
                  <a:cubicBezTo>
                    <a:pt x="3810" y="2821178"/>
                    <a:pt x="0" y="2817368"/>
                    <a:pt x="0" y="281266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2812669"/>
                  </a:lnTo>
                  <a:lnTo>
                    <a:pt x="8509" y="2812669"/>
                  </a:lnTo>
                  <a:lnTo>
                    <a:pt x="8509" y="2804160"/>
                  </a:lnTo>
                  <a:lnTo>
                    <a:pt x="10981309" y="2804160"/>
                  </a:lnTo>
                  <a:lnTo>
                    <a:pt x="10981309" y="2812669"/>
                  </a:lnTo>
                  <a:lnTo>
                    <a:pt x="10972800" y="2812669"/>
                  </a:lnTo>
                  <a:lnTo>
                    <a:pt x="10972800" y="8509"/>
                  </a:lnTo>
                  <a:lnTo>
                    <a:pt x="10981309" y="8509"/>
                  </a:lnTo>
                  <a:lnTo>
                    <a:pt x="109813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9314183" y="7393943"/>
            <a:ext cx="171707" cy="2128523"/>
            <a:chOff x="0" y="0"/>
            <a:chExt cx="228943" cy="2838031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16891" y="16891"/>
              <a:ext cx="195072" cy="2804160"/>
            </a:xfrm>
            <a:custGeom>
              <a:avLst/>
              <a:gdLst/>
              <a:ahLst/>
              <a:cxnLst/>
              <a:rect r="r" b="b" t="t" l="l"/>
              <a:pathLst>
                <a:path h="2804160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2804160"/>
                  </a:lnTo>
                  <a:lnTo>
                    <a:pt x="0" y="2804160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28854" cy="2837942"/>
            </a:xfrm>
            <a:custGeom>
              <a:avLst/>
              <a:gdLst/>
              <a:ahLst/>
              <a:cxnLst/>
              <a:rect r="r" b="b" t="t" l="l"/>
              <a:pathLst>
                <a:path h="2837942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2821051"/>
                  </a:lnTo>
                  <a:cubicBezTo>
                    <a:pt x="228854" y="2830449"/>
                    <a:pt x="221234" y="2837942"/>
                    <a:pt x="211963" y="2837942"/>
                  </a:cubicBezTo>
                  <a:lnTo>
                    <a:pt x="16891" y="2837942"/>
                  </a:lnTo>
                  <a:cubicBezTo>
                    <a:pt x="7493" y="2837942"/>
                    <a:pt x="0" y="2830322"/>
                    <a:pt x="0" y="28210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821051"/>
                  </a:lnTo>
                  <a:lnTo>
                    <a:pt x="16891" y="2821051"/>
                  </a:lnTo>
                  <a:lnTo>
                    <a:pt x="16891" y="2804160"/>
                  </a:lnTo>
                  <a:lnTo>
                    <a:pt x="211963" y="2804160"/>
                  </a:lnTo>
                  <a:lnTo>
                    <a:pt x="211963" y="2821051"/>
                  </a:lnTo>
                  <a:lnTo>
                    <a:pt x="195072" y="2821051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9601200" y="7589520"/>
            <a:ext cx="7680960" cy="548640"/>
            <a:chOff x="0" y="0"/>
            <a:chExt cx="10241280" cy="73152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10241280" cy="731520"/>
            </a:xfrm>
            <a:custGeom>
              <a:avLst/>
              <a:gdLst/>
              <a:ahLst/>
              <a:cxnLst/>
              <a:rect r="r" b="b" t="t" l="l"/>
              <a:pathLst>
                <a:path h="73152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2790" r="0" b="-222790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-57150"/>
              <a:ext cx="102412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ChromaDB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9601200" y="8229600"/>
            <a:ext cx="7680960" cy="1097280"/>
            <a:chOff x="0" y="0"/>
            <a:chExt cx="10241280" cy="146304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102412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38100"/>
              <a:ext cx="10241280" cy="15011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Runs locally, persistent storage, native LangChain integration. No external infrastructure needed.</a:t>
              </a:r>
            </a:p>
          </p:txBody>
        </p:sp>
      </p:grpSp>
      <p:sp>
        <p:nvSpPr>
          <p:cNvPr name="TextBox 83" id="83"/>
          <p:cNvSpPr txBox="true"/>
          <p:nvPr/>
        </p:nvSpPr>
        <p:spPr>
          <a:xfrm rot="0">
            <a:off x="17282160" y="9725654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Page 6</a:t>
            </a:r>
          </a:p>
        </p:txBody>
      </p:sp>
    </p:spTree>
  </p:cSld>
  <p:clrMapOvr>
    <a:masterClrMapping/>
  </p:clrMapOvr>
  <p:transition spd="slow">
    <p:push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84A9FF">
                <a:alpha val="100000"/>
              </a:srgbClr>
            </a:gs>
            <a:gs pos="50000">
              <a:srgbClr val="F5F8FF">
                <a:alpha val="100000"/>
              </a:srgbClr>
            </a:gs>
            <a:gs pos="100000">
              <a:srgbClr val="5387F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244859" cy="10312403"/>
            <a:chOff x="0" y="0"/>
            <a:chExt cx="326479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292608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292608">
                  <a:moveTo>
                    <a:pt x="0" y="0"/>
                  </a:moveTo>
                  <a:lnTo>
                    <a:pt x="292608" y="0"/>
                  </a:lnTo>
                  <a:lnTo>
                    <a:pt x="292608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26390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326390">
                  <a:moveTo>
                    <a:pt x="16891" y="0"/>
                  </a:moveTo>
                  <a:lnTo>
                    <a:pt x="309499" y="0"/>
                  </a:lnTo>
                  <a:cubicBezTo>
                    <a:pt x="318897" y="0"/>
                    <a:pt x="326390" y="7620"/>
                    <a:pt x="326390" y="16891"/>
                  </a:cubicBezTo>
                  <a:lnTo>
                    <a:pt x="326390" y="13732890"/>
                  </a:lnTo>
                  <a:cubicBezTo>
                    <a:pt x="326390" y="13742290"/>
                    <a:pt x="318770" y="13749782"/>
                    <a:pt x="309499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309499" y="13716000"/>
                  </a:lnTo>
                  <a:lnTo>
                    <a:pt x="309499" y="13732890"/>
                  </a:lnTo>
                  <a:lnTo>
                    <a:pt x="292608" y="13732890"/>
                  </a:lnTo>
                  <a:lnTo>
                    <a:pt x="292608" y="16891"/>
                  </a:lnTo>
                  <a:lnTo>
                    <a:pt x="309499" y="16891"/>
                  </a:lnTo>
                  <a:lnTo>
                    <a:pt x="309499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548640" y="548640"/>
            <a:ext cx="16459200" cy="731520"/>
            <a:chOff x="0" y="0"/>
            <a:chExt cx="21945600" cy="975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975360"/>
            </a:xfrm>
            <a:custGeom>
              <a:avLst/>
              <a:gdLst/>
              <a:ahLst/>
              <a:cxnLst/>
              <a:rect r="r" b="b" t="t" l="l"/>
              <a:pathLst>
                <a:path h="975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1945600" cy="1022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600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BENCHMARKING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48640" y="1371600"/>
            <a:ext cx="16459200" cy="1287066"/>
            <a:chOff x="0" y="0"/>
            <a:chExt cx="21945600" cy="171608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716088"/>
            </a:xfrm>
            <a:custGeom>
              <a:avLst/>
              <a:gdLst/>
              <a:ahLst/>
              <a:cxnLst/>
              <a:rect r="r" b="b" t="t" l="l"/>
              <a:pathLst>
                <a:path h="1716088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16088"/>
                  </a:lnTo>
                  <a:lnTo>
                    <a:pt x="0" y="17160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655" r="0" b="-1847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23825"/>
              <a:ext cx="21945600" cy="18399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80"/>
                </a:lnSpc>
              </a:pPr>
              <a:r>
                <a:rPr lang="en-US" sz="6400" b="true">
                  <a:solidFill>
                    <a:srgbClr val="1A305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Data-Driven Decisions via LangSmith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2287" y="2736847"/>
            <a:ext cx="17203417" cy="1073401"/>
            <a:chOff x="0" y="0"/>
            <a:chExt cx="22937889" cy="143120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8509" y="8509"/>
              <a:ext cx="22920961" cy="1414272"/>
            </a:xfrm>
            <a:custGeom>
              <a:avLst/>
              <a:gdLst/>
              <a:ahLst/>
              <a:cxnLst/>
              <a:rect r="r" b="b" t="t" l="l"/>
              <a:pathLst>
                <a:path h="1414272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414272"/>
                  </a:lnTo>
                  <a:lnTo>
                    <a:pt x="0" y="1414272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937978" cy="1431290"/>
            </a:xfrm>
            <a:custGeom>
              <a:avLst/>
              <a:gdLst/>
              <a:ahLst/>
              <a:cxnLst/>
              <a:rect r="r" b="b" t="t" l="l"/>
              <a:pathLst>
                <a:path h="1431290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422781"/>
                  </a:lnTo>
                  <a:cubicBezTo>
                    <a:pt x="22937978" y="1427480"/>
                    <a:pt x="22934169" y="1431290"/>
                    <a:pt x="22929470" y="1431290"/>
                  </a:cubicBezTo>
                  <a:lnTo>
                    <a:pt x="8509" y="1431290"/>
                  </a:lnTo>
                  <a:cubicBezTo>
                    <a:pt x="3810" y="1431290"/>
                    <a:pt x="0" y="1427480"/>
                    <a:pt x="0" y="142278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422781"/>
                  </a:lnTo>
                  <a:lnTo>
                    <a:pt x="8509" y="1422781"/>
                  </a:lnTo>
                  <a:lnTo>
                    <a:pt x="8509" y="1414272"/>
                  </a:lnTo>
                  <a:lnTo>
                    <a:pt x="22929470" y="1414272"/>
                  </a:lnTo>
                  <a:lnTo>
                    <a:pt x="22929470" y="1422781"/>
                  </a:lnTo>
                  <a:lnTo>
                    <a:pt x="22920961" y="1422781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1A3050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35943" y="2730503"/>
            <a:ext cx="939803" cy="1086107"/>
            <a:chOff x="0" y="0"/>
            <a:chExt cx="1253071" cy="14481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1219200" cy="1414272"/>
            </a:xfrm>
            <a:custGeom>
              <a:avLst/>
              <a:gdLst/>
              <a:ahLst/>
              <a:cxnLst/>
              <a:rect r="r" b="b" t="t" l="l"/>
              <a:pathLst>
                <a:path h="1414272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4272"/>
                  </a:lnTo>
                  <a:lnTo>
                    <a:pt x="0" y="1414272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52982" cy="1448054"/>
            </a:xfrm>
            <a:custGeom>
              <a:avLst/>
              <a:gdLst/>
              <a:ahLst/>
              <a:cxnLst/>
              <a:rect r="r" b="b" t="t" l="l"/>
              <a:pathLst>
                <a:path h="1448054" w="1252982">
                  <a:moveTo>
                    <a:pt x="16891" y="0"/>
                  </a:moveTo>
                  <a:lnTo>
                    <a:pt x="1236091" y="0"/>
                  </a:lnTo>
                  <a:cubicBezTo>
                    <a:pt x="1245489" y="0"/>
                    <a:pt x="1252982" y="7620"/>
                    <a:pt x="1252982" y="16891"/>
                  </a:cubicBezTo>
                  <a:lnTo>
                    <a:pt x="1252982" y="1431163"/>
                  </a:lnTo>
                  <a:cubicBezTo>
                    <a:pt x="1252982" y="1440561"/>
                    <a:pt x="1245362" y="1448054"/>
                    <a:pt x="1236091" y="1448054"/>
                  </a:cubicBezTo>
                  <a:lnTo>
                    <a:pt x="16891" y="1448054"/>
                  </a:lnTo>
                  <a:cubicBezTo>
                    <a:pt x="7493" y="1448054"/>
                    <a:pt x="0" y="1440434"/>
                    <a:pt x="0" y="14311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431163"/>
                  </a:lnTo>
                  <a:lnTo>
                    <a:pt x="16891" y="1431163"/>
                  </a:lnTo>
                  <a:lnTo>
                    <a:pt x="16891" y="1414272"/>
                  </a:lnTo>
                  <a:lnTo>
                    <a:pt x="1236091" y="1414272"/>
                  </a:lnTo>
                  <a:lnTo>
                    <a:pt x="1236091" y="1431163"/>
                  </a:lnTo>
                  <a:lnTo>
                    <a:pt x="1219200" y="1431163"/>
                  </a:lnTo>
                  <a:lnTo>
                    <a:pt x="1219200" y="16891"/>
                  </a:lnTo>
                  <a:lnTo>
                    <a:pt x="1236091" y="16891"/>
                  </a:lnTo>
                  <a:lnTo>
                    <a:pt x="1236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548640" y="2743200"/>
            <a:ext cx="914400" cy="1060704"/>
            <a:chOff x="0" y="0"/>
            <a:chExt cx="1219200" cy="141427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19200" cy="1414272"/>
            </a:xfrm>
            <a:custGeom>
              <a:avLst/>
              <a:gdLst/>
              <a:ahLst/>
              <a:cxnLst/>
              <a:rect r="r" b="b" t="t" l="l"/>
              <a:pathLst>
                <a:path h="1414272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4272"/>
                  </a:lnTo>
                  <a:lnTo>
                    <a:pt x="0" y="14142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832" t="0" r="-98832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19200" cy="14523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645920" y="2834640"/>
            <a:ext cx="2560320" cy="877824"/>
            <a:chOff x="0" y="0"/>
            <a:chExt cx="3413760" cy="117043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413760" cy="1170432"/>
            </a:xfrm>
            <a:custGeom>
              <a:avLst/>
              <a:gdLst/>
              <a:ahLst/>
              <a:cxnLst/>
              <a:rect r="r" b="b" t="t" l="l"/>
              <a:pathLst>
                <a:path h="1170432" w="3413760">
                  <a:moveTo>
                    <a:pt x="0" y="0"/>
                  </a:moveTo>
                  <a:lnTo>
                    <a:pt x="3413760" y="0"/>
                  </a:lnTo>
                  <a:lnTo>
                    <a:pt x="341376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31" r="0" b="-6831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3413760" cy="12085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Baseline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389120" y="2834640"/>
            <a:ext cx="6400800" cy="877824"/>
            <a:chOff x="0" y="0"/>
            <a:chExt cx="8534400" cy="117043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534400" cy="1170432"/>
            </a:xfrm>
            <a:custGeom>
              <a:avLst/>
              <a:gdLst/>
              <a:ahLst/>
              <a:cxnLst/>
              <a:rect r="r" b="b" t="t" l="l"/>
              <a:pathLst>
                <a:path h="1170432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2078" r="0" b="-92078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853440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tinyllama + similarity + chunk=500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960103" y="3059687"/>
            <a:ext cx="427739" cy="427739"/>
            <a:chOff x="0" y="0"/>
            <a:chExt cx="570319" cy="57031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6891" y="16891"/>
              <a:ext cx="536448" cy="536448"/>
            </a:xfrm>
            <a:custGeom>
              <a:avLst/>
              <a:gdLst/>
              <a:ahLst/>
              <a:cxnLst/>
              <a:rect r="r" b="b" t="t" l="l"/>
              <a:pathLst>
                <a:path h="536448" w="536448">
                  <a:moveTo>
                    <a:pt x="0" y="268224"/>
                  </a:moveTo>
                  <a:cubicBezTo>
                    <a:pt x="0" y="120142"/>
                    <a:pt x="120142" y="0"/>
                    <a:pt x="268224" y="0"/>
                  </a:cubicBezTo>
                  <a:cubicBezTo>
                    <a:pt x="416306" y="0"/>
                    <a:pt x="536448" y="120142"/>
                    <a:pt x="536448" y="268224"/>
                  </a:cubicBezTo>
                  <a:cubicBezTo>
                    <a:pt x="536448" y="416306"/>
                    <a:pt x="416306" y="536448"/>
                    <a:pt x="268224" y="536448"/>
                  </a:cubicBezTo>
                  <a:cubicBezTo>
                    <a:pt x="120142" y="536448"/>
                    <a:pt x="0" y="416433"/>
                    <a:pt x="0" y="268224"/>
                  </a:cubicBezTo>
                  <a:close/>
                </a:path>
              </a:pathLst>
            </a:custGeom>
            <a:solidFill>
              <a:srgbClr val="FF1744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70230" cy="570230"/>
            </a:xfrm>
            <a:custGeom>
              <a:avLst/>
              <a:gdLst/>
              <a:ahLst/>
              <a:cxnLst/>
              <a:rect r="r" b="b" t="t" l="l"/>
              <a:pathLst>
                <a:path h="570230" w="570230">
                  <a:moveTo>
                    <a:pt x="0" y="285115"/>
                  </a:moveTo>
                  <a:cubicBezTo>
                    <a:pt x="0" y="127635"/>
                    <a:pt x="127635" y="0"/>
                    <a:pt x="285115" y="0"/>
                  </a:cubicBezTo>
                  <a:lnTo>
                    <a:pt x="285115" y="16891"/>
                  </a:lnTo>
                  <a:lnTo>
                    <a:pt x="285115" y="0"/>
                  </a:lnTo>
                  <a:cubicBezTo>
                    <a:pt x="442595" y="0"/>
                    <a:pt x="570230" y="127635"/>
                    <a:pt x="570230" y="285115"/>
                  </a:cubicBezTo>
                  <a:lnTo>
                    <a:pt x="553339" y="285115"/>
                  </a:lnTo>
                  <a:lnTo>
                    <a:pt x="570230" y="285115"/>
                  </a:lnTo>
                  <a:cubicBezTo>
                    <a:pt x="570230" y="442595"/>
                    <a:pt x="442595" y="570230"/>
                    <a:pt x="285115" y="570230"/>
                  </a:cubicBezTo>
                  <a:lnTo>
                    <a:pt x="285115" y="553339"/>
                  </a:lnTo>
                  <a:lnTo>
                    <a:pt x="285115" y="570230"/>
                  </a:lnTo>
                  <a:cubicBezTo>
                    <a:pt x="127635" y="570357"/>
                    <a:pt x="0" y="442595"/>
                    <a:pt x="0" y="285115"/>
                  </a:cubicBezTo>
                  <a:lnTo>
                    <a:pt x="16891" y="285115"/>
                  </a:lnTo>
                  <a:lnTo>
                    <a:pt x="33909" y="285115"/>
                  </a:lnTo>
                  <a:lnTo>
                    <a:pt x="16891" y="285115"/>
                  </a:lnTo>
                  <a:lnTo>
                    <a:pt x="0" y="285115"/>
                  </a:lnTo>
                  <a:moveTo>
                    <a:pt x="33909" y="285115"/>
                  </a:moveTo>
                  <a:cubicBezTo>
                    <a:pt x="33909" y="294513"/>
                    <a:pt x="26289" y="302006"/>
                    <a:pt x="17018" y="302006"/>
                  </a:cubicBezTo>
                  <a:cubicBezTo>
                    <a:pt x="7747" y="302006"/>
                    <a:pt x="0" y="294513"/>
                    <a:pt x="0" y="285115"/>
                  </a:cubicBezTo>
                  <a:cubicBezTo>
                    <a:pt x="0" y="275717"/>
                    <a:pt x="7620" y="268224"/>
                    <a:pt x="16891" y="268224"/>
                  </a:cubicBezTo>
                  <a:cubicBezTo>
                    <a:pt x="26162" y="268224"/>
                    <a:pt x="33782" y="275844"/>
                    <a:pt x="33782" y="285115"/>
                  </a:cubicBezTo>
                  <a:cubicBezTo>
                    <a:pt x="33782" y="423926"/>
                    <a:pt x="146304" y="536448"/>
                    <a:pt x="285115" y="536448"/>
                  </a:cubicBezTo>
                  <a:cubicBezTo>
                    <a:pt x="423926" y="536448"/>
                    <a:pt x="536448" y="423926"/>
                    <a:pt x="536448" y="285115"/>
                  </a:cubicBezTo>
                  <a:cubicBezTo>
                    <a:pt x="536448" y="146304"/>
                    <a:pt x="423926" y="33782"/>
                    <a:pt x="285115" y="33782"/>
                  </a:cubicBezTo>
                  <a:lnTo>
                    <a:pt x="285115" y="16891"/>
                  </a:lnTo>
                  <a:lnTo>
                    <a:pt x="285115" y="33909"/>
                  </a:lnTo>
                  <a:cubicBezTo>
                    <a:pt x="146304" y="33909"/>
                    <a:pt x="33782" y="146431"/>
                    <a:pt x="33782" y="285242"/>
                  </a:cubicBezTo>
                  <a:close/>
                </a:path>
              </a:pathLst>
            </a:custGeom>
            <a:solidFill>
              <a:srgbClr val="FF1744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1521440" y="2834640"/>
            <a:ext cx="6035040" cy="877824"/>
            <a:chOff x="0" y="0"/>
            <a:chExt cx="8046720" cy="117043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046720" cy="1170432"/>
            </a:xfrm>
            <a:custGeom>
              <a:avLst/>
              <a:gdLst/>
              <a:ahLst/>
              <a:cxnLst/>
              <a:rect r="r" b="b" t="t" l="l"/>
              <a:pathLst>
                <a:path h="1170432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959" r="0" b="-83959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804672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174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High latency, duplicate chunks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542287" y="3925567"/>
            <a:ext cx="17203417" cy="1073401"/>
            <a:chOff x="0" y="0"/>
            <a:chExt cx="22937889" cy="143120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8509" y="8509"/>
              <a:ext cx="22920961" cy="1414272"/>
            </a:xfrm>
            <a:custGeom>
              <a:avLst/>
              <a:gdLst/>
              <a:ahLst/>
              <a:cxnLst/>
              <a:rect r="r" b="b" t="t" l="l"/>
              <a:pathLst>
                <a:path h="1414272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414272"/>
                  </a:lnTo>
                  <a:lnTo>
                    <a:pt x="0" y="1414272"/>
                  </a:lnTo>
                  <a:close/>
                </a:path>
              </a:pathLst>
            </a:custGeom>
            <a:solidFill>
              <a:srgbClr val="0D1F35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2937978" cy="1431290"/>
            </a:xfrm>
            <a:custGeom>
              <a:avLst/>
              <a:gdLst/>
              <a:ahLst/>
              <a:cxnLst/>
              <a:rect r="r" b="b" t="t" l="l"/>
              <a:pathLst>
                <a:path h="1431290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422781"/>
                  </a:lnTo>
                  <a:cubicBezTo>
                    <a:pt x="22937978" y="1427480"/>
                    <a:pt x="22934169" y="1431290"/>
                    <a:pt x="22929470" y="1431290"/>
                  </a:cubicBezTo>
                  <a:lnTo>
                    <a:pt x="8509" y="1431290"/>
                  </a:lnTo>
                  <a:cubicBezTo>
                    <a:pt x="3810" y="1431290"/>
                    <a:pt x="0" y="1427480"/>
                    <a:pt x="0" y="142278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422781"/>
                  </a:lnTo>
                  <a:lnTo>
                    <a:pt x="8509" y="1422781"/>
                  </a:lnTo>
                  <a:lnTo>
                    <a:pt x="8509" y="1414272"/>
                  </a:lnTo>
                  <a:lnTo>
                    <a:pt x="22929470" y="1414272"/>
                  </a:lnTo>
                  <a:lnTo>
                    <a:pt x="22929470" y="1422781"/>
                  </a:lnTo>
                  <a:lnTo>
                    <a:pt x="22920961" y="1422781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1A3050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535943" y="3919223"/>
            <a:ext cx="939803" cy="1086107"/>
            <a:chOff x="0" y="0"/>
            <a:chExt cx="1253071" cy="1448143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6891" y="16891"/>
              <a:ext cx="1219200" cy="1414272"/>
            </a:xfrm>
            <a:custGeom>
              <a:avLst/>
              <a:gdLst/>
              <a:ahLst/>
              <a:cxnLst/>
              <a:rect r="r" b="b" t="t" l="l"/>
              <a:pathLst>
                <a:path h="1414272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4272"/>
                  </a:lnTo>
                  <a:lnTo>
                    <a:pt x="0" y="1414272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52982" cy="1448054"/>
            </a:xfrm>
            <a:custGeom>
              <a:avLst/>
              <a:gdLst/>
              <a:ahLst/>
              <a:cxnLst/>
              <a:rect r="r" b="b" t="t" l="l"/>
              <a:pathLst>
                <a:path h="1448054" w="1252982">
                  <a:moveTo>
                    <a:pt x="16891" y="0"/>
                  </a:moveTo>
                  <a:lnTo>
                    <a:pt x="1236091" y="0"/>
                  </a:lnTo>
                  <a:cubicBezTo>
                    <a:pt x="1245489" y="0"/>
                    <a:pt x="1252982" y="7620"/>
                    <a:pt x="1252982" y="16891"/>
                  </a:cubicBezTo>
                  <a:lnTo>
                    <a:pt x="1252982" y="1431163"/>
                  </a:lnTo>
                  <a:cubicBezTo>
                    <a:pt x="1252982" y="1440561"/>
                    <a:pt x="1245362" y="1448054"/>
                    <a:pt x="1236091" y="1448054"/>
                  </a:cubicBezTo>
                  <a:lnTo>
                    <a:pt x="16891" y="1448054"/>
                  </a:lnTo>
                  <a:cubicBezTo>
                    <a:pt x="7493" y="1448054"/>
                    <a:pt x="0" y="1440434"/>
                    <a:pt x="0" y="14311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431163"/>
                  </a:lnTo>
                  <a:lnTo>
                    <a:pt x="16891" y="1431163"/>
                  </a:lnTo>
                  <a:lnTo>
                    <a:pt x="16891" y="1414272"/>
                  </a:lnTo>
                  <a:lnTo>
                    <a:pt x="1236091" y="1414272"/>
                  </a:lnTo>
                  <a:lnTo>
                    <a:pt x="1236091" y="1431163"/>
                  </a:lnTo>
                  <a:lnTo>
                    <a:pt x="1219200" y="1431163"/>
                  </a:lnTo>
                  <a:lnTo>
                    <a:pt x="1219200" y="16891"/>
                  </a:lnTo>
                  <a:lnTo>
                    <a:pt x="1236091" y="16891"/>
                  </a:lnTo>
                  <a:lnTo>
                    <a:pt x="1236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548640" y="3931920"/>
            <a:ext cx="914400" cy="1060704"/>
            <a:chOff x="0" y="0"/>
            <a:chExt cx="1219200" cy="1414272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219200" cy="1414272"/>
            </a:xfrm>
            <a:custGeom>
              <a:avLst/>
              <a:gdLst/>
              <a:ahLst/>
              <a:cxnLst/>
              <a:rect r="r" b="b" t="t" l="l"/>
              <a:pathLst>
                <a:path h="1414272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4272"/>
                  </a:lnTo>
                  <a:lnTo>
                    <a:pt x="0" y="14142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832" t="0" r="-98832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1219200" cy="14523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645920" y="4023360"/>
            <a:ext cx="2560320" cy="877824"/>
            <a:chOff x="0" y="0"/>
            <a:chExt cx="3413760" cy="117043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413760" cy="1170432"/>
            </a:xfrm>
            <a:custGeom>
              <a:avLst/>
              <a:gdLst/>
              <a:ahLst/>
              <a:cxnLst/>
              <a:rect r="r" b="b" t="t" l="l"/>
              <a:pathLst>
                <a:path h="1170432" w="3413760">
                  <a:moveTo>
                    <a:pt x="0" y="0"/>
                  </a:moveTo>
                  <a:lnTo>
                    <a:pt x="3413760" y="0"/>
                  </a:lnTo>
                  <a:lnTo>
                    <a:pt x="341376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31" r="0" b="-6831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3413760" cy="12085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Model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4389120" y="4023360"/>
            <a:ext cx="6400800" cy="877824"/>
            <a:chOff x="0" y="0"/>
            <a:chExt cx="8534400" cy="1170432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534400" cy="1170432"/>
            </a:xfrm>
            <a:custGeom>
              <a:avLst/>
              <a:gdLst/>
              <a:ahLst/>
              <a:cxnLst/>
              <a:rect r="r" b="b" t="t" l="l"/>
              <a:pathLst>
                <a:path h="1170432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2078" r="0" b="-92078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853440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tinyllama → llama3.2:1b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960103" y="4248407"/>
            <a:ext cx="427739" cy="427739"/>
            <a:chOff x="0" y="0"/>
            <a:chExt cx="570319" cy="57031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16891" y="16891"/>
              <a:ext cx="536448" cy="536448"/>
            </a:xfrm>
            <a:custGeom>
              <a:avLst/>
              <a:gdLst/>
              <a:ahLst/>
              <a:cxnLst/>
              <a:rect r="r" b="b" t="t" l="l"/>
              <a:pathLst>
                <a:path h="536448" w="536448">
                  <a:moveTo>
                    <a:pt x="0" y="268224"/>
                  </a:moveTo>
                  <a:cubicBezTo>
                    <a:pt x="0" y="120142"/>
                    <a:pt x="120142" y="0"/>
                    <a:pt x="268224" y="0"/>
                  </a:cubicBezTo>
                  <a:cubicBezTo>
                    <a:pt x="416306" y="0"/>
                    <a:pt x="536448" y="120142"/>
                    <a:pt x="536448" y="268224"/>
                  </a:cubicBezTo>
                  <a:cubicBezTo>
                    <a:pt x="536448" y="416306"/>
                    <a:pt x="416306" y="536448"/>
                    <a:pt x="268224" y="536448"/>
                  </a:cubicBezTo>
                  <a:cubicBezTo>
                    <a:pt x="120142" y="536448"/>
                    <a:pt x="0" y="416433"/>
                    <a:pt x="0" y="268224"/>
                  </a:cubicBezTo>
                  <a:close/>
                </a:path>
              </a:pathLst>
            </a:custGeom>
            <a:solidFill>
              <a:srgbClr val="FF6D00"/>
            </a:solid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70230" cy="570230"/>
            </a:xfrm>
            <a:custGeom>
              <a:avLst/>
              <a:gdLst/>
              <a:ahLst/>
              <a:cxnLst/>
              <a:rect r="r" b="b" t="t" l="l"/>
              <a:pathLst>
                <a:path h="570230" w="570230">
                  <a:moveTo>
                    <a:pt x="0" y="285115"/>
                  </a:moveTo>
                  <a:cubicBezTo>
                    <a:pt x="0" y="127635"/>
                    <a:pt x="127635" y="0"/>
                    <a:pt x="285115" y="0"/>
                  </a:cubicBezTo>
                  <a:lnTo>
                    <a:pt x="285115" y="16891"/>
                  </a:lnTo>
                  <a:lnTo>
                    <a:pt x="285115" y="0"/>
                  </a:lnTo>
                  <a:cubicBezTo>
                    <a:pt x="442595" y="0"/>
                    <a:pt x="570230" y="127635"/>
                    <a:pt x="570230" y="285115"/>
                  </a:cubicBezTo>
                  <a:lnTo>
                    <a:pt x="553339" y="285115"/>
                  </a:lnTo>
                  <a:lnTo>
                    <a:pt x="570230" y="285115"/>
                  </a:lnTo>
                  <a:cubicBezTo>
                    <a:pt x="570230" y="442595"/>
                    <a:pt x="442595" y="570230"/>
                    <a:pt x="285115" y="570230"/>
                  </a:cubicBezTo>
                  <a:lnTo>
                    <a:pt x="285115" y="553339"/>
                  </a:lnTo>
                  <a:lnTo>
                    <a:pt x="285115" y="570230"/>
                  </a:lnTo>
                  <a:cubicBezTo>
                    <a:pt x="127635" y="570357"/>
                    <a:pt x="0" y="442595"/>
                    <a:pt x="0" y="285115"/>
                  </a:cubicBezTo>
                  <a:lnTo>
                    <a:pt x="16891" y="285115"/>
                  </a:lnTo>
                  <a:lnTo>
                    <a:pt x="33909" y="285115"/>
                  </a:lnTo>
                  <a:lnTo>
                    <a:pt x="16891" y="285115"/>
                  </a:lnTo>
                  <a:lnTo>
                    <a:pt x="0" y="285115"/>
                  </a:lnTo>
                  <a:moveTo>
                    <a:pt x="33909" y="285115"/>
                  </a:moveTo>
                  <a:cubicBezTo>
                    <a:pt x="33909" y="294513"/>
                    <a:pt x="26289" y="302006"/>
                    <a:pt x="17018" y="302006"/>
                  </a:cubicBezTo>
                  <a:cubicBezTo>
                    <a:pt x="7747" y="302006"/>
                    <a:pt x="0" y="294513"/>
                    <a:pt x="0" y="285115"/>
                  </a:cubicBezTo>
                  <a:cubicBezTo>
                    <a:pt x="0" y="275717"/>
                    <a:pt x="7620" y="268224"/>
                    <a:pt x="16891" y="268224"/>
                  </a:cubicBezTo>
                  <a:cubicBezTo>
                    <a:pt x="26162" y="268224"/>
                    <a:pt x="33782" y="275844"/>
                    <a:pt x="33782" y="285115"/>
                  </a:cubicBezTo>
                  <a:cubicBezTo>
                    <a:pt x="33782" y="423926"/>
                    <a:pt x="146304" y="536448"/>
                    <a:pt x="285115" y="536448"/>
                  </a:cubicBezTo>
                  <a:cubicBezTo>
                    <a:pt x="423926" y="536448"/>
                    <a:pt x="536448" y="423926"/>
                    <a:pt x="536448" y="285115"/>
                  </a:cubicBezTo>
                  <a:cubicBezTo>
                    <a:pt x="536448" y="146304"/>
                    <a:pt x="423926" y="33782"/>
                    <a:pt x="285115" y="33782"/>
                  </a:cubicBezTo>
                  <a:lnTo>
                    <a:pt x="285115" y="16891"/>
                  </a:lnTo>
                  <a:lnTo>
                    <a:pt x="285115" y="33909"/>
                  </a:lnTo>
                  <a:cubicBezTo>
                    <a:pt x="146304" y="33909"/>
                    <a:pt x="33782" y="146431"/>
                    <a:pt x="33782" y="285242"/>
                  </a:cubicBezTo>
                  <a:close/>
                </a:path>
              </a:pathLst>
            </a:custGeom>
            <a:solidFill>
              <a:srgbClr val="FF6D00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1521440" y="4023360"/>
            <a:ext cx="6035040" cy="877824"/>
            <a:chOff x="0" y="0"/>
            <a:chExt cx="8046720" cy="1170432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8046720" cy="1170432"/>
            </a:xfrm>
            <a:custGeom>
              <a:avLst/>
              <a:gdLst/>
              <a:ahLst/>
              <a:cxnLst/>
              <a:rect r="r" b="b" t="t" l="l"/>
              <a:pathLst>
                <a:path h="1170432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959" r="0" b="-83959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47625"/>
              <a:ext cx="804672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6D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Better quality answers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542287" y="5114287"/>
            <a:ext cx="17203417" cy="1073401"/>
            <a:chOff x="0" y="0"/>
            <a:chExt cx="22937889" cy="1431201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8509" y="8509"/>
              <a:ext cx="22920961" cy="1414272"/>
            </a:xfrm>
            <a:custGeom>
              <a:avLst/>
              <a:gdLst/>
              <a:ahLst/>
              <a:cxnLst/>
              <a:rect r="r" b="b" t="t" l="l"/>
              <a:pathLst>
                <a:path h="1414272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414272"/>
                  </a:lnTo>
                  <a:lnTo>
                    <a:pt x="0" y="1414272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2937978" cy="1431290"/>
            </a:xfrm>
            <a:custGeom>
              <a:avLst/>
              <a:gdLst/>
              <a:ahLst/>
              <a:cxnLst/>
              <a:rect r="r" b="b" t="t" l="l"/>
              <a:pathLst>
                <a:path h="1431290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422781"/>
                  </a:lnTo>
                  <a:cubicBezTo>
                    <a:pt x="22937978" y="1427480"/>
                    <a:pt x="22934169" y="1431290"/>
                    <a:pt x="22929470" y="1431290"/>
                  </a:cubicBezTo>
                  <a:lnTo>
                    <a:pt x="8509" y="1431290"/>
                  </a:lnTo>
                  <a:cubicBezTo>
                    <a:pt x="3810" y="1431290"/>
                    <a:pt x="0" y="1427480"/>
                    <a:pt x="0" y="142278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422781"/>
                  </a:lnTo>
                  <a:lnTo>
                    <a:pt x="8509" y="1422781"/>
                  </a:lnTo>
                  <a:lnTo>
                    <a:pt x="8509" y="1414272"/>
                  </a:lnTo>
                  <a:lnTo>
                    <a:pt x="22929470" y="1414272"/>
                  </a:lnTo>
                  <a:lnTo>
                    <a:pt x="22929470" y="1422781"/>
                  </a:lnTo>
                  <a:lnTo>
                    <a:pt x="22920961" y="1422781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1A3050"/>
            </a:solid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535943" y="5107943"/>
            <a:ext cx="939803" cy="1086107"/>
            <a:chOff x="0" y="0"/>
            <a:chExt cx="1253071" cy="1448143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16891" y="16891"/>
              <a:ext cx="1219200" cy="1414272"/>
            </a:xfrm>
            <a:custGeom>
              <a:avLst/>
              <a:gdLst/>
              <a:ahLst/>
              <a:cxnLst/>
              <a:rect r="r" b="b" t="t" l="l"/>
              <a:pathLst>
                <a:path h="1414272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4272"/>
                  </a:lnTo>
                  <a:lnTo>
                    <a:pt x="0" y="1414272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52982" cy="1448054"/>
            </a:xfrm>
            <a:custGeom>
              <a:avLst/>
              <a:gdLst/>
              <a:ahLst/>
              <a:cxnLst/>
              <a:rect r="r" b="b" t="t" l="l"/>
              <a:pathLst>
                <a:path h="1448054" w="1252982">
                  <a:moveTo>
                    <a:pt x="16891" y="0"/>
                  </a:moveTo>
                  <a:lnTo>
                    <a:pt x="1236091" y="0"/>
                  </a:lnTo>
                  <a:cubicBezTo>
                    <a:pt x="1245489" y="0"/>
                    <a:pt x="1252982" y="7620"/>
                    <a:pt x="1252982" y="16891"/>
                  </a:cubicBezTo>
                  <a:lnTo>
                    <a:pt x="1252982" y="1431163"/>
                  </a:lnTo>
                  <a:cubicBezTo>
                    <a:pt x="1252982" y="1440561"/>
                    <a:pt x="1245362" y="1448054"/>
                    <a:pt x="1236091" y="1448054"/>
                  </a:cubicBezTo>
                  <a:lnTo>
                    <a:pt x="16891" y="1448054"/>
                  </a:lnTo>
                  <a:cubicBezTo>
                    <a:pt x="7493" y="1448054"/>
                    <a:pt x="0" y="1440434"/>
                    <a:pt x="0" y="14311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431163"/>
                  </a:lnTo>
                  <a:lnTo>
                    <a:pt x="16891" y="1431163"/>
                  </a:lnTo>
                  <a:lnTo>
                    <a:pt x="16891" y="1414272"/>
                  </a:lnTo>
                  <a:lnTo>
                    <a:pt x="1236091" y="1414272"/>
                  </a:lnTo>
                  <a:lnTo>
                    <a:pt x="1236091" y="1431163"/>
                  </a:lnTo>
                  <a:lnTo>
                    <a:pt x="1219200" y="1431163"/>
                  </a:lnTo>
                  <a:lnTo>
                    <a:pt x="1219200" y="16891"/>
                  </a:lnTo>
                  <a:lnTo>
                    <a:pt x="1236091" y="16891"/>
                  </a:lnTo>
                  <a:lnTo>
                    <a:pt x="1236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548640" y="5120640"/>
            <a:ext cx="914400" cy="1060704"/>
            <a:chOff x="0" y="0"/>
            <a:chExt cx="1219200" cy="1414272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219200" cy="1414272"/>
            </a:xfrm>
            <a:custGeom>
              <a:avLst/>
              <a:gdLst/>
              <a:ahLst/>
              <a:cxnLst/>
              <a:rect r="r" b="b" t="t" l="l"/>
              <a:pathLst>
                <a:path h="1414272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4272"/>
                  </a:lnTo>
                  <a:lnTo>
                    <a:pt x="0" y="14142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832" t="0" r="-98832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1219200" cy="14523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645920" y="5212080"/>
            <a:ext cx="2560320" cy="877824"/>
            <a:chOff x="0" y="0"/>
            <a:chExt cx="3413760" cy="1170432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413760" cy="1170432"/>
            </a:xfrm>
            <a:custGeom>
              <a:avLst/>
              <a:gdLst/>
              <a:ahLst/>
              <a:cxnLst/>
              <a:rect r="r" b="b" t="t" l="l"/>
              <a:pathLst>
                <a:path h="1170432" w="3413760">
                  <a:moveTo>
                    <a:pt x="0" y="0"/>
                  </a:moveTo>
                  <a:lnTo>
                    <a:pt x="3413760" y="0"/>
                  </a:lnTo>
                  <a:lnTo>
                    <a:pt x="341376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31" r="0" b="-6831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3413760" cy="12085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Retriever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4389120" y="5212080"/>
            <a:ext cx="6400800" cy="877824"/>
            <a:chOff x="0" y="0"/>
            <a:chExt cx="8534400" cy="117043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8534400" cy="1170432"/>
            </a:xfrm>
            <a:custGeom>
              <a:avLst/>
              <a:gdLst/>
              <a:ahLst/>
              <a:cxnLst/>
              <a:rect r="r" b="b" t="t" l="l"/>
              <a:pathLst>
                <a:path h="1170432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2078" r="0" b="-92078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47625"/>
              <a:ext cx="853440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similarity → MMR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10960103" y="5437127"/>
            <a:ext cx="427739" cy="427739"/>
            <a:chOff x="0" y="0"/>
            <a:chExt cx="570319" cy="570319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16891" y="16891"/>
              <a:ext cx="536448" cy="536448"/>
            </a:xfrm>
            <a:custGeom>
              <a:avLst/>
              <a:gdLst/>
              <a:ahLst/>
              <a:cxnLst/>
              <a:rect r="r" b="b" t="t" l="l"/>
              <a:pathLst>
                <a:path h="536448" w="536448">
                  <a:moveTo>
                    <a:pt x="0" y="268224"/>
                  </a:moveTo>
                  <a:cubicBezTo>
                    <a:pt x="0" y="120142"/>
                    <a:pt x="120142" y="0"/>
                    <a:pt x="268224" y="0"/>
                  </a:cubicBezTo>
                  <a:cubicBezTo>
                    <a:pt x="416306" y="0"/>
                    <a:pt x="536448" y="120142"/>
                    <a:pt x="536448" y="268224"/>
                  </a:cubicBezTo>
                  <a:cubicBezTo>
                    <a:pt x="536448" y="416306"/>
                    <a:pt x="416306" y="536448"/>
                    <a:pt x="268224" y="536448"/>
                  </a:cubicBezTo>
                  <a:cubicBezTo>
                    <a:pt x="120142" y="536448"/>
                    <a:pt x="0" y="416433"/>
                    <a:pt x="0" y="268224"/>
                  </a:cubicBezTo>
                  <a:close/>
                </a:path>
              </a:pathLst>
            </a:custGeom>
            <a:solidFill>
              <a:srgbClr val="FF6D00"/>
            </a:solidFill>
          </p:spPr>
        </p:sp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570230" cy="570230"/>
            </a:xfrm>
            <a:custGeom>
              <a:avLst/>
              <a:gdLst/>
              <a:ahLst/>
              <a:cxnLst/>
              <a:rect r="r" b="b" t="t" l="l"/>
              <a:pathLst>
                <a:path h="570230" w="570230">
                  <a:moveTo>
                    <a:pt x="0" y="285115"/>
                  </a:moveTo>
                  <a:cubicBezTo>
                    <a:pt x="0" y="127635"/>
                    <a:pt x="127635" y="0"/>
                    <a:pt x="285115" y="0"/>
                  </a:cubicBezTo>
                  <a:lnTo>
                    <a:pt x="285115" y="16891"/>
                  </a:lnTo>
                  <a:lnTo>
                    <a:pt x="285115" y="0"/>
                  </a:lnTo>
                  <a:cubicBezTo>
                    <a:pt x="442595" y="0"/>
                    <a:pt x="570230" y="127635"/>
                    <a:pt x="570230" y="285115"/>
                  </a:cubicBezTo>
                  <a:lnTo>
                    <a:pt x="553339" y="285115"/>
                  </a:lnTo>
                  <a:lnTo>
                    <a:pt x="570230" y="285115"/>
                  </a:lnTo>
                  <a:cubicBezTo>
                    <a:pt x="570230" y="442595"/>
                    <a:pt x="442595" y="570230"/>
                    <a:pt x="285115" y="570230"/>
                  </a:cubicBezTo>
                  <a:lnTo>
                    <a:pt x="285115" y="553339"/>
                  </a:lnTo>
                  <a:lnTo>
                    <a:pt x="285115" y="570230"/>
                  </a:lnTo>
                  <a:cubicBezTo>
                    <a:pt x="127635" y="570357"/>
                    <a:pt x="0" y="442595"/>
                    <a:pt x="0" y="285115"/>
                  </a:cubicBezTo>
                  <a:lnTo>
                    <a:pt x="16891" y="285115"/>
                  </a:lnTo>
                  <a:lnTo>
                    <a:pt x="33909" y="285115"/>
                  </a:lnTo>
                  <a:lnTo>
                    <a:pt x="16891" y="285115"/>
                  </a:lnTo>
                  <a:lnTo>
                    <a:pt x="0" y="285115"/>
                  </a:lnTo>
                  <a:moveTo>
                    <a:pt x="33909" y="285115"/>
                  </a:moveTo>
                  <a:cubicBezTo>
                    <a:pt x="33909" y="294513"/>
                    <a:pt x="26289" y="302006"/>
                    <a:pt x="17018" y="302006"/>
                  </a:cubicBezTo>
                  <a:cubicBezTo>
                    <a:pt x="7747" y="302006"/>
                    <a:pt x="0" y="294513"/>
                    <a:pt x="0" y="285115"/>
                  </a:cubicBezTo>
                  <a:cubicBezTo>
                    <a:pt x="0" y="275717"/>
                    <a:pt x="7620" y="268224"/>
                    <a:pt x="16891" y="268224"/>
                  </a:cubicBezTo>
                  <a:cubicBezTo>
                    <a:pt x="26162" y="268224"/>
                    <a:pt x="33782" y="275844"/>
                    <a:pt x="33782" y="285115"/>
                  </a:cubicBezTo>
                  <a:cubicBezTo>
                    <a:pt x="33782" y="423926"/>
                    <a:pt x="146304" y="536448"/>
                    <a:pt x="285115" y="536448"/>
                  </a:cubicBezTo>
                  <a:cubicBezTo>
                    <a:pt x="423926" y="536448"/>
                    <a:pt x="536448" y="423926"/>
                    <a:pt x="536448" y="285115"/>
                  </a:cubicBezTo>
                  <a:cubicBezTo>
                    <a:pt x="536448" y="146304"/>
                    <a:pt x="423926" y="33782"/>
                    <a:pt x="285115" y="33782"/>
                  </a:cubicBezTo>
                  <a:lnTo>
                    <a:pt x="285115" y="16891"/>
                  </a:lnTo>
                  <a:lnTo>
                    <a:pt x="285115" y="33909"/>
                  </a:lnTo>
                  <a:cubicBezTo>
                    <a:pt x="146304" y="33909"/>
                    <a:pt x="33782" y="146431"/>
                    <a:pt x="33782" y="285242"/>
                  </a:cubicBezTo>
                  <a:close/>
                </a:path>
              </a:pathLst>
            </a:custGeom>
            <a:solidFill>
              <a:srgbClr val="FF6D00"/>
            </a:solid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1521440" y="5212080"/>
            <a:ext cx="6035040" cy="877824"/>
            <a:chOff x="0" y="0"/>
            <a:chExt cx="8046720" cy="1170432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8046720" cy="1170432"/>
            </a:xfrm>
            <a:custGeom>
              <a:avLst/>
              <a:gdLst/>
              <a:ahLst/>
              <a:cxnLst/>
              <a:rect r="r" b="b" t="t" l="l"/>
              <a:pathLst>
                <a:path h="1170432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959" r="0" b="-83959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47625"/>
              <a:ext cx="804672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6D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Eliminated duplicate chunks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542287" y="6303007"/>
            <a:ext cx="17203417" cy="1073401"/>
            <a:chOff x="0" y="0"/>
            <a:chExt cx="22937889" cy="1431201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8509" y="8509"/>
              <a:ext cx="22920961" cy="1414272"/>
            </a:xfrm>
            <a:custGeom>
              <a:avLst/>
              <a:gdLst/>
              <a:ahLst/>
              <a:cxnLst/>
              <a:rect r="r" b="b" t="t" l="l"/>
              <a:pathLst>
                <a:path h="1414272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414272"/>
                  </a:lnTo>
                  <a:lnTo>
                    <a:pt x="0" y="1414272"/>
                  </a:lnTo>
                  <a:close/>
                </a:path>
              </a:pathLst>
            </a:custGeom>
            <a:solidFill>
              <a:srgbClr val="0D1F35"/>
            </a:solidFill>
          </p:spPr>
        </p:sp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2937978" cy="1431290"/>
            </a:xfrm>
            <a:custGeom>
              <a:avLst/>
              <a:gdLst/>
              <a:ahLst/>
              <a:cxnLst/>
              <a:rect r="r" b="b" t="t" l="l"/>
              <a:pathLst>
                <a:path h="1431290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422781"/>
                  </a:lnTo>
                  <a:cubicBezTo>
                    <a:pt x="22937978" y="1427480"/>
                    <a:pt x="22934169" y="1431290"/>
                    <a:pt x="22929470" y="1431290"/>
                  </a:cubicBezTo>
                  <a:lnTo>
                    <a:pt x="8509" y="1431290"/>
                  </a:lnTo>
                  <a:cubicBezTo>
                    <a:pt x="3810" y="1431290"/>
                    <a:pt x="0" y="1427480"/>
                    <a:pt x="0" y="142278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422781"/>
                  </a:lnTo>
                  <a:lnTo>
                    <a:pt x="8509" y="1422781"/>
                  </a:lnTo>
                  <a:lnTo>
                    <a:pt x="8509" y="1414272"/>
                  </a:lnTo>
                  <a:lnTo>
                    <a:pt x="22929470" y="1414272"/>
                  </a:lnTo>
                  <a:lnTo>
                    <a:pt x="22929470" y="1422781"/>
                  </a:lnTo>
                  <a:lnTo>
                    <a:pt x="22920961" y="1422781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1A3050"/>
            </a:solid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535943" y="6296663"/>
            <a:ext cx="939803" cy="1086107"/>
            <a:chOff x="0" y="0"/>
            <a:chExt cx="1253071" cy="1448143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16891" y="16891"/>
              <a:ext cx="1219200" cy="1414272"/>
            </a:xfrm>
            <a:custGeom>
              <a:avLst/>
              <a:gdLst/>
              <a:ahLst/>
              <a:cxnLst/>
              <a:rect r="r" b="b" t="t" l="l"/>
              <a:pathLst>
                <a:path h="1414272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4272"/>
                  </a:lnTo>
                  <a:lnTo>
                    <a:pt x="0" y="1414272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252982" cy="1448054"/>
            </a:xfrm>
            <a:custGeom>
              <a:avLst/>
              <a:gdLst/>
              <a:ahLst/>
              <a:cxnLst/>
              <a:rect r="r" b="b" t="t" l="l"/>
              <a:pathLst>
                <a:path h="1448054" w="1252982">
                  <a:moveTo>
                    <a:pt x="16891" y="0"/>
                  </a:moveTo>
                  <a:lnTo>
                    <a:pt x="1236091" y="0"/>
                  </a:lnTo>
                  <a:cubicBezTo>
                    <a:pt x="1245489" y="0"/>
                    <a:pt x="1252982" y="7620"/>
                    <a:pt x="1252982" y="16891"/>
                  </a:cubicBezTo>
                  <a:lnTo>
                    <a:pt x="1252982" y="1431163"/>
                  </a:lnTo>
                  <a:cubicBezTo>
                    <a:pt x="1252982" y="1440561"/>
                    <a:pt x="1245362" y="1448054"/>
                    <a:pt x="1236091" y="1448054"/>
                  </a:cubicBezTo>
                  <a:lnTo>
                    <a:pt x="16891" y="1448054"/>
                  </a:lnTo>
                  <a:cubicBezTo>
                    <a:pt x="7493" y="1448054"/>
                    <a:pt x="0" y="1440434"/>
                    <a:pt x="0" y="14311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431163"/>
                  </a:lnTo>
                  <a:lnTo>
                    <a:pt x="16891" y="1431163"/>
                  </a:lnTo>
                  <a:lnTo>
                    <a:pt x="16891" y="1414272"/>
                  </a:lnTo>
                  <a:lnTo>
                    <a:pt x="1236091" y="1414272"/>
                  </a:lnTo>
                  <a:lnTo>
                    <a:pt x="1236091" y="1431163"/>
                  </a:lnTo>
                  <a:lnTo>
                    <a:pt x="1219200" y="1431163"/>
                  </a:lnTo>
                  <a:lnTo>
                    <a:pt x="1219200" y="16891"/>
                  </a:lnTo>
                  <a:lnTo>
                    <a:pt x="1236091" y="16891"/>
                  </a:lnTo>
                  <a:lnTo>
                    <a:pt x="1236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548640" y="6309360"/>
            <a:ext cx="914400" cy="1060704"/>
            <a:chOff x="0" y="0"/>
            <a:chExt cx="1219200" cy="1414272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1219200" cy="1414272"/>
            </a:xfrm>
            <a:custGeom>
              <a:avLst/>
              <a:gdLst/>
              <a:ahLst/>
              <a:cxnLst/>
              <a:rect r="r" b="b" t="t" l="l"/>
              <a:pathLst>
                <a:path h="1414272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4272"/>
                  </a:lnTo>
                  <a:lnTo>
                    <a:pt x="0" y="14142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832" t="0" r="-98832" b="0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38100"/>
              <a:ext cx="1219200" cy="14523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04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645920" y="6400800"/>
            <a:ext cx="2560320" cy="877824"/>
            <a:chOff x="0" y="0"/>
            <a:chExt cx="3413760" cy="1170432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3413760" cy="1170432"/>
            </a:xfrm>
            <a:custGeom>
              <a:avLst/>
              <a:gdLst/>
              <a:ahLst/>
              <a:cxnLst/>
              <a:rect r="r" b="b" t="t" l="l"/>
              <a:pathLst>
                <a:path h="1170432" w="3413760">
                  <a:moveTo>
                    <a:pt x="0" y="0"/>
                  </a:moveTo>
                  <a:lnTo>
                    <a:pt x="3413760" y="0"/>
                  </a:lnTo>
                  <a:lnTo>
                    <a:pt x="341376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31" r="0" b="-6831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38100"/>
              <a:ext cx="3413760" cy="12085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Chunk Size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4389120" y="6400800"/>
            <a:ext cx="6400800" cy="877824"/>
            <a:chOff x="0" y="0"/>
            <a:chExt cx="8534400" cy="117043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8534400" cy="1170432"/>
            </a:xfrm>
            <a:custGeom>
              <a:avLst/>
              <a:gdLst/>
              <a:ahLst/>
              <a:cxnLst/>
              <a:rect r="r" b="b" t="t" l="l"/>
              <a:pathLst>
                <a:path h="1170432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2078" r="0" b="-92078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47625"/>
              <a:ext cx="853440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500 → 200 tokens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0960103" y="6625847"/>
            <a:ext cx="427739" cy="427739"/>
            <a:chOff x="0" y="0"/>
            <a:chExt cx="570319" cy="570319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16891" y="16891"/>
              <a:ext cx="536448" cy="536448"/>
            </a:xfrm>
            <a:custGeom>
              <a:avLst/>
              <a:gdLst/>
              <a:ahLst/>
              <a:cxnLst/>
              <a:rect r="r" b="b" t="t" l="l"/>
              <a:pathLst>
                <a:path h="536448" w="536448">
                  <a:moveTo>
                    <a:pt x="0" y="268224"/>
                  </a:moveTo>
                  <a:cubicBezTo>
                    <a:pt x="0" y="120142"/>
                    <a:pt x="120142" y="0"/>
                    <a:pt x="268224" y="0"/>
                  </a:cubicBezTo>
                  <a:cubicBezTo>
                    <a:pt x="416306" y="0"/>
                    <a:pt x="536448" y="120142"/>
                    <a:pt x="536448" y="268224"/>
                  </a:cubicBezTo>
                  <a:cubicBezTo>
                    <a:pt x="536448" y="416306"/>
                    <a:pt x="416306" y="536448"/>
                    <a:pt x="268224" y="536448"/>
                  </a:cubicBezTo>
                  <a:cubicBezTo>
                    <a:pt x="120142" y="536448"/>
                    <a:pt x="0" y="416433"/>
                    <a:pt x="0" y="268224"/>
                  </a:cubicBezTo>
                  <a:close/>
                </a:path>
              </a:pathLst>
            </a:custGeom>
            <a:solidFill>
              <a:srgbClr val="FFD700"/>
            </a:solidFill>
          </p:spPr>
        </p:sp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570230" cy="570230"/>
            </a:xfrm>
            <a:custGeom>
              <a:avLst/>
              <a:gdLst/>
              <a:ahLst/>
              <a:cxnLst/>
              <a:rect r="r" b="b" t="t" l="l"/>
              <a:pathLst>
                <a:path h="570230" w="570230">
                  <a:moveTo>
                    <a:pt x="0" y="285115"/>
                  </a:moveTo>
                  <a:cubicBezTo>
                    <a:pt x="0" y="127635"/>
                    <a:pt x="127635" y="0"/>
                    <a:pt x="285115" y="0"/>
                  </a:cubicBezTo>
                  <a:lnTo>
                    <a:pt x="285115" y="16891"/>
                  </a:lnTo>
                  <a:lnTo>
                    <a:pt x="285115" y="0"/>
                  </a:lnTo>
                  <a:cubicBezTo>
                    <a:pt x="442595" y="0"/>
                    <a:pt x="570230" y="127635"/>
                    <a:pt x="570230" y="285115"/>
                  </a:cubicBezTo>
                  <a:lnTo>
                    <a:pt x="553339" y="285115"/>
                  </a:lnTo>
                  <a:lnTo>
                    <a:pt x="570230" y="285115"/>
                  </a:lnTo>
                  <a:cubicBezTo>
                    <a:pt x="570230" y="442595"/>
                    <a:pt x="442595" y="570230"/>
                    <a:pt x="285115" y="570230"/>
                  </a:cubicBezTo>
                  <a:lnTo>
                    <a:pt x="285115" y="553339"/>
                  </a:lnTo>
                  <a:lnTo>
                    <a:pt x="285115" y="570230"/>
                  </a:lnTo>
                  <a:cubicBezTo>
                    <a:pt x="127635" y="570357"/>
                    <a:pt x="0" y="442595"/>
                    <a:pt x="0" y="285115"/>
                  </a:cubicBezTo>
                  <a:lnTo>
                    <a:pt x="16891" y="285115"/>
                  </a:lnTo>
                  <a:lnTo>
                    <a:pt x="33909" y="285115"/>
                  </a:lnTo>
                  <a:lnTo>
                    <a:pt x="16891" y="285115"/>
                  </a:lnTo>
                  <a:lnTo>
                    <a:pt x="0" y="285115"/>
                  </a:lnTo>
                  <a:moveTo>
                    <a:pt x="33909" y="285115"/>
                  </a:moveTo>
                  <a:cubicBezTo>
                    <a:pt x="33909" y="294513"/>
                    <a:pt x="26289" y="302006"/>
                    <a:pt x="17018" y="302006"/>
                  </a:cubicBezTo>
                  <a:cubicBezTo>
                    <a:pt x="7747" y="302006"/>
                    <a:pt x="0" y="294513"/>
                    <a:pt x="0" y="285115"/>
                  </a:cubicBezTo>
                  <a:cubicBezTo>
                    <a:pt x="0" y="275717"/>
                    <a:pt x="7620" y="268224"/>
                    <a:pt x="16891" y="268224"/>
                  </a:cubicBezTo>
                  <a:cubicBezTo>
                    <a:pt x="26162" y="268224"/>
                    <a:pt x="33782" y="275844"/>
                    <a:pt x="33782" y="285115"/>
                  </a:cubicBezTo>
                  <a:cubicBezTo>
                    <a:pt x="33782" y="423926"/>
                    <a:pt x="146304" y="536448"/>
                    <a:pt x="285115" y="536448"/>
                  </a:cubicBezTo>
                  <a:cubicBezTo>
                    <a:pt x="423926" y="536448"/>
                    <a:pt x="536448" y="423926"/>
                    <a:pt x="536448" y="285115"/>
                  </a:cubicBezTo>
                  <a:cubicBezTo>
                    <a:pt x="536448" y="146304"/>
                    <a:pt x="423926" y="33782"/>
                    <a:pt x="285115" y="33782"/>
                  </a:cubicBezTo>
                  <a:lnTo>
                    <a:pt x="285115" y="16891"/>
                  </a:lnTo>
                  <a:lnTo>
                    <a:pt x="285115" y="33909"/>
                  </a:lnTo>
                  <a:cubicBezTo>
                    <a:pt x="146304" y="33909"/>
                    <a:pt x="33782" y="146431"/>
                    <a:pt x="33782" y="285242"/>
                  </a:cubicBezTo>
                  <a:close/>
                </a:path>
              </a:pathLst>
            </a:custGeom>
            <a:solidFill>
              <a:srgbClr val="FFD700"/>
            </a:solid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1521440" y="6400800"/>
            <a:ext cx="6035040" cy="877824"/>
            <a:chOff x="0" y="0"/>
            <a:chExt cx="8046720" cy="1170432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8046720" cy="1170432"/>
            </a:xfrm>
            <a:custGeom>
              <a:avLst/>
              <a:gdLst/>
              <a:ahLst/>
              <a:cxnLst/>
              <a:rect r="r" b="b" t="t" l="l"/>
              <a:pathLst>
                <a:path h="1170432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959" r="0" b="-83959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47625"/>
              <a:ext cx="804672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D7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Precise retrieval, no redundancy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542287" y="7491727"/>
            <a:ext cx="17203417" cy="1073401"/>
            <a:chOff x="0" y="0"/>
            <a:chExt cx="22937889" cy="1431201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8509" y="8509"/>
              <a:ext cx="22920961" cy="1414272"/>
            </a:xfrm>
            <a:custGeom>
              <a:avLst/>
              <a:gdLst/>
              <a:ahLst/>
              <a:cxnLst/>
              <a:rect r="r" b="b" t="t" l="l"/>
              <a:pathLst>
                <a:path h="1414272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414272"/>
                  </a:lnTo>
                  <a:lnTo>
                    <a:pt x="0" y="1414272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2937978" cy="1431290"/>
            </a:xfrm>
            <a:custGeom>
              <a:avLst/>
              <a:gdLst/>
              <a:ahLst/>
              <a:cxnLst/>
              <a:rect r="r" b="b" t="t" l="l"/>
              <a:pathLst>
                <a:path h="1431290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422781"/>
                  </a:lnTo>
                  <a:cubicBezTo>
                    <a:pt x="22937978" y="1427480"/>
                    <a:pt x="22934169" y="1431290"/>
                    <a:pt x="22929470" y="1431290"/>
                  </a:cubicBezTo>
                  <a:lnTo>
                    <a:pt x="8509" y="1431290"/>
                  </a:lnTo>
                  <a:cubicBezTo>
                    <a:pt x="3810" y="1431290"/>
                    <a:pt x="0" y="1427480"/>
                    <a:pt x="0" y="142278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422781"/>
                  </a:lnTo>
                  <a:lnTo>
                    <a:pt x="8509" y="1422781"/>
                  </a:lnTo>
                  <a:lnTo>
                    <a:pt x="8509" y="1414272"/>
                  </a:lnTo>
                  <a:lnTo>
                    <a:pt x="22929470" y="1414272"/>
                  </a:lnTo>
                  <a:lnTo>
                    <a:pt x="22929470" y="1422781"/>
                  </a:lnTo>
                  <a:lnTo>
                    <a:pt x="22920961" y="1422781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1A3050"/>
            </a:solidFill>
          </p:spPr>
        </p:sp>
      </p:grpSp>
      <p:grpSp>
        <p:nvGrpSpPr>
          <p:cNvPr name="Group 98" id="98"/>
          <p:cNvGrpSpPr/>
          <p:nvPr/>
        </p:nvGrpSpPr>
        <p:grpSpPr>
          <a:xfrm rot="0">
            <a:off x="535943" y="7485383"/>
            <a:ext cx="939803" cy="1086107"/>
            <a:chOff x="0" y="0"/>
            <a:chExt cx="1253071" cy="1448143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16891" y="16891"/>
              <a:ext cx="1219200" cy="1414272"/>
            </a:xfrm>
            <a:custGeom>
              <a:avLst/>
              <a:gdLst/>
              <a:ahLst/>
              <a:cxnLst/>
              <a:rect r="r" b="b" t="t" l="l"/>
              <a:pathLst>
                <a:path h="1414272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4272"/>
                  </a:lnTo>
                  <a:lnTo>
                    <a:pt x="0" y="1414272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1252982" cy="1448054"/>
            </a:xfrm>
            <a:custGeom>
              <a:avLst/>
              <a:gdLst/>
              <a:ahLst/>
              <a:cxnLst/>
              <a:rect r="r" b="b" t="t" l="l"/>
              <a:pathLst>
                <a:path h="1448054" w="1252982">
                  <a:moveTo>
                    <a:pt x="16891" y="0"/>
                  </a:moveTo>
                  <a:lnTo>
                    <a:pt x="1236091" y="0"/>
                  </a:lnTo>
                  <a:cubicBezTo>
                    <a:pt x="1245489" y="0"/>
                    <a:pt x="1252982" y="7620"/>
                    <a:pt x="1252982" y="16891"/>
                  </a:cubicBezTo>
                  <a:lnTo>
                    <a:pt x="1252982" y="1431163"/>
                  </a:lnTo>
                  <a:cubicBezTo>
                    <a:pt x="1252982" y="1440561"/>
                    <a:pt x="1245362" y="1448054"/>
                    <a:pt x="1236091" y="1448054"/>
                  </a:cubicBezTo>
                  <a:lnTo>
                    <a:pt x="16891" y="1448054"/>
                  </a:lnTo>
                  <a:cubicBezTo>
                    <a:pt x="7493" y="1448054"/>
                    <a:pt x="0" y="1440434"/>
                    <a:pt x="0" y="14311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431163"/>
                  </a:lnTo>
                  <a:lnTo>
                    <a:pt x="16891" y="1431163"/>
                  </a:lnTo>
                  <a:lnTo>
                    <a:pt x="16891" y="1414272"/>
                  </a:lnTo>
                  <a:lnTo>
                    <a:pt x="1236091" y="1414272"/>
                  </a:lnTo>
                  <a:lnTo>
                    <a:pt x="1236091" y="1431163"/>
                  </a:lnTo>
                  <a:lnTo>
                    <a:pt x="1219200" y="1431163"/>
                  </a:lnTo>
                  <a:lnTo>
                    <a:pt x="1219200" y="16891"/>
                  </a:lnTo>
                  <a:lnTo>
                    <a:pt x="1236091" y="16891"/>
                  </a:lnTo>
                  <a:lnTo>
                    <a:pt x="1236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548640" y="7498080"/>
            <a:ext cx="914400" cy="1060704"/>
            <a:chOff x="0" y="0"/>
            <a:chExt cx="1219200" cy="1414272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1219200" cy="1414272"/>
            </a:xfrm>
            <a:custGeom>
              <a:avLst/>
              <a:gdLst/>
              <a:ahLst/>
              <a:cxnLst/>
              <a:rect r="r" b="b" t="t" l="l"/>
              <a:pathLst>
                <a:path h="1414272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4272"/>
                  </a:lnTo>
                  <a:lnTo>
                    <a:pt x="0" y="14142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832" t="0" r="-98832" b="0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-38100"/>
              <a:ext cx="1219200" cy="14523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05</a:t>
              </a:r>
            </a:p>
          </p:txBody>
        </p:sp>
      </p:grpSp>
      <p:grpSp>
        <p:nvGrpSpPr>
          <p:cNvPr name="Group 104" id="104"/>
          <p:cNvGrpSpPr/>
          <p:nvPr/>
        </p:nvGrpSpPr>
        <p:grpSpPr>
          <a:xfrm rot="0">
            <a:off x="1645920" y="7589520"/>
            <a:ext cx="2560320" cy="877824"/>
            <a:chOff x="0" y="0"/>
            <a:chExt cx="3413760" cy="1170432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3413760" cy="1170432"/>
            </a:xfrm>
            <a:custGeom>
              <a:avLst/>
              <a:gdLst/>
              <a:ahLst/>
              <a:cxnLst/>
              <a:rect r="r" b="b" t="t" l="l"/>
              <a:pathLst>
                <a:path h="1170432" w="3413760">
                  <a:moveTo>
                    <a:pt x="0" y="0"/>
                  </a:moveTo>
                  <a:lnTo>
                    <a:pt x="3413760" y="0"/>
                  </a:lnTo>
                  <a:lnTo>
                    <a:pt x="341376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31" r="0" b="-6831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38100"/>
              <a:ext cx="3413760" cy="12085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Output Tokens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4389120" y="7589520"/>
            <a:ext cx="6400800" cy="877824"/>
            <a:chOff x="0" y="0"/>
            <a:chExt cx="8534400" cy="1170432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8534400" cy="1170432"/>
            </a:xfrm>
            <a:custGeom>
              <a:avLst/>
              <a:gdLst/>
              <a:ahLst/>
              <a:cxnLst/>
              <a:rect r="r" b="b" t="t" l="l"/>
              <a:pathLst>
                <a:path h="1170432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2078" r="0" b="-92078"/>
              </a:stretch>
            </a:blipFill>
          </p:spPr>
        </p:sp>
        <p:sp>
          <p:nvSpPr>
            <p:cNvPr name="TextBox 109" id="109"/>
            <p:cNvSpPr txBox="true"/>
            <p:nvPr/>
          </p:nvSpPr>
          <p:spPr>
            <a:xfrm>
              <a:off x="0" y="-47625"/>
              <a:ext cx="853440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unlimited → num_predict=200</a:t>
              </a:r>
            </a:p>
          </p:txBody>
        </p:sp>
      </p:grpSp>
      <p:grpSp>
        <p:nvGrpSpPr>
          <p:cNvPr name="Group 110" id="110"/>
          <p:cNvGrpSpPr/>
          <p:nvPr/>
        </p:nvGrpSpPr>
        <p:grpSpPr>
          <a:xfrm rot="0">
            <a:off x="10960103" y="7814567"/>
            <a:ext cx="427739" cy="427739"/>
            <a:chOff x="0" y="0"/>
            <a:chExt cx="570319" cy="570319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16891" y="16891"/>
              <a:ext cx="536448" cy="536448"/>
            </a:xfrm>
            <a:custGeom>
              <a:avLst/>
              <a:gdLst/>
              <a:ahLst/>
              <a:cxnLst/>
              <a:rect r="r" b="b" t="t" l="l"/>
              <a:pathLst>
                <a:path h="536448" w="536448">
                  <a:moveTo>
                    <a:pt x="0" y="268224"/>
                  </a:moveTo>
                  <a:cubicBezTo>
                    <a:pt x="0" y="120142"/>
                    <a:pt x="120142" y="0"/>
                    <a:pt x="268224" y="0"/>
                  </a:cubicBezTo>
                  <a:cubicBezTo>
                    <a:pt x="416306" y="0"/>
                    <a:pt x="536448" y="120142"/>
                    <a:pt x="536448" y="268224"/>
                  </a:cubicBezTo>
                  <a:cubicBezTo>
                    <a:pt x="536448" y="416306"/>
                    <a:pt x="416306" y="536448"/>
                    <a:pt x="268224" y="536448"/>
                  </a:cubicBezTo>
                  <a:cubicBezTo>
                    <a:pt x="120142" y="536448"/>
                    <a:pt x="0" y="416433"/>
                    <a:pt x="0" y="268224"/>
                  </a:cubicBezTo>
                  <a:close/>
                </a:path>
              </a:pathLst>
            </a:custGeom>
            <a:solidFill>
              <a:srgbClr val="00C853"/>
            </a:solidFill>
          </p:spPr>
        </p:sp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570230" cy="570230"/>
            </a:xfrm>
            <a:custGeom>
              <a:avLst/>
              <a:gdLst/>
              <a:ahLst/>
              <a:cxnLst/>
              <a:rect r="r" b="b" t="t" l="l"/>
              <a:pathLst>
                <a:path h="570230" w="570230">
                  <a:moveTo>
                    <a:pt x="0" y="285115"/>
                  </a:moveTo>
                  <a:cubicBezTo>
                    <a:pt x="0" y="127635"/>
                    <a:pt x="127635" y="0"/>
                    <a:pt x="285115" y="0"/>
                  </a:cubicBezTo>
                  <a:lnTo>
                    <a:pt x="285115" y="16891"/>
                  </a:lnTo>
                  <a:lnTo>
                    <a:pt x="285115" y="0"/>
                  </a:lnTo>
                  <a:cubicBezTo>
                    <a:pt x="442595" y="0"/>
                    <a:pt x="570230" y="127635"/>
                    <a:pt x="570230" y="285115"/>
                  </a:cubicBezTo>
                  <a:lnTo>
                    <a:pt x="553339" y="285115"/>
                  </a:lnTo>
                  <a:lnTo>
                    <a:pt x="570230" y="285115"/>
                  </a:lnTo>
                  <a:cubicBezTo>
                    <a:pt x="570230" y="442595"/>
                    <a:pt x="442595" y="570230"/>
                    <a:pt x="285115" y="570230"/>
                  </a:cubicBezTo>
                  <a:lnTo>
                    <a:pt x="285115" y="553339"/>
                  </a:lnTo>
                  <a:lnTo>
                    <a:pt x="285115" y="570230"/>
                  </a:lnTo>
                  <a:cubicBezTo>
                    <a:pt x="127635" y="570357"/>
                    <a:pt x="0" y="442595"/>
                    <a:pt x="0" y="285115"/>
                  </a:cubicBezTo>
                  <a:lnTo>
                    <a:pt x="16891" y="285115"/>
                  </a:lnTo>
                  <a:lnTo>
                    <a:pt x="33909" y="285115"/>
                  </a:lnTo>
                  <a:lnTo>
                    <a:pt x="16891" y="285115"/>
                  </a:lnTo>
                  <a:lnTo>
                    <a:pt x="0" y="285115"/>
                  </a:lnTo>
                  <a:moveTo>
                    <a:pt x="33909" y="285115"/>
                  </a:moveTo>
                  <a:cubicBezTo>
                    <a:pt x="33909" y="294513"/>
                    <a:pt x="26289" y="302006"/>
                    <a:pt x="17018" y="302006"/>
                  </a:cubicBezTo>
                  <a:cubicBezTo>
                    <a:pt x="7747" y="302006"/>
                    <a:pt x="0" y="294513"/>
                    <a:pt x="0" y="285115"/>
                  </a:cubicBezTo>
                  <a:cubicBezTo>
                    <a:pt x="0" y="275717"/>
                    <a:pt x="7620" y="268224"/>
                    <a:pt x="16891" y="268224"/>
                  </a:cubicBezTo>
                  <a:cubicBezTo>
                    <a:pt x="26162" y="268224"/>
                    <a:pt x="33782" y="275844"/>
                    <a:pt x="33782" y="285115"/>
                  </a:cubicBezTo>
                  <a:cubicBezTo>
                    <a:pt x="33782" y="423926"/>
                    <a:pt x="146304" y="536448"/>
                    <a:pt x="285115" y="536448"/>
                  </a:cubicBezTo>
                  <a:cubicBezTo>
                    <a:pt x="423926" y="536448"/>
                    <a:pt x="536448" y="423926"/>
                    <a:pt x="536448" y="285115"/>
                  </a:cubicBezTo>
                  <a:cubicBezTo>
                    <a:pt x="536448" y="146304"/>
                    <a:pt x="423926" y="33782"/>
                    <a:pt x="285115" y="33782"/>
                  </a:cubicBezTo>
                  <a:lnTo>
                    <a:pt x="285115" y="16891"/>
                  </a:lnTo>
                  <a:lnTo>
                    <a:pt x="285115" y="33909"/>
                  </a:lnTo>
                  <a:cubicBezTo>
                    <a:pt x="146304" y="33909"/>
                    <a:pt x="33782" y="146431"/>
                    <a:pt x="33782" y="285242"/>
                  </a:cubicBezTo>
                  <a:close/>
                </a:path>
              </a:pathLst>
            </a:custGeom>
            <a:solidFill>
              <a:srgbClr val="00C853"/>
            </a:solidFill>
          </p:spPr>
        </p:sp>
      </p:grpSp>
      <p:grpSp>
        <p:nvGrpSpPr>
          <p:cNvPr name="Group 113" id="113"/>
          <p:cNvGrpSpPr/>
          <p:nvPr/>
        </p:nvGrpSpPr>
        <p:grpSpPr>
          <a:xfrm rot="0">
            <a:off x="11521440" y="7589520"/>
            <a:ext cx="6035040" cy="877824"/>
            <a:chOff x="0" y="0"/>
            <a:chExt cx="8046720" cy="1170432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8046720" cy="1170432"/>
            </a:xfrm>
            <a:custGeom>
              <a:avLst/>
              <a:gdLst/>
              <a:ahLst/>
              <a:cxnLst/>
              <a:rect r="r" b="b" t="t" l="l"/>
              <a:pathLst>
                <a:path h="1170432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959" r="0" b="-83959"/>
              </a:stretch>
            </a:blipFill>
          </p:spPr>
        </p:sp>
        <p:sp>
          <p:nvSpPr>
            <p:cNvPr name="TextBox 115" id="115"/>
            <p:cNvSpPr txBox="true"/>
            <p:nvPr/>
          </p:nvSpPr>
          <p:spPr>
            <a:xfrm>
              <a:off x="0" y="-47625"/>
              <a:ext cx="804672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00C85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Faster generation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542287" y="8680447"/>
            <a:ext cx="17203417" cy="1073401"/>
            <a:chOff x="0" y="0"/>
            <a:chExt cx="22937889" cy="1431201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8509" y="8509"/>
              <a:ext cx="22920961" cy="1414272"/>
            </a:xfrm>
            <a:custGeom>
              <a:avLst/>
              <a:gdLst/>
              <a:ahLst/>
              <a:cxnLst/>
              <a:rect r="r" b="b" t="t" l="l"/>
              <a:pathLst>
                <a:path h="1414272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414272"/>
                  </a:lnTo>
                  <a:lnTo>
                    <a:pt x="0" y="1414272"/>
                  </a:lnTo>
                  <a:close/>
                </a:path>
              </a:pathLst>
            </a:custGeom>
            <a:solidFill>
              <a:srgbClr val="0D1F35"/>
            </a:solidFill>
          </p:spPr>
        </p:sp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2937978" cy="1431290"/>
            </a:xfrm>
            <a:custGeom>
              <a:avLst/>
              <a:gdLst/>
              <a:ahLst/>
              <a:cxnLst/>
              <a:rect r="r" b="b" t="t" l="l"/>
              <a:pathLst>
                <a:path h="1431290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422781"/>
                  </a:lnTo>
                  <a:cubicBezTo>
                    <a:pt x="22937978" y="1427480"/>
                    <a:pt x="22934169" y="1431290"/>
                    <a:pt x="22929470" y="1431290"/>
                  </a:cubicBezTo>
                  <a:lnTo>
                    <a:pt x="8509" y="1431290"/>
                  </a:lnTo>
                  <a:cubicBezTo>
                    <a:pt x="3810" y="1431290"/>
                    <a:pt x="0" y="1427480"/>
                    <a:pt x="0" y="142278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422781"/>
                  </a:lnTo>
                  <a:lnTo>
                    <a:pt x="8509" y="1422781"/>
                  </a:lnTo>
                  <a:lnTo>
                    <a:pt x="8509" y="1414272"/>
                  </a:lnTo>
                  <a:lnTo>
                    <a:pt x="22929470" y="1414272"/>
                  </a:lnTo>
                  <a:lnTo>
                    <a:pt x="22929470" y="1422781"/>
                  </a:lnTo>
                  <a:lnTo>
                    <a:pt x="22920961" y="1422781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1A3050"/>
            </a:solid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535943" y="8674103"/>
            <a:ext cx="939803" cy="1086107"/>
            <a:chOff x="0" y="0"/>
            <a:chExt cx="1253071" cy="1448143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16891" y="16891"/>
              <a:ext cx="1219200" cy="1414272"/>
            </a:xfrm>
            <a:custGeom>
              <a:avLst/>
              <a:gdLst/>
              <a:ahLst/>
              <a:cxnLst/>
              <a:rect r="r" b="b" t="t" l="l"/>
              <a:pathLst>
                <a:path h="1414272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4272"/>
                  </a:lnTo>
                  <a:lnTo>
                    <a:pt x="0" y="1414272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1252982" cy="1448054"/>
            </a:xfrm>
            <a:custGeom>
              <a:avLst/>
              <a:gdLst/>
              <a:ahLst/>
              <a:cxnLst/>
              <a:rect r="r" b="b" t="t" l="l"/>
              <a:pathLst>
                <a:path h="1448054" w="1252982">
                  <a:moveTo>
                    <a:pt x="16891" y="0"/>
                  </a:moveTo>
                  <a:lnTo>
                    <a:pt x="1236091" y="0"/>
                  </a:lnTo>
                  <a:cubicBezTo>
                    <a:pt x="1245489" y="0"/>
                    <a:pt x="1252982" y="7620"/>
                    <a:pt x="1252982" y="16891"/>
                  </a:cubicBezTo>
                  <a:lnTo>
                    <a:pt x="1252982" y="1431163"/>
                  </a:lnTo>
                  <a:cubicBezTo>
                    <a:pt x="1252982" y="1440561"/>
                    <a:pt x="1245362" y="1448054"/>
                    <a:pt x="1236091" y="1448054"/>
                  </a:cubicBezTo>
                  <a:lnTo>
                    <a:pt x="16891" y="1448054"/>
                  </a:lnTo>
                  <a:cubicBezTo>
                    <a:pt x="7493" y="1448054"/>
                    <a:pt x="0" y="1440434"/>
                    <a:pt x="0" y="14311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431163"/>
                  </a:lnTo>
                  <a:lnTo>
                    <a:pt x="16891" y="1431163"/>
                  </a:lnTo>
                  <a:lnTo>
                    <a:pt x="16891" y="1414272"/>
                  </a:lnTo>
                  <a:lnTo>
                    <a:pt x="1236091" y="1414272"/>
                  </a:lnTo>
                  <a:lnTo>
                    <a:pt x="1236091" y="1431163"/>
                  </a:lnTo>
                  <a:lnTo>
                    <a:pt x="1219200" y="1431163"/>
                  </a:lnTo>
                  <a:lnTo>
                    <a:pt x="1219200" y="16891"/>
                  </a:lnTo>
                  <a:lnTo>
                    <a:pt x="1236091" y="16891"/>
                  </a:lnTo>
                  <a:lnTo>
                    <a:pt x="1236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22" id="122"/>
          <p:cNvGrpSpPr/>
          <p:nvPr/>
        </p:nvGrpSpPr>
        <p:grpSpPr>
          <a:xfrm rot="0">
            <a:off x="548640" y="8686800"/>
            <a:ext cx="914400" cy="1060704"/>
            <a:chOff x="0" y="0"/>
            <a:chExt cx="1219200" cy="1414272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1219200" cy="1414272"/>
            </a:xfrm>
            <a:custGeom>
              <a:avLst/>
              <a:gdLst/>
              <a:ahLst/>
              <a:cxnLst/>
              <a:rect r="r" b="b" t="t" l="l"/>
              <a:pathLst>
                <a:path h="1414272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414272"/>
                  </a:lnTo>
                  <a:lnTo>
                    <a:pt x="0" y="14142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832" t="0" r="-98832" b="0"/>
              </a:stretch>
            </a:blipFill>
          </p:spPr>
        </p:sp>
        <p:sp>
          <p:nvSpPr>
            <p:cNvPr name="TextBox 124" id="124"/>
            <p:cNvSpPr txBox="true"/>
            <p:nvPr/>
          </p:nvSpPr>
          <p:spPr>
            <a:xfrm>
              <a:off x="0" y="-38100"/>
              <a:ext cx="1219200" cy="14523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06</a:t>
              </a:r>
            </a:p>
          </p:txBody>
        </p:sp>
      </p:grpSp>
      <p:grpSp>
        <p:nvGrpSpPr>
          <p:cNvPr name="Group 125" id="125"/>
          <p:cNvGrpSpPr/>
          <p:nvPr/>
        </p:nvGrpSpPr>
        <p:grpSpPr>
          <a:xfrm rot="0">
            <a:off x="1645920" y="8778240"/>
            <a:ext cx="2560320" cy="877824"/>
            <a:chOff x="0" y="0"/>
            <a:chExt cx="3413760" cy="1170432"/>
          </a:xfrm>
        </p:grpSpPr>
        <p:sp>
          <p:nvSpPr>
            <p:cNvPr name="Freeform 126" id="126"/>
            <p:cNvSpPr/>
            <p:nvPr/>
          </p:nvSpPr>
          <p:spPr>
            <a:xfrm flipH="false" flipV="false" rot="0">
              <a:off x="0" y="0"/>
              <a:ext cx="3413760" cy="1170432"/>
            </a:xfrm>
            <a:custGeom>
              <a:avLst/>
              <a:gdLst/>
              <a:ahLst/>
              <a:cxnLst/>
              <a:rect r="r" b="b" t="t" l="l"/>
              <a:pathLst>
                <a:path h="1170432" w="3413760">
                  <a:moveTo>
                    <a:pt x="0" y="0"/>
                  </a:moveTo>
                  <a:lnTo>
                    <a:pt x="3413760" y="0"/>
                  </a:lnTo>
                  <a:lnTo>
                    <a:pt x="341376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31" r="0" b="-6831"/>
              </a:stretch>
            </a:blipFill>
          </p:spPr>
        </p:sp>
        <p:sp>
          <p:nvSpPr>
            <p:cNvPr name="TextBox 127" id="127"/>
            <p:cNvSpPr txBox="true"/>
            <p:nvPr/>
          </p:nvSpPr>
          <p:spPr>
            <a:xfrm>
              <a:off x="0" y="-38100"/>
              <a:ext cx="3413760" cy="12085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4DA6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Top-K</a:t>
              </a:r>
            </a:p>
          </p:txBody>
        </p:sp>
      </p:grpSp>
      <p:grpSp>
        <p:nvGrpSpPr>
          <p:cNvPr name="Group 128" id="128"/>
          <p:cNvGrpSpPr/>
          <p:nvPr/>
        </p:nvGrpSpPr>
        <p:grpSpPr>
          <a:xfrm rot="0">
            <a:off x="4389120" y="8778240"/>
            <a:ext cx="6400800" cy="877824"/>
            <a:chOff x="0" y="0"/>
            <a:chExt cx="8534400" cy="1170432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8534400" cy="1170432"/>
            </a:xfrm>
            <a:custGeom>
              <a:avLst/>
              <a:gdLst/>
              <a:ahLst/>
              <a:cxnLst/>
              <a:rect r="r" b="b" t="t" l="l"/>
              <a:pathLst>
                <a:path h="1170432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2078" r="0" b="-92078"/>
              </a:stretch>
            </a:blipFill>
          </p:spPr>
        </p:sp>
        <p:sp>
          <p:nvSpPr>
            <p:cNvPr name="TextBox 130" id="130"/>
            <p:cNvSpPr txBox="true"/>
            <p:nvPr/>
          </p:nvSpPr>
          <p:spPr>
            <a:xfrm>
              <a:off x="0" y="-47625"/>
              <a:ext cx="853440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 → 3 chunks</a:t>
              </a:r>
            </a:p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10960103" y="9003287"/>
            <a:ext cx="427739" cy="427739"/>
            <a:chOff x="0" y="0"/>
            <a:chExt cx="570319" cy="570319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16891" y="16891"/>
              <a:ext cx="536448" cy="536448"/>
            </a:xfrm>
            <a:custGeom>
              <a:avLst/>
              <a:gdLst/>
              <a:ahLst/>
              <a:cxnLst/>
              <a:rect r="r" b="b" t="t" l="l"/>
              <a:pathLst>
                <a:path h="536448" w="536448">
                  <a:moveTo>
                    <a:pt x="0" y="268224"/>
                  </a:moveTo>
                  <a:cubicBezTo>
                    <a:pt x="0" y="120142"/>
                    <a:pt x="120142" y="0"/>
                    <a:pt x="268224" y="0"/>
                  </a:cubicBezTo>
                  <a:cubicBezTo>
                    <a:pt x="416306" y="0"/>
                    <a:pt x="536448" y="120142"/>
                    <a:pt x="536448" y="268224"/>
                  </a:cubicBezTo>
                  <a:cubicBezTo>
                    <a:pt x="536448" y="416306"/>
                    <a:pt x="416306" y="536448"/>
                    <a:pt x="268224" y="536448"/>
                  </a:cubicBezTo>
                  <a:cubicBezTo>
                    <a:pt x="120142" y="536448"/>
                    <a:pt x="0" y="416433"/>
                    <a:pt x="0" y="268224"/>
                  </a:cubicBezTo>
                  <a:close/>
                </a:path>
              </a:pathLst>
            </a:custGeom>
            <a:solidFill>
              <a:srgbClr val="00C853"/>
            </a:solidFill>
          </p:spPr>
        </p:sp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570230" cy="570230"/>
            </a:xfrm>
            <a:custGeom>
              <a:avLst/>
              <a:gdLst/>
              <a:ahLst/>
              <a:cxnLst/>
              <a:rect r="r" b="b" t="t" l="l"/>
              <a:pathLst>
                <a:path h="570230" w="570230">
                  <a:moveTo>
                    <a:pt x="0" y="285115"/>
                  </a:moveTo>
                  <a:cubicBezTo>
                    <a:pt x="0" y="127635"/>
                    <a:pt x="127635" y="0"/>
                    <a:pt x="285115" y="0"/>
                  </a:cubicBezTo>
                  <a:lnTo>
                    <a:pt x="285115" y="16891"/>
                  </a:lnTo>
                  <a:lnTo>
                    <a:pt x="285115" y="0"/>
                  </a:lnTo>
                  <a:cubicBezTo>
                    <a:pt x="442595" y="0"/>
                    <a:pt x="570230" y="127635"/>
                    <a:pt x="570230" y="285115"/>
                  </a:cubicBezTo>
                  <a:lnTo>
                    <a:pt x="553339" y="285115"/>
                  </a:lnTo>
                  <a:lnTo>
                    <a:pt x="570230" y="285115"/>
                  </a:lnTo>
                  <a:cubicBezTo>
                    <a:pt x="570230" y="442595"/>
                    <a:pt x="442595" y="570230"/>
                    <a:pt x="285115" y="570230"/>
                  </a:cubicBezTo>
                  <a:lnTo>
                    <a:pt x="285115" y="553339"/>
                  </a:lnTo>
                  <a:lnTo>
                    <a:pt x="285115" y="570230"/>
                  </a:lnTo>
                  <a:cubicBezTo>
                    <a:pt x="127635" y="570357"/>
                    <a:pt x="0" y="442595"/>
                    <a:pt x="0" y="285115"/>
                  </a:cubicBezTo>
                  <a:lnTo>
                    <a:pt x="16891" y="285115"/>
                  </a:lnTo>
                  <a:lnTo>
                    <a:pt x="33909" y="285115"/>
                  </a:lnTo>
                  <a:lnTo>
                    <a:pt x="16891" y="285115"/>
                  </a:lnTo>
                  <a:lnTo>
                    <a:pt x="0" y="285115"/>
                  </a:lnTo>
                  <a:moveTo>
                    <a:pt x="33909" y="285115"/>
                  </a:moveTo>
                  <a:cubicBezTo>
                    <a:pt x="33909" y="294513"/>
                    <a:pt x="26289" y="302006"/>
                    <a:pt x="17018" y="302006"/>
                  </a:cubicBezTo>
                  <a:cubicBezTo>
                    <a:pt x="7747" y="302006"/>
                    <a:pt x="0" y="294513"/>
                    <a:pt x="0" y="285115"/>
                  </a:cubicBezTo>
                  <a:cubicBezTo>
                    <a:pt x="0" y="275717"/>
                    <a:pt x="7620" y="268224"/>
                    <a:pt x="16891" y="268224"/>
                  </a:cubicBezTo>
                  <a:cubicBezTo>
                    <a:pt x="26162" y="268224"/>
                    <a:pt x="33782" y="275844"/>
                    <a:pt x="33782" y="285115"/>
                  </a:cubicBezTo>
                  <a:cubicBezTo>
                    <a:pt x="33782" y="423926"/>
                    <a:pt x="146304" y="536448"/>
                    <a:pt x="285115" y="536448"/>
                  </a:cubicBezTo>
                  <a:cubicBezTo>
                    <a:pt x="423926" y="536448"/>
                    <a:pt x="536448" y="423926"/>
                    <a:pt x="536448" y="285115"/>
                  </a:cubicBezTo>
                  <a:cubicBezTo>
                    <a:pt x="536448" y="146304"/>
                    <a:pt x="423926" y="33782"/>
                    <a:pt x="285115" y="33782"/>
                  </a:cubicBezTo>
                  <a:lnTo>
                    <a:pt x="285115" y="16891"/>
                  </a:lnTo>
                  <a:lnTo>
                    <a:pt x="285115" y="33909"/>
                  </a:lnTo>
                  <a:cubicBezTo>
                    <a:pt x="146304" y="33909"/>
                    <a:pt x="33782" y="146431"/>
                    <a:pt x="33782" y="285242"/>
                  </a:cubicBezTo>
                  <a:close/>
                </a:path>
              </a:pathLst>
            </a:custGeom>
            <a:solidFill>
              <a:srgbClr val="00C853"/>
            </a:solidFill>
          </p:spPr>
        </p:sp>
      </p:grpSp>
      <p:grpSp>
        <p:nvGrpSpPr>
          <p:cNvPr name="Group 134" id="134"/>
          <p:cNvGrpSpPr/>
          <p:nvPr/>
        </p:nvGrpSpPr>
        <p:grpSpPr>
          <a:xfrm rot="0">
            <a:off x="11521440" y="8778240"/>
            <a:ext cx="6035040" cy="877824"/>
            <a:chOff x="0" y="0"/>
            <a:chExt cx="8046720" cy="1170432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8046720" cy="1170432"/>
            </a:xfrm>
            <a:custGeom>
              <a:avLst/>
              <a:gdLst/>
              <a:ahLst/>
              <a:cxnLst/>
              <a:rect r="r" b="b" t="t" l="l"/>
              <a:pathLst>
                <a:path h="1170432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959" r="0" b="-83959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47625"/>
              <a:ext cx="804672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00C85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Optimal context, fastest latency</a:t>
              </a:r>
            </a:p>
          </p:txBody>
        </p:sp>
      </p:grpSp>
      <p:sp>
        <p:nvSpPr>
          <p:cNvPr name="TextBox 137" id="137"/>
          <p:cNvSpPr txBox="true"/>
          <p:nvPr/>
        </p:nvSpPr>
        <p:spPr>
          <a:xfrm rot="0">
            <a:off x="17007840" y="971258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Page 7</a:t>
            </a:r>
          </a:p>
        </p:txBody>
      </p:sp>
    </p:spTree>
  </p:cSld>
  <p:clrMapOvr>
    <a:masterClrMapping/>
  </p:clrMapOvr>
  <p:transition spd="slow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84A9FF">
                <a:alpha val="100000"/>
              </a:srgbClr>
            </a:gs>
            <a:gs pos="50000">
              <a:srgbClr val="F5F8FF">
                <a:alpha val="100000"/>
              </a:srgbClr>
            </a:gs>
            <a:gs pos="100000">
              <a:srgbClr val="5387F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244859" cy="10312403"/>
            <a:chOff x="0" y="0"/>
            <a:chExt cx="326479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292608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292608">
                  <a:moveTo>
                    <a:pt x="0" y="0"/>
                  </a:moveTo>
                  <a:lnTo>
                    <a:pt x="292608" y="0"/>
                  </a:lnTo>
                  <a:lnTo>
                    <a:pt x="292608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26390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326390">
                  <a:moveTo>
                    <a:pt x="16891" y="0"/>
                  </a:moveTo>
                  <a:lnTo>
                    <a:pt x="309499" y="0"/>
                  </a:lnTo>
                  <a:cubicBezTo>
                    <a:pt x="318897" y="0"/>
                    <a:pt x="326390" y="7620"/>
                    <a:pt x="326390" y="16891"/>
                  </a:cubicBezTo>
                  <a:lnTo>
                    <a:pt x="326390" y="13732890"/>
                  </a:lnTo>
                  <a:cubicBezTo>
                    <a:pt x="326390" y="13742290"/>
                    <a:pt x="318770" y="13749782"/>
                    <a:pt x="309499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309499" y="13716000"/>
                  </a:lnTo>
                  <a:lnTo>
                    <a:pt x="309499" y="13732890"/>
                  </a:lnTo>
                  <a:lnTo>
                    <a:pt x="292608" y="13732890"/>
                  </a:lnTo>
                  <a:lnTo>
                    <a:pt x="292608" y="16891"/>
                  </a:lnTo>
                  <a:lnTo>
                    <a:pt x="309499" y="16891"/>
                  </a:lnTo>
                  <a:lnTo>
                    <a:pt x="309499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548640" y="548640"/>
            <a:ext cx="16459200" cy="731520"/>
            <a:chOff x="0" y="0"/>
            <a:chExt cx="21945600" cy="975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975360"/>
            </a:xfrm>
            <a:custGeom>
              <a:avLst/>
              <a:gdLst/>
              <a:ahLst/>
              <a:cxnLst/>
              <a:rect r="r" b="b" t="t" l="l"/>
              <a:pathLst>
                <a:path h="975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1945600" cy="1022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 spc="600">
                  <a:solidFill>
                    <a:srgbClr val="1A305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ENGINEERING CHALLENGES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48640" y="1371600"/>
            <a:ext cx="16459200" cy="1287066"/>
            <a:chOff x="0" y="0"/>
            <a:chExt cx="21945600" cy="171608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716088"/>
            </a:xfrm>
            <a:custGeom>
              <a:avLst/>
              <a:gdLst/>
              <a:ahLst/>
              <a:cxnLst/>
              <a:rect r="r" b="b" t="t" l="l"/>
              <a:pathLst>
                <a:path h="1716088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16088"/>
                  </a:lnTo>
                  <a:lnTo>
                    <a:pt x="0" y="17160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655" r="0" b="-1847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23825"/>
              <a:ext cx="21945600" cy="18399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80"/>
                </a:lnSpc>
              </a:pPr>
              <a:r>
                <a:rPr lang="en-US" sz="6400" b="true">
                  <a:solidFill>
                    <a:srgbClr val="1A305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Problems Faced &amp; How I Solved Them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2287" y="2645407"/>
            <a:ext cx="17203417" cy="1256281"/>
            <a:chOff x="0" y="0"/>
            <a:chExt cx="22937889" cy="167504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8509" y="8509"/>
              <a:ext cx="22920961" cy="1658112"/>
            </a:xfrm>
            <a:custGeom>
              <a:avLst/>
              <a:gdLst/>
              <a:ahLst/>
              <a:cxnLst/>
              <a:rect r="r" b="b" t="t" l="l"/>
              <a:pathLst>
                <a:path h="1658112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658112"/>
                  </a:lnTo>
                  <a:lnTo>
                    <a:pt x="0" y="1658112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937978" cy="1675130"/>
            </a:xfrm>
            <a:custGeom>
              <a:avLst/>
              <a:gdLst/>
              <a:ahLst/>
              <a:cxnLst/>
              <a:rect r="r" b="b" t="t" l="l"/>
              <a:pathLst>
                <a:path h="1675130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666621"/>
                  </a:lnTo>
                  <a:cubicBezTo>
                    <a:pt x="22937978" y="1671320"/>
                    <a:pt x="22934169" y="1675130"/>
                    <a:pt x="22929470" y="1675130"/>
                  </a:cubicBezTo>
                  <a:lnTo>
                    <a:pt x="8509" y="1675130"/>
                  </a:lnTo>
                  <a:cubicBezTo>
                    <a:pt x="3810" y="1675130"/>
                    <a:pt x="0" y="1671320"/>
                    <a:pt x="0" y="166662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666621"/>
                  </a:lnTo>
                  <a:lnTo>
                    <a:pt x="8509" y="1666621"/>
                  </a:lnTo>
                  <a:lnTo>
                    <a:pt x="8509" y="1658112"/>
                  </a:lnTo>
                  <a:lnTo>
                    <a:pt x="22929470" y="1658112"/>
                  </a:lnTo>
                  <a:lnTo>
                    <a:pt x="22929470" y="1666621"/>
                  </a:lnTo>
                  <a:lnTo>
                    <a:pt x="22920961" y="1666621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1A3050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35943" y="2639063"/>
            <a:ext cx="171707" cy="1268987"/>
            <a:chOff x="0" y="0"/>
            <a:chExt cx="228943" cy="169198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195072" cy="1658112"/>
            </a:xfrm>
            <a:custGeom>
              <a:avLst/>
              <a:gdLst/>
              <a:ahLst/>
              <a:cxnLst/>
              <a:rect r="r" b="b" t="t" l="l"/>
              <a:pathLst>
                <a:path h="1658112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1658112"/>
                  </a:lnTo>
                  <a:lnTo>
                    <a:pt x="0" y="1658112"/>
                  </a:lnTo>
                  <a:close/>
                </a:path>
              </a:pathLst>
            </a:custGeom>
            <a:solidFill>
              <a:srgbClr val="FF6D00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28854" cy="1691894"/>
            </a:xfrm>
            <a:custGeom>
              <a:avLst/>
              <a:gdLst/>
              <a:ahLst/>
              <a:cxnLst/>
              <a:rect r="r" b="b" t="t" l="l"/>
              <a:pathLst>
                <a:path h="1691894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1675003"/>
                  </a:lnTo>
                  <a:cubicBezTo>
                    <a:pt x="228854" y="1684401"/>
                    <a:pt x="221234" y="1691894"/>
                    <a:pt x="211963" y="1691894"/>
                  </a:cubicBezTo>
                  <a:lnTo>
                    <a:pt x="16891" y="1691894"/>
                  </a:lnTo>
                  <a:cubicBezTo>
                    <a:pt x="7493" y="1691894"/>
                    <a:pt x="0" y="1684274"/>
                    <a:pt x="0" y="167500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75003"/>
                  </a:lnTo>
                  <a:lnTo>
                    <a:pt x="16891" y="1675003"/>
                  </a:lnTo>
                  <a:lnTo>
                    <a:pt x="16891" y="1658112"/>
                  </a:lnTo>
                  <a:lnTo>
                    <a:pt x="211963" y="1658112"/>
                  </a:lnTo>
                  <a:lnTo>
                    <a:pt x="211963" y="1675003"/>
                  </a:lnTo>
                  <a:lnTo>
                    <a:pt x="195072" y="1675003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FF6D00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22960" y="2743200"/>
            <a:ext cx="16459200" cy="512064"/>
            <a:chOff x="0" y="0"/>
            <a:chExt cx="21945600" cy="68275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82752"/>
            </a:xfrm>
            <a:custGeom>
              <a:avLst/>
              <a:gdLst/>
              <a:ahLst/>
              <a:cxnLst/>
              <a:rect r="r" b="b" t="t" l="l"/>
              <a:pathLst>
                <a:path h="68275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6304" r="0" b="-576304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FF6D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⚠  LangSmith 401/403 errors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3291840"/>
            <a:ext cx="16459200" cy="512064"/>
            <a:chOff x="0" y="0"/>
            <a:chExt cx="21945600" cy="68275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945600" cy="682752"/>
            </a:xfrm>
            <a:custGeom>
              <a:avLst/>
              <a:gdLst/>
              <a:ahLst/>
              <a:cxnLst/>
              <a:rect r="r" b="b" t="t" l="l"/>
              <a:pathLst>
                <a:path h="68275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6304" r="0" b="-576304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21945600" cy="7303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✓  os.environ must be set before LangChain imports - load_dotenv() alone not sufficient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542287" y="4071871"/>
            <a:ext cx="17203417" cy="1256281"/>
            <a:chOff x="0" y="0"/>
            <a:chExt cx="22937889" cy="167504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8509" y="8509"/>
              <a:ext cx="22920961" cy="1658112"/>
            </a:xfrm>
            <a:custGeom>
              <a:avLst/>
              <a:gdLst/>
              <a:ahLst/>
              <a:cxnLst/>
              <a:rect r="r" b="b" t="t" l="l"/>
              <a:pathLst>
                <a:path h="1658112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658112"/>
                  </a:lnTo>
                  <a:lnTo>
                    <a:pt x="0" y="1658112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937978" cy="1675130"/>
            </a:xfrm>
            <a:custGeom>
              <a:avLst/>
              <a:gdLst/>
              <a:ahLst/>
              <a:cxnLst/>
              <a:rect r="r" b="b" t="t" l="l"/>
              <a:pathLst>
                <a:path h="1675130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666621"/>
                  </a:lnTo>
                  <a:cubicBezTo>
                    <a:pt x="22937978" y="1671320"/>
                    <a:pt x="22934169" y="1675130"/>
                    <a:pt x="22929470" y="1675130"/>
                  </a:cubicBezTo>
                  <a:lnTo>
                    <a:pt x="8509" y="1675130"/>
                  </a:lnTo>
                  <a:cubicBezTo>
                    <a:pt x="3810" y="1675130"/>
                    <a:pt x="0" y="1671320"/>
                    <a:pt x="0" y="166662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666621"/>
                  </a:lnTo>
                  <a:lnTo>
                    <a:pt x="8509" y="1666621"/>
                  </a:lnTo>
                  <a:lnTo>
                    <a:pt x="8509" y="1658112"/>
                  </a:lnTo>
                  <a:lnTo>
                    <a:pt x="22929470" y="1658112"/>
                  </a:lnTo>
                  <a:lnTo>
                    <a:pt x="22929470" y="1666621"/>
                  </a:lnTo>
                  <a:lnTo>
                    <a:pt x="22920961" y="1666621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1A3050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535943" y="4065527"/>
            <a:ext cx="171707" cy="1268987"/>
            <a:chOff x="0" y="0"/>
            <a:chExt cx="228943" cy="169198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6891" y="16891"/>
              <a:ext cx="195072" cy="1658112"/>
            </a:xfrm>
            <a:custGeom>
              <a:avLst/>
              <a:gdLst/>
              <a:ahLst/>
              <a:cxnLst/>
              <a:rect r="r" b="b" t="t" l="l"/>
              <a:pathLst>
                <a:path h="1658112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1658112"/>
                  </a:lnTo>
                  <a:lnTo>
                    <a:pt x="0" y="1658112"/>
                  </a:lnTo>
                  <a:close/>
                </a:path>
              </a:pathLst>
            </a:custGeom>
            <a:solidFill>
              <a:srgbClr val="FF6D00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8854" cy="1691894"/>
            </a:xfrm>
            <a:custGeom>
              <a:avLst/>
              <a:gdLst/>
              <a:ahLst/>
              <a:cxnLst/>
              <a:rect r="r" b="b" t="t" l="l"/>
              <a:pathLst>
                <a:path h="1691894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1675003"/>
                  </a:lnTo>
                  <a:cubicBezTo>
                    <a:pt x="228854" y="1684401"/>
                    <a:pt x="221234" y="1691894"/>
                    <a:pt x="211963" y="1691894"/>
                  </a:cubicBezTo>
                  <a:lnTo>
                    <a:pt x="16891" y="1691894"/>
                  </a:lnTo>
                  <a:cubicBezTo>
                    <a:pt x="7493" y="1691894"/>
                    <a:pt x="0" y="1684274"/>
                    <a:pt x="0" y="167500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75003"/>
                  </a:lnTo>
                  <a:lnTo>
                    <a:pt x="16891" y="1675003"/>
                  </a:lnTo>
                  <a:lnTo>
                    <a:pt x="16891" y="1658112"/>
                  </a:lnTo>
                  <a:lnTo>
                    <a:pt x="211963" y="1658112"/>
                  </a:lnTo>
                  <a:lnTo>
                    <a:pt x="211963" y="1675003"/>
                  </a:lnTo>
                  <a:lnTo>
                    <a:pt x="195072" y="1675003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FF6D00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4169664"/>
            <a:ext cx="16459200" cy="512064"/>
            <a:chOff x="0" y="0"/>
            <a:chExt cx="21945600" cy="68275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1945600" cy="682752"/>
            </a:xfrm>
            <a:custGeom>
              <a:avLst/>
              <a:gdLst/>
              <a:ahLst/>
              <a:cxnLst/>
              <a:rect r="r" b="b" t="t" l="l"/>
              <a:pathLst>
                <a:path h="68275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6304" r="0" b="-576304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2194560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FF6D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⚠  LangGraph + Streaming conflict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822960" y="4718304"/>
            <a:ext cx="16459200" cy="512064"/>
            <a:chOff x="0" y="0"/>
            <a:chExt cx="21945600" cy="68275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945600" cy="682752"/>
            </a:xfrm>
            <a:custGeom>
              <a:avLst/>
              <a:gdLst/>
              <a:ahLst/>
              <a:cxnLst/>
              <a:rect r="r" b="b" t="t" l="l"/>
              <a:pathLst>
                <a:path h="68275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6304" r="0" b="-576304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47625"/>
              <a:ext cx="21945600" cy="7303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✓  Used LangGraph for retrieval node only, streamed generation separately in Streamlit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542287" y="5498335"/>
            <a:ext cx="17203417" cy="1256281"/>
            <a:chOff x="0" y="0"/>
            <a:chExt cx="22937889" cy="167504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8509" y="8509"/>
              <a:ext cx="22920961" cy="1658112"/>
            </a:xfrm>
            <a:custGeom>
              <a:avLst/>
              <a:gdLst/>
              <a:ahLst/>
              <a:cxnLst/>
              <a:rect r="r" b="b" t="t" l="l"/>
              <a:pathLst>
                <a:path h="1658112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658112"/>
                  </a:lnTo>
                  <a:lnTo>
                    <a:pt x="0" y="1658112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2937978" cy="1675130"/>
            </a:xfrm>
            <a:custGeom>
              <a:avLst/>
              <a:gdLst/>
              <a:ahLst/>
              <a:cxnLst/>
              <a:rect r="r" b="b" t="t" l="l"/>
              <a:pathLst>
                <a:path h="1675130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666621"/>
                  </a:lnTo>
                  <a:cubicBezTo>
                    <a:pt x="22937978" y="1671320"/>
                    <a:pt x="22934169" y="1675130"/>
                    <a:pt x="22929470" y="1675130"/>
                  </a:cubicBezTo>
                  <a:lnTo>
                    <a:pt x="8509" y="1675130"/>
                  </a:lnTo>
                  <a:cubicBezTo>
                    <a:pt x="3810" y="1675130"/>
                    <a:pt x="0" y="1671320"/>
                    <a:pt x="0" y="166662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666621"/>
                  </a:lnTo>
                  <a:lnTo>
                    <a:pt x="8509" y="1666621"/>
                  </a:lnTo>
                  <a:lnTo>
                    <a:pt x="8509" y="1658112"/>
                  </a:lnTo>
                  <a:lnTo>
                    <a:pt x="22929470" y="1658112"/>
                  </a:lnTo>
                  <a:lnTo>
                    <a:pt x="22929470" y="1666621"/>
                  </a:lnTo>
                  <a:lnTo>
                    <a:pt x="22920961" y="1666621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1A3050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535943" y="5491991"/>
            <a:ext cx="171707" cy="1268987"/>
            <a:chOff x="0" y="0"/>
            <a:chExt cx="228943" cy="1691983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16891" y="16891"/>
              <a:ext cx="195072" cy="1658112"/>
            </a:xfrm>
            <a:custGeom>
              <a:avLst/>
              <a:gdLst/>
              <a:ahLst/>
              <a:cxnLst/>
              <a:rect r="r" b="b" t="t" l="l"/>
              <a:pathLst>
                <a:path h="1658112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1658112"/>
                  </a:lnTo>
                  <a:lnTo>
                    <a:pt x="0" y="1658112"/>
                  </a:lnTo>
                  <a:close/>
                </a:path>
              </a:pathLst>
            </a:custGeom>
            <a:solidFill>
              <a:srgbClr val="FF6D00"/>
            </a:solidFill>
          </p:spPr>
        </p:sp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28854" cy="1691894"/>
            </a:xfrm>
            <a:custGeom>
              <a:avLst/>
              <a:gdLst/>
              <a:ahLst/>
              <a:cxnLst/>
              <a:rect r="r" b="b" t="t" l="l"/>
              <a:pathLst>
                <a:path h="1691894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1675003"/>
                  </a:lnTo>
                  <a:cubicBezTo>
                    <a:pt x="228854" y="1684401"/>
                    <a:pt x="221234" y="1691894"/>
                    <a:pt x="211963" y="1691894"/>
                  </a:cubicBezTo>
                  <a:lnTo>
                    <a:pt x="16891" y="1691894"/>
                  </a:lnTo>
                  <a:cubicBezTo>
                    <a:pt x="7493" y="1691894"/>
                    <a:pt x="0" y="1684274"/>
                    <a:pt x="0" y="167500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75003"/>
                  </a:lnTo>
                  <a:lnTo>
                    <a:pt x="16891" y="1675003"/>
                  </a:lnTo>
                  <a:lnTo>
                    <a:pt x="16891" y="1658112"/>
                  </a:lnTo>
                  <a:lnTo>
                    <a:pt x="211963" y="1658112"/>
                  </a:lnTo>
                  <a:lnTo>
                    <a:pt x="211963" y="1675003"/>
                  </a:lnTo>
                  <a:lnTo>
                    <a:pt x="195072" y="1675003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FF6D00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822960" y="5596128"/>
            <a:ext cx="16459200" cy="512064"/>
            <a:chOff x="0" y="0"/>
            <a:chExt cx="21945600" cy="68275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21945600" cy="682752"/>
            </a:xfrm>
            <a:custGeom>
              <a:avLst/>
              <a:gdLst/>
              <a:ahLst/>
              <a:cxnLst/>
              <a:rect r="r" b="b" t="t" l="l"/>
              <a:pathLst>
                <a:path h="68275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6304" r="0" b="-576304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2194560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FF6D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⚠  Duplicate chunks in retrieval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822960" y="6144768"/>
            <a:ext cx="16459200" cy="512064"/>
            <a:chOff x="0" y="0"/>
            <a:chExt cx="21945600" cy="682752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1945600" cy="682752"/>
            </a:xfrm>
            <a:custGeom>
              <a:avLst/>
              <a:gdLst/>
              <a:ahLst/>
              <a:cxnLst/>
              <a:rect r="r" b="b" t="t" l="l"/>
              <a:pathLst>
                <a:path h="68275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6304" r="0" b="-576304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21945600" cy="7303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✓  Switched similarity → MMR + reduced chunk_size 500 → 200 for small documents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542287" y="6924799"/>
            <a:ext cx="17203417" cy="1256281"/>
            <a:chOff x="0" y="0"/>
            <a:chExt cx="22937889" cy="1675041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8509" y="8509"/>
              <a:ext cx="22920961" cy="1658112"/>
            </a:xfrm>
            <a:custGeom>
              <a:avLst/>
              <a:gdLst/>
              <a:ahLst/>
              <a:cxnLst/>
              <a:rect r="r" b="b" t="t" l="l"/>
              <a:pathLst>
                <a:path h="1658112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658112"/>
                  </a:lnTo>
                  <a:lnTo>
                    <a:pt x="0" y="1658112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2937978" cy="1675130"/>
            </a:xfrm>
            <a:custGeom>
              <a:avLst/>
              <a:gdLst/>
              <a:ahLst/>
              <a:cxnLst/>
              <a:rect r="r" b="b" t="t" l="l"/>
              <a:pathLst>
                <a:path h="1675130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666621"/>
                  </a:lnTo>
                  <a:cubicBezTo>
                    <a:pt x="22937978" y="1671320"/>
                    <a:pt x="22934169" y="1675130"/>
                    <a:pt x="22929470" y="1675130"/>
                  </a:cubicBezTo>
                  <a:lnTo>
                    <a:pt x="8509" y="1675130"/>
                  </a:lnTo>
                  <a:cubicBezTo>
                    <a:pt x="3810" y="1675130"/>
                    <a:pt x="0" y="1671320"/>
                    <a:pt x="0" y="166662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666621"/>
                  </a:lnTo>
                  <a:lnTo>
                    <a:pt x="8509" y="1666621"/>
                  </a:lnTo>
                  <a:lnTo>
                    <a:pt x="8509" y="1658112"/>
                  </a:lnTo>
                  <a:lnTo>
                    <a:pt x="22929470" y="1658112"/>
                  </a:lnTo>
                  <a:lnTo>
                    <a:pt x="22929470" y="1666621"/>
                  </a:lnTo>
                  <a:lnTo>
                    <a:pt x="22920961" y="1666621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1A3050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535943" y="6918455"/>
            <a:ext cx="171707" cy="1268987"/>
            <a:chOff x="0" y="0"/>
            <a:chExt cx="228943" cy="1691983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16891" y="16891"/>
              <a:ext cx="195072" cy="1658112"/>
            </a:xfrm>
            <a:custGeom>
              <a:avLst/>
              <a:gdLst/>
              <a:ahLst/>
              <a:cxnLst/>
              <a:rect r="r" b="b" t="t" l="l"/>
              <a:pathLst>
                <a:path h="1658112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1658112"/>
                  </a:lnTo>
                  <a:lnTo>
                    <a:pt x="0" y="1658112"/>
                  </a:lnTo>
                  <a:close/>
                </a:path>
              </a:pathLst>
            </a:custGeom>
            <a:solidFill>
              <a:srgbClr val="FF6D00"/>
            </a:solidFill>
          </p:spPr>
        </p:sp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28854" cy="1691894"/>
            </a:xfrm>
            <a:custGeom>
              <a:avLst/>
              <a:gdLst/>
              <a:ahLst/>
              <a:cxnLst/>
              <a:rect r="r" b="b" t="t" l="l"/>
              <a:pathLst>
                <a:path h="1691894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1675003"/>
                  </a:lnTo>
                  <a:cubicBezTo>
                    <a:pt x="228854" y="1684401"/>
                    <a:pt x="221234" y="1691894"/>
                    <a:pt x="211963" y="1691894"/>
                  </a:cubicBezTo>
                  <a:lnTo>
                    <a:pt x="16891" y="1691894"/>
                  </a:lnTo>
                  <a:cubicBezTo>
                    <a:pt x="7493" y="1691894"/>
                    <a:pt x="0" y="1684274"/>
                    <a:pt x="0" y="167500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75003"/>
                  </a:lnTo>
                  <a:lnTo>
                    <a:pt x="16891" y="1675003"/>
                  </a:lnTo>
                  <a:lnTo>
                    <a:pt x="16891" y="1658112"/>
                  </a:lnTo>
                  <a:lnTo>
                    <a:pt x="211963" y="1658112"/>
                  </a:lnTo>
                  <a:lnTo>
                    <a:pt x="211963" y="1675003"/>
                  </a:lnTo>
                  <a:lnTo>
                    <a:pt x="195072" y="1675003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FF6D00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822960" y="7022592"/>
            <a:ext cx="16459200" cy="512064"/>
            <a:chOff x="0" y="0"/>
            <a:chExt cx="21945600" cy="682752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1945600" cy="682752"/>
            </a:xfrm>
            <a:custGeom>
              <a:avLst/>
              <a:gdLst/>
              <a:ahLst/>
              <a:cxnLst/>
              <a:rect r="r" b="b" t="t" l="l"/>
              <a:pathLst>
                <a:path h="68275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6304" r="0" b="-576304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2194560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FF6D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⚠  ChromaDB rebuilding every run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822960" y="7571232"/>
            <a:ext cx="16459200" cy="512064"/>
            <a:chOff x="0" y="0"/>
            <a:chExt cx="21945600" cy="682752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1945600" cy="682752"/>
            </a:xfrm>
            <a:custGeom>
              <a:avLst/>
              <a:gdLst/>
              <a:ahLst/>
              <a:cxnLst/>
              <a:rect r="r" b="b" t="t" l="l"/>
              <a:pathLst>
                <a:path h="68275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6304" r="0" b="-576304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47625"/>
              <a:ext cx="21945600" cy="7303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✓  Added os.path.exists() check - load if exists, build only on first run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542287" y="8351263"/>
            <a:ext cx="17203417" cy="1256281"/>
            <a:chOff x="0" y="0"/>
            <a:chExt cx="22937889" cy="1675041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8509" y="8509"/>
              <a:ext cx="22920961" cy="1658112"/>
            </a:xfrm>
            <a:custGeom>
              <a:avLst/>
              <a:gdLst/>
              <a:ahLst/>
              <a:cxnLst/>
              <a:rect r="r" b="b" t="t" l="l"/>
              <a:pathLst>
                <a:path h="1658112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658112"/>
                  </a:lnTo>
                  <a:lnTo>
                    <a:pt x="0" y="1658112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937978" cy="1675130"/>
            </a:xfrm>
            <a:custGeom>
              <a:avLst/>
              <a:gdLst/>
              <a:ahLst/>
              <a:cxnLst/>
              <a:rect r="r" b="b" t="t" l="l"/>
              <a:pathLst>
                <a:path h="1675130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666621"/>
                  </a:lnTo>
                  <a:cubicBezTo>
                    <a:pt x="22937978" y="1671320"/>
                    <a:pt x="22934169" y="1675130"/>
                    <a:pt x="22929470" y="1675130"/>
                  </a:cubicBezTo>
                  <a:lnTo>
                    <a:pt x="8509" y="1675130"/>
                  </a:lnTo>
                  <a:cubicBezTo>
                    <a:pt x="3810" y="1675130"/>
                    <a:pt x="0" y="1671320"/>
                    <a:pt x="0" y="166662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666621"/>
                  </a:lnTo>
                  <a:lnTo>
                    <a:pt x="8509" y="1666621"/>
                  </a:lnTo>
                  <a:lnTo>
                    <a:pt x="8509" y="1658112"/>
                  </a:lnTo>
                  <a:lnTo>
                    <a:pt x="22929470" y="1658112"/>
                  </a:lnTo>
                  <a:lnTo>
                    <a:pt x="22929470" y="1666621"/>
                  </a:lnTo>
                  <a:lnTo>
                    <a:pt x="22920961" y="1666621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1A3050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535943" y="8344919"/>
            <a:ext cx="171707" cy="1268987"/>
            <a:chOff x="0" y="0"/>
            <a:chExt cx="228943" cy="1691983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16891" y="16891"/>
              <a:ext cx="195072" cy="1658112"/>
            </a:xfrm>
            <a:custGeom>
              <a:avLst/>
              <a:gdLst/>
              <a:ahLst/>
              <a:cxnLst/>
              <a:rect r="r" b="b" t="t" l="l"/>
              <a:pathLst>
                <a:path h="1658112" w="195072">
                  <a:moveTo>
                    <a:pt x="0" y="0"/>
                  </a:moveTo>
                  <a:lnTo>
                    <a:pt x="195072" y="0"/>
                  </a:lnTo>
                  <a:lnTo>
                    <a:pt x="195072" y="1658112"/>
                  </a:lnTo>
                  <a:lnTo>
                    <a:pt x="0" y="1658112"/>
                  </a:lnTo>
                  <a:close/>
                </a:path>
              </a:pathLst>
            </a:custGeom>
            <a:solidFill>
              <a:srgbClr val="FF6D00"/>
            </a:solidFill>
          </p:spPr>
        </p:sp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28854" cy="1691894"/>
            </a:xfrm>
            <a:custGeom>
              <a:avLst/>
              <a:gdLst/>
              <a:ahLst/>
              <a:cxnLst/>
              <a:rect r="r" b="b" t="t" l="l"/>
              <a:pathLst>
                <a:path h="1691894" w="228854">
                  <a:moveTo>
                    <a:pt x="16891" y="0"/>
                  </a:moveTo>
                  <a:lnTo>
                    <a:pt x="211963" y="0"/>
                  </a:lnTo>
                  <a:cubicBezTo>
                    <a:pt x="221361" y="0"/>
                    <a:pt x="228854" y="7620"/>
                    <a:pt x="228854" y="16891"/>
                  </a:cubicBezTo>
                  <a:lnTo>
                    <a:pt x="228854" y="1675003"/>
                  </a:lnTo>
                  <a:cubicBezTo>
                    <a:pt x="228854" y="1684401"/>
                    <a:pt x="221234" y="1691894"/>
                    <a:pt x="211963" y="1691894"/>
                  </a:cubicBezTo>
                  <a:lnTo>
                    <a:pt x="16891" y="1691894"/>
                  </a:lnTo>
                  <a:cubicBezTo>
                    <a:pt x="7493" y="1691894"/>
                    <a:pt x="0" y="1684274"/>
                    <a:pt x="0" y="167500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675003"/>
                  </a:lnTo>
                  <a:lnTo>
                    <a:pt x="16891" y="1675003"/>
                  </a:lnTo>
                  <a:lnTo>
                    <a:pt x="16891" y="1658112"/>
                  </a:lnTo>
                  <a:lnTo>
                    <a:pt x="211963" y="1658112"/>
                  </a:lnTo>
                  <a:lnTo>
                    <a:pt x="211963" y="1675003"/>
                  </a:lnTo>
                  <a:lnTo>
                    <a:pt x="195072" y="1675003"/>
                  </a:lnTo>
                  <a:lnTo>
                    <a:pt x="195072" y="16891"/>
                  </a:lnTo>
                  <a:lnTo>
                    <a:pt x="211963" y="16891"/>
                  </a:lnTo>
                  <a:lnTo>
                    <a:pt x="21196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FF6D00"/>
            </a:solid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822960" y="8449056"/>
            <a:ext cx="16459200" cy="512064"/>
            <a:chOff x="0" y="0"/>
            <a:chExt cx="21945600" cy="68275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1945600" cy="682752"/>
            </a:xfrm>
            <a:custGeom>
              <a:avLst/>
              <a:gdLst/>
              <a:ahLst/>
              <a:cxnLst/>
              <a:rect r="r" b="b" t="t" l="l"/>
              <a:pathLst>
                <a:path h="68275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6304" r="0" b="-576304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38100"/>
              <a:ext cx="2194560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FF6D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⚠  High LLM latency on CPU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822960" y="8997696"/>
            <a:ext cx="16459200" cy="512064"/>
            <a:chOff x="0" y="0"/>
            <a:chExt cx="21945600" cy="682752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1945600" cy="682752"/>
            </a:xfrm>
            <a:custGeom>
              <a:avLst/>
              <a:gdLst/>
              <a:ahLst/>
              <a:cxnLst/>
              <a:rect r="r" b="b" t="t" l="l"/>
              <a:pathLst>
                <a:path h="68275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6304" r="0" b="-576304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47625"/>
              <a:ext cx="21945600" cy="7303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8D4E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✓  Set num_predict=200, reduced top_k=3, chose llama3.2:1b over heavier models</a:t>
              </a:r>
            </a:p>
          </p:txBody>
        </p:sp>
      </p:grpSp>
      <p:sp>
        <p:nvSpPr>
          <p:cNvPr name="TextBox 71" id="71"/>
          <p:cNvSpPr txBox="true"/>
          <p:nvPr/>
        </p:nvSpPr>
        <p:spPr>
          <a:xfrm rot="0">
            <a:off x="17007840" y="9731369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Page 8</a:t>
            </a:r>
          </a:p>
        </p:txBody>
      </p:sp>
    </p:spTree>
  </p:cSld>
  <p:clrMapOvr>
    <a:masterClrMapping/>
  </p:clrMapOvr>
  <p:transition spd="slow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84A9FF">
                <a:alpha val="100000"/>
              </a:srgbClr>
            </a:gs>
            <a:gs pos="50000">
              <a:srgbClr val="F5F8FF">
                <a:alpha val="100000"/>
              </a:srgbClr>
            </a:gs>
            <a:gs pos="100000">
              <a:srgbClr val="5387F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73397" y="457674"/>
            <a:ext cx="7774797" cy="4685826"/>
          </a:xfrm>
          <a:custGeom>
            <a:avLst/>
            <a:gdLst/>
            <a:ahLst/>
            <a:cxnLst/>
            <a:rect r="r" b="b" t="t" l="l"/>
            <a:pathLst>
              <a:path h="4685826" w="7774797">
                <a:moveTo>
                  <a:pt x="0" y="0"/>
                </a:moveTo>
                <a:lnTo>
                  <a:pt x="7774797" y="0"/>
                </a:lnTo>
                <a:lnTo>
                  <a:pt x="7774797" y="4685826"/>
                </a:lnTo>
                <a:lnTo>
                  <a:pt x="0" y="46858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83" t="-359" r="-1683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20519" y="457674"/>
            <a:ext cx="8078530" cy="4685826"/>
          </a:xfrm>
          <a:custGeom>
            <a:avLst/>
            <a:gdLst/>
            <a:ahLst/>
            <a:cxnLst/>
            <a:rect r="r" b="b" t="t" l="l"/>
            <a:pathLst>
              <a:path h="4685826" w="8078530">
                <a:moveTo>
                  <a:pt x="0" y="0"/>
                </a:moveTo>
                <a:lnTo>
                  <a:pt x="8078531" y="0"/>
                </a:lnTo>
                <a:lnTo>
                  <a:pt x="8078531" y="4685826"/>
                </a:lnTo>
                <a:lnTo>
                  <a:pt x="0" y="46858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73397" y="5417663"/>
            <a:ext cx="7774797" cy="4769917"/>
          </a:xfrm>
          <a:custGeom>
            <a:avLst/>
            <a:gdLst/>
            <a:ahLst/>
            <a:cxnLst/>
            <a:rect r="r" b="b" t="t" l="l"/>
            <a:pathLst>
              <a:path h="4769917" w="7774797">
                <a:moveTo>
                  <a:pt x="0" y="0"/>
                </a:moveTo>
                <a:lnTo>
                  <a:pt x="7774797" y="0"/>
                </a:lnTo>
                <a:lnTo>
                  <a:pt x="7774797" y="4769917"/>
                </a:lnTo>
                <a:lnTo>
                  <a:pt x="0" y="47699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486" t="0" r="-3129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520519" y="5417663"/>
            <a:ext cx="8078530" cy="4769917"/>
          </a:xfrm>
          <a:custGeom>
            <a:avLst/>
            <a:gdLst/>
            <a:ahLst/>
            <a:cxnLst/>
            <a:rect r="r" b="b" t="t" l="l"/>
            <a:pathLst>
              <a:path h="4769917" w="8078530">
                <a:moveTo>
                  <a:pt x="0" y="0"/>
                </a:moveTo>
                <a:lnTo>
                  <a:pt x="8078531" y="0"/>
                </a:lnTo>
                <a:lnTo>
                  <a:pt x="8078531" y="4769917"/>
                </a:lnTo>
                <a:lnTo>
                  <a:pt x="0" y="47699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194312" y="108424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Page 9</a:t>
            </a:r>
          </a:p>
        </p:txBody>
      </p:sp>
    </p:spTree>
  </p:cSld>
  <p:clrMapOvr>
    <a:masterClrMapping/>
  </p:clrMapOvr>
  <p:transition spd="slow">
    <p:push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84A9FF">
                <a:alpha val="100000"/>
              </a:srgbClr>
            </a:gs>
            <a:gs pos="50000">
              <a:srgbClr val="F5F8FF">
                <a:alpha val="100000"/>
              </a:srgbClr>
            </a:gs>
            <a:gs pos="100000">
              <a:srgbClr val="5387F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244859" cy="10312403"/>
            <a:chOff x="0" y="0"/>
            <a:chExt cx="326479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292608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292608">
                  <a:moveTo>
                    <a:pt x="0" y="0"/>
                  </a:moveTo>
                  <a:lnTo>
                    <a:pt x="292608" y="0"/>
                  </a:lnTo>
                  <a:lnTo>
                    <a:pt x="292608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26390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326390">
                  <a:moveTo>
                    <a:pt x="16891" y="0"/>
                  </a:moveTo>
                  <a:lnTo>
                    <a:pt x="309499" y="0"/>
                  </a:lnTo>
                  <a:cubicBezTo>
                    <a:pt x="318897" y="0"/>
                    <a:pt x="326390" y="7620"/>
                    <a:pt x="326390" y="16891"/>
                  </a:cubicBezTo>
                  <a:lnTo>
                    <a:pt x="326390" y="13732890"/>
                  </a:lnTo>
                  <a:cubicBezTo>
                    <a:pt x="326390" y="13742290"/>
                    <a:pt x="318770" y="13749782"/>
                    <a:pt x="309499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309499" y="13716000"/>
                  </a:lnTo>
                  <a:lnTo>
                    <a:pt x="309499" y="13732890"/>
                  </a:lnTo>
                  <a:lnTo>
                    <a:pt x="292608" y="13732890"/>
                  </a:lnTo>
                  <a:lnTo>
                    <a:pt x="292608" y="16891"/>
                  </a:lnTo>
                  <a:lnTo>
                    <a:pt x="309499" y="16891"/>
                  </a:lnTo>
                  <a:lnTo>
                    <a:pt x="309499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548640" y="548640"/>
            <a:ext cx="16459200" cy="731520"/>
            <a:chOff x="0" y="0"/>
            <a:chExt cx="21945600" cy="975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975360"/>
            </a:xfrm>
            <a:custGeom>
              <a:avLst/>
              <a:gdLst/>
              <a:ahLst/>
              <a:cxnLst/>
              <a:rect r="r" b="b" t="t" l="l"/>
              <a:pathLst>
                <a:path h="975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1945600" cy="1022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600">
                  <a:solidFill>
                    <a:srgbClr val="1A305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DEMO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48640" y="1280160"/>
            <a:ext cx="16459200" cy="1287066"/>
            <a:chOff x="0" y="0"/>
            <a:chExt cx="21945600" cy="171608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716088"/>
            </a:xfrm>
            <a:custGeom>
              <a:avLst/>
              <a:gdLst/>
              <a:ahLst/>
              <a:cxnLst/>
              <a:rect r="r" b="b" t="t" l="l"/>
              <a:pathLst>
                <a:path h="1716088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16088"/>
                  </a:lnTo>
                  <a:lnTo>
                    <a:pt x="0" y="17160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655" r="0" b="-1847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23825"/>
              <a:ext cx="21945600" cy="18399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80"/>
                </a:lnSpc>
              </a:pPr>
              <a:r>
                <a:rPr lang="en-US" sz="6400" b="true">
                  <a:solidFill>
                    <a:srgbClr val="1A305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Live Prototype Walkthrough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232162" y="2793315"/>
            <a:ext cx="12217813" cy="6602740"/>
            <a:chOff x="0" y="0"/>
            <a:chExt cx="16757274" cy="905595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19302" y="16891"/>
              <a:ext cx="16718568" cy="9022081"/>
            </a:xfrm>
            <a:custGeom>
              <a:avLst/>
              <a:gdLst/>
              <a:ahLst/>
              <a:cxnLst/>
              <a:rect r="r" b="b" t="t" l="l"/>
              <a:pathLst>
                <a:path h="9022081" w="16718568">
                  <a:moveTo>
                    <a:pt x="0" y="0"/>
                  </a:moveTo>
                  <a:lnTo>
                    <a:pt x="16718568" y="0"/>
                  </a:lnTo>
                  <a:lnTo>
                    <a:pt x="16718568" y="9022081"/>
                  </a:lnTo>
                  <a:lnTo>
                    <a:pt x="0" y="9022081"/>
                  </a:lnTo>
                  <a:close/>
                </a:path>
              </a:pathLst>
            </a:custGeom>
            <a:blipFill>
              <a:blip r:embed="rId4"/>
              <a:stretch>
                <a:fillRect l="-510" t="-187" r="-500" b="-188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757173" cy="9055862"/>
            </a:xfrm>
            <a:custGeom>
              <a:avLst/>
              <a:gdLst/>
              <a:ahLst/>
              <a:cxnLst/>
              <a:rect r="r" b="b" t="t" l="l"/>
              <a:pathLst>
                <a:path h="9055862" w="16757173">
                  <a:moveTo>
                    <a:pt x="19302" y="0"/>
                  </a:moveTo>
                  <a:lnTo>
                    <a:pt x="16737870" y="0"/>
                  </a:lnTo>
                  <a:cubicBezTo>
                    <a:pt x="16748612" y="0"/>
                    <a:pt x="16757173" y="7620"/>
                    <a:pt x="16757173" y="16891"/>
                  </a:cubicBezTo>
                  <a:lnTo>
                    <a:pt x="16757173" y="9038972"/>
                  </a:lnTo>
                  <a:cubicBezTo>
                    <a:pt x="16757173" y="9048369"/>
                    <a:pt x="16748466" y="9055862"/>
                    <a:pt x="16737870" y="9055862"/>
                  </a:cubicBezTo>
                  <a:lnTo>
                    <a:pt x="19302" y="9055862"/>
                  </a:lnTo>
                  <a:cubicBezTo>
                    <a:pt x="8562" y="9055862"/>
                    <a:pt x="0" y="9048242"/>
                    <a:pt x="0" y="9038972"/>
                  </a:cubicBezTo>
                  <a:lnTo>
                    <a:pt x="0" y="16891"/>
                  </a:lnTo>
                  <a:cubicBezTo>
                    <a:pt x="0" y="7620"/>
                    <a:pt x="8708" y="0"/>
                    <a:pt x="19302" y="0"/>
                  </a:cubicBezTo>
                  <a:moveTo>
                    <a:pt x="19302" y="33909"/>
                  </a:moveTo>
                  <a:lnTo>
                    <a:pt x="19302" y="16891"/>
                  </a:lnTo>
                  <a:lnTo>
                    <a:pt x="38749" y="16891"/>
                  </a:lnTo>
                  <a:lnTo>
                    <a:pt x="38749" y="9038972"/>
                  </a:lnTo>
                  <a:lnTo>
                    <a:pt x="19302" y="9038972"/>
                  </a:lnTo>
                  <a:lnTo>
                    <a:pt x="19302" y="9022080"/>
                  </a:lnTo>
                  <a:lnTo>
                    <a:pt x="16737870" y="9022080"/>
                  </a:lnTo>
                  <a:lnTo>
                    <a:pt x="16737870" y="9038972"/>
                  </a:lnTo>
                  <a:lnTo>
                    <a:pt x="16718569" y="9038972"/>
                  </a:lnTo>
                  <a:lnTo>
                    <a:pt x="16718569" y="16891"/>
                  </a:lnTo>
                  <a:lnTo>
                    <a:pt x="16737870" y="16891"/>
                  </a:lnTo>
                  <a:lnTo>
                    <a:pt x="16737870" y="33909"/>
                  </a:lnTo>
                  <a:lnTo>
                    <a:pt x="19302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2580579" y="3008279"/>
            <a:ext cx="5582486" cy="847646"/>
            <a:chOff x="0" y="0"/>
            <a:chExt cx="7819809" cy="118736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8509" y="8509"/>
              <a:ext cx="7802880" cy="1170432"/>
            </a:xfrm>
            <a:custGeom>
              <a:avLst/>
              <a:gdLst/>
              <a:ahLst/>
              <a:cxnLst/>
              <a:rect r="r" b="b" t="t" l="l"/>
              <a:pathLst>
                <a:path h="1170432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1170432"/>
                  </a:lnTo>
                  <a:lnTo>
                    <a:pt x="0" y="1170432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819899" cy="1187450"/>
            </a:xfrm>
            <a:custGeom>
              <a:avLst/>
              <a:gdLst/>
              <a:ahLst/>
              <a:cxnLst/>
              <a:rect r="r" b="b" t="t" l="l"/>
              <a:pathLst>
                <a:path h="1187450" w="7819899">
                  <a:moveTo>
                    <a:pt x="8509" y="0"/>
                  </a:moveTo>
                  <a:lnTo>
                    <a:pt x="7811389" y="0"/>
                  </a:lnTo>
                  <a:cubicBezTo>
                    <a:pt x="7816088" y="0"/>
                    <a:pt x="7819899" y="3810"/>
                    <a:pt x="7819899" y="8509"/>
                  </a:cubicBezTo>
                  <a:lnTo>
                    <a:pt x="7819899" y="1178941"/>
                  </a:lnTo>
                  <a:cubicBezTo>
                    <a:pt x="7819899" y="1183640"/>
                    <a:pt x="7816088" y="1187450"/>
                    <a:pt x="7811389" y="1187450"/>
                  </a:cubicBezTo>
                  <a:lnTo>
                    <a:pt x="8509" y="1187450"/>
                  </a:lnTo>
                  <a:cubicBezTo>
                    <a:pt x="3810" y="1187450"/>
                    <a:pt x="0" y="1183640"/>
                    <a:pt x="0" y="117894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178941"/>
                  </a:lnTo>
                  <a:lnTo>
                    <a:pt x="8509" y="1178941"/>
                  </a:lnTo>
                  <a:lnTo>
                    <a:pt x="8509" y="1170432"/>
                  </a:lnTo>
                  <a:lnTo>
                    <a:pt x="7811389" y="1170432"/>
                  </a:lnTo>
                  <a:lnTo>
                    <a:pt x="7811389" y="1178941"/>
                  </a:lnTo>
                  <a:lnTo>
                    <a:pt x="7802880" y="1178941"/>
                  </a:lnTo>
                  <a:lnTo>
                    <a:pt x="7802880" y="8509"/>
                  </a:lnTo>
                  <a:lnTo>
                    <a:pt x="7811389" y="8509"/>
                  </a:lnTo>
                  <a:lnTo>
                    <a:pt x="781138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2760701" y="3014326"/>
            <a:ext cx="5222250" cy="835560"/>
            <a:chOff x="0" y="0"/>
            <a:chExt cx="7315200" cy="117043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315200" cy="1170432"/>
            </a:xfrm>
            <a:custGeom>
              <a:avLst/>
              <a:gdLst/>
              <a:ahLst/>
              <a:cxnLst/>
              <a:rect r="r" b="b" t="t" l="l"/>
              <a:pathLst>
                <a:path h="1170432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1781" r="0" b="-7178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731520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Streamlit chat interface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2580579" y="4000506"/>
            <a:ext cx="5582486" cy="847646"/>
            <a:chOff x="0" y="0"/>
            <a:chExt cx="7819809" cy="118736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8509" y="8509"/>
              <a:ext cx="7802880" cy="1170432"/>
            </a:xfrm>
            <a:custGeom>
              <a:avLst/>
              <a:gdLst/>
              <a:ahLst/>
              <a:cxnLst/>
              <a:rect r="r" b="b" t="t" l="l"/>
              <a:pathLst>
                <a:path h="1170432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1170432"/>
                  </a:lnTo>
                  <a:lnTo>
                    <a:pt x="0" y="1170432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819899" cy="1187450"/>
            </a:xfrm>
            <a:custGeom>
              <a:avLst/>
              <a:gdLst/>
              <a:ahLst/>
              <a:cxnLst/>
              <a:rect r="r" b="b" t="t" l="l"/>
              <a:pathLst>
                <a:path h="1187450" w="7819899">
                  <a:moveTo>
                    <a:pt x="8509" y="0"/>
                  </a:moveTo>
                  <a:lnTo>
                    <a:pt x="7811389" y="0"/>
                  </a:lnTo>
                  <a:cubicBezTo>
                    <a:pt x="7816088" y="0"/>
                    <a:pt x="7819899" y="3810"/>
                    <a:pt x="7819899" y="8509"/>
                  </a:cubicBezTo>
                  <a:lnTo>
                    <a:pt x="7819899" y="1178941"/>
                  </a:lnTo>
                  <a:cubicBezTo>
                    <a:pt x="7819899" y="1183640"/>
                    <a:pt x="7816088" y="1187450"/>
                    <a:pt x="7811389" y="1187450"/>
                  </a:cubicBezTo>
                  <a:lnTo>
                    <a:pt x="8509" y="1187450"/>
                  </a:lnTo>
                  <a:cubicBezTo>
                    <a:pt x="3810" y="1187450"/>
                    <a:pt x="0" y="1183640"/>
                    <a:pt x="0" y="117894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178941"/>
                  </a:lnTo>
                  <a:lnTo>
                    <a:pt x="8509" y="1178941"/>
                  </a:lnTo>
                  <a:lnTo>
                    <a:pt x="8509" y="1170432"/>
                  </a:lnTo>
                  <a:lnTo>
                    <a:pt x="7811389" y="1170432"/>
                  </a:lnTo>
                  <a:lnTo>
                    <a:pt x="7811389" y="1178941"/>
                  </a:lnTo>
                  <a:lnTo>
                    <a:pt x="7802880" y="1178941"/>
                  </a:lnTo>
                  <a:lnTo>
                    <a:pt x="7802880" y="8509"/>
                  </a:lnTo>
                  <a:lnTo>
                    <a:pt x="7811389" y="8509"/>
                  </a:lnTo>
                  <a:lnTo>
                    <a:pt x="781138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2760701" y="4006554"/>
            <a:ext cx="5222250" cy="835560"/>
            <a:chOff x="0" y="0"/>
            <a:chExt cx="7315200" cy="117043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315200" cy="1170432"/>
            </a:xfrm>
            <a:custGeom>
              <a:avLst/>
              <a:gdLst/>
              <a:ahLst/>
              <a:cxnLst/>
              <a:rect r="r" b="b" t="t" l="l"/>
              <a:pathLst>
                <a:path h="1170432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1781" r="0" b="-71781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731520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Source document citations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2580579" y="4992734"/>
            <a:ext cx="5582486" cy="847646"/>
            <a:chOff x="0" y="0"/>
            <a:chExt cx="7819809" cy="118736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8509" y="8509"/>
              <a:ext cx="7802880" cy="1170432"/>
            </a:xfrm>
            <a:custGeom>
              <a:avLst/>
              <a:gdLst/>
              <a:ahLst/>
              <a:cxnLst/>
              <a:rect r="r" b="b" t="t" l="l"/>
              <a:pathLst>
                <a:path h="1170432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1170432"/>
                  </a:lnTo>
                  <a:lnTo>
                    <a:pt x="0" y="1170432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819899" cy="1187450"/>
            </a:xfrm>
            <a:custGeom>
              <a:avLst/>
              <a:gdLst/>
              <a:ahLst/>
              <a:cxnLst/>
              <a:rect r="r" b="b" t="t" l="l"/>
              <a:pathLst>
                <a:path h="1187450" w="7819899">
                  <a:moveTo>
                    <a:pt x="8509" y="0"/>
                  </a:moveTo>
                  <a:lnTo>
                    <a:pt x="7811389" y="0"/>
                  </a:lnTo>
                  <a:cubicBezTo>
                    <a:pt x="7816088" y="0"/>
                    <a:pt x="7819899" y="3810"/>
                    <a:pt x="7819899" y="8509"/>
                  </a:cubicBezTo>
                  <a:lnTo>
                    <a:pt x="7819899" y="1178941"/>
                  </a:lnTo>
                  <a:cubicBezTo>
                    <a:pt x="7819899" y="1183640"/>
                    <a:pt x="7816088" y="1187450"/>
                    <a:pt x="7811389" y="1187450"/>
                  </a:cubicBezTo>
                  <a:lnTo>
                    <a:pt x="8509" y="1187450"/>
                  </a:lnTo>
                  <a:cubicBezTo>
                    <a:pt x="3810" y="1187450"/>
                    <a:pt x="0" y="1183640"/>
                    <a:pt x="0" y="117894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178941"/>
                  </a:lnTo>
                  <a:lnTo>
                    <a:pt x="8509" y="1178941"/>
                  </a:lnTo>
                  <a:lnTo>
                    <a:pt x="8509" y="1170432"/>
                  </a:lnTo>
                  <a:lnTo>
                    <a:pt x="7811389" y="1170432"/>
                  </a:lnTo>
                  <a:lnTo>
                    <a:pt x="7811389" y="1178941"/>
                  </a:lnTo>
                  <a:lnTo>
                    <a:pt x="7802880" y="1178941"/>
                  </a:lnTo>
                  <a:lnTo>
                    <a:pt x="7802880" y="8509"/>
                  </a:lnTo>
                  <a:lnTo>
                    <a:pt x="7811389" y="8509"/>
                  </a:lnTo>
                  <a:lnTo>
                    <a:pt x="781138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2760701" y="4998781"/>
            <a:ext cx="5222250" cy="835560"/>
            <a:chOff x="0" y="0"/>
            <a:chExt cx="7315200" cy="117043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15200" cy="1170432"/>
            </a:xfrm>
            <a:custGeom>
              <a:avLst/>
              <a:gdLst/>
              <a:ahLst/>
              <a:cxnLst/>
              <a:rect r="r" b="b" t="t" l="l"/>
              <a:pathLst>
                <a:path h="1170432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1781" r="0" b="-71781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731520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Token-by-token streaming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2580579" y="5984961"/>
            <a:ext cx="5582486" cy="847646"/>
            <a:chOff x="0" y="0"/>
            <a:chExt cx="7819809" cy="118736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8509" y="8509"/>
              <a:ext cx="7802880" cy="1170432"/>
            </a:xfrm>
            <a:custGeom>
              <a:avLst/>
              <a:gdLst/>
              <a:ahLst/>
              <a:cxnLst/>
              <a:rect r="r" b="b" t="t" l="l"/>
              <a:pathLst>
                <a:path h="1170432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1170432"/>
                  </a:lnTo>
                  <a:lnTo>
                    <a:pt x="0" y="1170432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819899" cy="1187450"/>
            </a:xfrm>
            <a:custGeom>
              <a:avLst/>
              <a:gdLst/>
              <a:ahLst/>
              <a:cxnLst/>
              <a:rect r="r" b="b" t="t" l="l"/>
              <a:pathLst>
                <a:path h="1187450" w="7819899">
                  <a:moveTo>
                    <a:pt x="8509" y="0"/>
                  </a:moveTo>
                  <a:lnTo>
                    <a:pt x="7811389" y="0"/>
                  </a:lnTo>
                  <a:cubicBezTo>
                    <a:pt x="7816088" y="0"/>
                    <a:pt x="7819899" y="3810"/>
                    <a:pt x="7819899" y="8509"/>
                  </a:cubicBezTo>
                  <a:lnTo>
                    <a:pt x="7819899" y="1178941"/>
                  </a:lnTo>
                  <a:cubicBezTo>
                    <a:pt x="7819899" y="1183640"/>
                    <a:pt x="7816088" y="1187450"/>
                    <a:pt x="7811389" y="1187450"/>
                  </a:cubicBezTo>
                  <a:lnTo>
                    <a:pt x="8509" y="1187450"/>
                  </a:lnTo>
                  <a:cubicBezTo>
                    <a:pt x="3810" y="1187450"/>
                    <a:pt x="0" y="1183640"/>
                    <a:pt x="0" y="117894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178941"/>
                  </a:lnTo>
                  <a:lnTo>
                    <a:pt x="8509" y="1178941"/>
                  </a:lnTo>
                  <a:lnTo>
                    <a:pt x="8509" y="1170432"/>
                  </a:lnTo>
                  <a:lnTo>
                    <a:pt x="7811389" y="1170432"/>
                  </a:lnTo>
                  <a:lnTo>
                    <a:pt x="7811389" y="1178941"/>
                  </a:lnTo>
                  <a:lnTo>
                    <a:pt x="7802880" y="1178941"/>
                  </a:lnTo>
                  <a:lnTo>
                    <a:pt x="7802880" y="8509"/>
                  </a:lnTo>
                  <a:lnTo>
                    <a:pt x="7811389" y="8509"/>
                  </a:lnTo>
                  <a:lnTo>
                    <a:pt x="781138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2760701" y="5991009"/>
            <a:ext cx="5222250" cy="835560"/>
            <a:chOff x="0" y="0"/>
            <a:chExt cx="7315200" cy="1170432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315200" cy="1170432"/>
            </a:xfrm>
            <a:custGeom>
              <a:avLst/>
              <a:gdLst/>
              <a:ahLst/>
              <a:cxnLst/>
              <a:rect r="r" b="b" t="t" l="l"/>
              <a:pathLst>
                <a:path h="1170432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1781" r="0" b="-71781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731520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Configurable Top-K slider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2580579" y="6977189"/>
            <a:ext cx="5582486" cy="847646"/>
            <a:chOff x="0" y="0"/>
            <a:chExt cx="7819809" cy="1187361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8509" y="8509"/>
              <a:ext cx="7802880" cy="1170432"/>
            </a:xfrm>
            <a:custGeom>
              <a:avLst/>
              <a:gdLst/>
              <a:ahLst/>
              <a:cxnLst/>
              <a:rect r="r" b="b" t="t" l="l"/>
              <a:pathLst>
                <a:path h="1170432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1170432"/>
                  </a:lnTo>
                  <a:lnTo>
                    <a:pt x="0" y="1170432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819899" cy="1187450"/>
            </a:xfrm>
            <a:custGeom>
              <a:avLst/>
              <a:gdLst/>
              <a:ahLst/>
              <a:cxnLst/>
              <a:rect r="r" b="b" t="t" l="l"/>
              <a:pathLst>
                <a:path h="1187450" w="7819899">
                  <a:moveTo>
                    <a:pt x="8509" y="0"/>
                  </a:moveTo>
                  <a:lnTo>
                    <a:pt x="7811389" y="0"/>
                  </a:lnTo>
                  <a:cubicBezTo>
                    <a:pt x="7816088" y="0"/>
                    <a:pt x="7819899" y="3810"/>
                    <a:pt x="7819899" y="8509"/>
                  </a:cubicBezTo>
                  <a:lnTo>
                    <a:pt x="7819899" y="1178941"/>
                  </a:lnTo>
                  <a:cubicBezTo>
                    <a:pt x="7819899" y="1183640"/>
                    <a:pt x="7816088" y="1187450"/>
                    <a:pt x="7811389" y="1187450"/>
                  </a:cubicBezTo>
                  <a:lnTo>
                    <a:pt x="8509" y="1187450"/>
                  </a:lnTo>
                  <a:cubicBezTo>
                    <a:pt x="3810" y="1187450"/>
                    <a:pt x="0" y="1183640"/>
                    <a:pt x="0" y="117894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178941"/>
                  </a:lnTo>
                  <a:lnTo>
                    <a:pt x="8509" y="1178941"/>
                  </a:lnTo>
                  <a:lnTo>
                    <a:pt x="8509" y="1170432"/>
                  </a:lnTo>
                  <a:lnTo>
                    <a:pt x="7811389" y="1170432"/>
                  </a:lnTo>
                  <a:lnTo>
                    <a:pt x="7811389" y="1178941"/>
                  </a:lnTo>
                  <a:lnTo>
                    <a:pt x="7802880" y="1178941"/>
                  </a:lnTo>
                  <a:lnTo>
                    <a:pt x="7802880" y="8509"/>
                  </a:lnTo>
                  <a:lnTo>
                    <a:pt x="7811389" y="8509"/>
                  </a:lnTo>
                  <a:lnTo>
                    <a:pt x="781138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2760701" y="6983236"/>
            <a:ext cx="5222250" cy="835560"/>
            <a:chOff x="0" y="0"/>
            <a:chExt cx="7315200" cy="117043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315200" cy="1170432"/>
            </a:xfrm>
            <a:custGeom>
              <a:avLst/>
              <a:gdLst/>
              <a:ahLst/>
              <a:cxnLst/>
              <a:rect r="r" b="b" t="t" l="l"/>
              <a:pathLst>
                <a:path h="1170432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1781" r="0" b="-71781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731520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Clear chat history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2580579" y="7969416"/>
            <a:ext cx="5582486" cy="847646"/>
            <a:chOff x="0" y="0"/>
            <a:chExt cx="7819809" cy="1187361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8509" y="8509"/>
              <a:ext cx="7802880" cy="1170432"/>
            </a:xfrm>
            <a:custGeom>
              <a:avLst/>
              <a:gdLst/>
              <a:ahLst/>
              <a:cxnLst/>
              <a:rect r="r" b="b" t="t" l="l"/>
              <a:pathLst>
                <a:path h="1170432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1170432"/>
                  </a:lnTo>
                  <a:lnTo>
                    <a:pt x="0" y="1170432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819899" cy="1187450"/>
            </a:xfrm>
            <a:custGeom>
              <a:avLst/>
              <a:gdLst/>
              <a:ahLst/>
              <a:cxnLst/>
              <a:rect r="r" b="b" t="t" l="l"/>
              <a:pathLst>
                <a:path h="1187450" w="7819899">
                  <a:moveTo>
                    <a:pt x="8509" y="0"/>
                  </a:moveTo>
                  <a:lnTo>
                    <a:pt x="7811389" y="0"/>
                  </a:lnTo>
                  <a:cubicBezTo>
                    <a:pt x="7816088" y="0"/>
                    <a:pt x="7819899" y="3810"/>
                    <a:pt x="7819899" y="8509"/>
                  </a:cubicBezTo>
                  <a:lnTo>
                    <a:pt x="7819899" y="1178941"/>
                  </a:lnTo>
                  <a:cubicBezTo>
                    <a:pt x="7819899" y="1183640"/>
                    <a:pt x="7816088" y="1187450"/>
                    <a:pt x="7811389" y="1187450"/>
                  </a:cubicBezTo>
                  <a:lnTo>
                    <a:pt x="8509" y="1187450"/>
                  </a:lnTo>
                  <a:cubicBezTo>
                    <a:pt x="3810" y="1187450"/>
                    <a:pt x="0" y="1183640"/>
                    <a:pt x="0" y="1178941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178941"/>
                  </a:lnTo>
                  <a:lnTo>
                    <a:pt x="8509" y="1178941"/>
                  </a:lnTo>
                  <a:lnTo>
                    <a:pt x="8509" y="1170432"/>
                  </a:lnTo>
                  <a:lnTo>
                    <a:pt x="7811389" y="1170432"/>
                  </a:lnTo>
                  <a:lnTo>
                    <a:pt x="7811389" y="1178941"/>
                  </a:lnTo>
                  <a:lnTo>
                    <a:pt x="7802880" y="1178941"/>
                  </a:lnTo>
                  <a:lnTo>
                    <a:pt x="7802880" y="8509"/>
                  </a:lnTo>
                  <a:lnTo>
                    <a:pt x="7811389" y="8509"/>
                  </a:lnTo>
                  <a:lnTo>
                    <a:pt x="781138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2760701" y="7975464"/>
            <a:ext cx="5222250" cy="835560"/>
            <a:chOff x="0" y="0"/>
            <a:chExt cx="7315200" cy="1170432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315200" cy="1170432"/>
            </a:xfrm>
            <a:custGeom>
              <a:avLst/>
              <a:gdLst/>
              <a:ahLst/>
              <a:cxnLst/>
              <a:rect r="r" b="b" t="t" l="l"/>
              <a:pathLst>
                <a:path h="1170432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1781" r="0" b="-71781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47625"/>
              <a:ext cx="731520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LangSmith tracing</a:t>
              </a:r>
            </a:p>
          </p:txBody>
        </p:sp>
      </p:grpSp>
      <p:sp>
        <p:nvSpPr>
          <p:cNvPr name="TextBox 50" id="50"/>
          <p:cNvSpPr txBox="true"/>
          <p:nvPr/>
        </p:nvSpPr>
        <p:spPr>
          <a:xfrm rot="0">
            <a:off x="17007840" y="9348429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Page 10</a:t>
            </a:r>
          </a:p>
        </p:txBody>
      </p:sp>
    </p:spTree>
  </p:cSld>
  <p:clrMapOvr>
    <a:masterClrMapping/>
  </p:clrMapOvr>
  <p:transition spd="slow">
    <p:push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84A9FF">
                <a:alpha val="100000"/>
              </a:srgbClr>
            </a:gs>
            <a:gs pos="50000">
              <a:srgbClr val="F5F8FF">
                <a:alpha val="100000"/>
              </a:srgbClr>
            </a:gs>
            <a:gs pos="100000">
              <a:srgbClr val="5387F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244859" cy="10312403"/>
            <a:chOff x="0" y="0"/>
            <a:chExt cx="326479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292608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292608">
                  <a:moveTo>
                    <a:pt x="0" y="0"/>
                  </a:moveTo>
                  <a:lnTo>
                    <a:pt x="292608" y="0"/>
                  </a:lnTo>
                  <a:lnTo>
                    <a:pt x="292608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26390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326390">
                  <a:moveTo>
                    <a:pt x="16891" y="0"/>
                  </a:moveTo>
                  <a:lnTo>
                    <a:pt x="309499" y="0"/>
                  </a:lnTo>
                  <a:cubicBezTo>
                    <a:pt x="318897" y="0"/>
                    <a:pt x="326390" y="7620"/>
                    <a:pt x="326390" y="16891"/>
                  </a:cubicBezTo>
                  <a:lnTo>
                    <a:pt x="326390" y="13732890"/>
                  </a:lnTo>
                  <a:cubicBezTo>
                    <a:pt x="326390" y="13742290"/>
                    <a:pt x="318770" y="13749782"/>
                    <a:pt x="309499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309499" y="13716000"/>
                  </a:lnTo>
                  <a:lnTo>
                    <a:pt x="309499" y="13732890"/>
                  </a:lnTo>
                  <a:lnTo>
                    <a:pt x="292608" y="13732890"/>
                  </a:lnTo>
                  <a:lnTo>
                    <a:pt x="292608" y="16891"/>
                  </a:lnTo>
                  <a:lnTo>
                    <a:pt x="309499" y="16891"/>
                  </a:lnTo>
                  <a:lnTo>
                    <a:pt x="309499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548640" y="548640"/>
            <a:ext cx="16459200" cy="731520"/>
            <a:chOff x="0" y="0"/>
            <a:chExt cx="21945600" cy="975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975360"/>
            </a:xfrm>
            <a:custGeom>
              <a:avLst/>
              <a:gdLst/>
              <a:ahLst/>
              <a:cxnLst/>
              <a:rect r="r" b="b" t="t" l="l"/>
              <a:pathLst>
                <a:path h="975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1945600" cy="1022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600">
                  <a:solidFill>
                    <a:srgbClr val="0066B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ROADMAP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48640" y="1371600"/>
            <a:ext cx="16459200" cy="1287066"/>
            <a:chOff x="0" y="0"/>
            <a:chExt cx="21945600" cy="171608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716088"/>
            </a:xfrm>
            <a:custGeom>
              <a:avLst/>
              <a:gdLst/>
              <a:ahLst/>
              <a:cxnLst/>
              <a:rect r="r" b="b" t="t" l="l"/>
              <a:pathLst>
                <a:path h="1716088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16088"/>
                  </a:lnTo>
                  <a:lnTo>
                    <a:pt x="0" y="17160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655" r="0" b="-1847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23825"/>
              <a:ext cx="21945600" cy="18399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80"/>
                </a:lnSpc>
              </a:pPr>
              <a:r>
                <a:rPr lang="en-US" sz="6400" b="true">
                  <a:solidFill>
                    <a:srgbClr val="1A305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From Prototype to Production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2287" y="2828287"/>
            <a:ext cx="5499097" cy="6596377"/>
            <a:chOff x="0" y="0"/>
            <a:chExt cx="7332129" cy="879516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8509" y="8509"/>
              <a:ext cx="7315200" cy="8778240"/>
            </a:xfrm>
            <a:custGeom>
              <a:avLst/>
              <a:gdLst/>
              <a:ahLst/>
              <a:cxnLst/>
              <a:rect r="r" b="b" t="t" l="l"/>
              <a:pathLst>
                <a:path h="877824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8778240"/>
                  </a:lnTo>
                  <a:lnTo>
                    <a:pt x="0" y="877824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332218" cy="8795258"/>
            </a:xfrm>
            <a:custGeom>
              <a:avLst/>
              <a:gdLst/>
              <a:ahLst/>
              <a:cxnLst/>
              <a:rect r="r" b="b" t="t" l="l"/>
              <a:pathLst>
                <a:path h="8795258" w="7332218">
                  <a:moveTo>
                    <a:pt x="8509" y="0"/>
                  </a:moveTo>
                  <a:lnTo>
                    <a:pt x="7323709" y="0"/>
                  </a:lnTo>
                  <a:cubicBezTo>
                    <a:pt x="7328408" y="0"/>
                    <a:pt x="7332218" y="3810"/>
                    <a:pt x="7332218" y="8509"/>
                  </a:cubicBezTo>
                  <a:lnTo>
                    <a:pt x="7332218" y="8786749"/>
                  </a:lnTo>
                  <a:cubicBezTo>
                    <a:pt x="7332218" y="8791448"/>
                    <a:pt x="7328408" y="8795258"/>
                    <a:pt x="7323709" y="8795258"/>
                  </a:cubicBezTo>
                  <a:lnTo>
                    <a:pt x="8509" y="8795258"/>
                  </a:lnTo>
                  <a:cubicBezTo>
                    <a:pt x="3810" y="8795258"/>
                    <a:pt x="0" y="8791448"/>
                    <a:pt x="0" y="87867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8786749"/>
                  </a:lnTo>
                  <a:lnTo>
                    <a:pt x="8509" y="8786749"/>
                  </a:lnTo>
                  <a:lnTo>
                    <a:pt x="8509" y="8778240"/>
                  </a:lnTo>
                  <a:lnTo>
                    <a:pt x="7323709" y="8778240"/>
                  </a:lnTo>
                  <a:lnTo>
                    <a:pt x="7323709" y="8786749"/>
                  </a:lnTo>
                  <a:lnTo>
                    <a:pt x="7315200" y="8786749"/>
                  </a:lnTo>
                  <a:lnTo>
                    <a:pt x="7315200" y="8509"/>
                  </a:lnTo>
                  <a:lnTo>
                    <a:pt x="7323709" y="8509"/>
                  </a:lnTo>
                  <a:lnTo>
                    <a:pt x="73237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35943" y="2821943"/>
            <a:ext cx="5511803" cy="848363"/>
            <a:chOff x="0" y="0"/>
            <a:chExt cx="7349071" cy="113115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73152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097280"/>
                  </a:lnTo>
                  <a:lnTo>
                    <a:pt x="0" y="1097280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348982" cy="1131064"/>
            </a:xfrm>
            <a:custGeom>
              <a:avLst/>
              <a:gdLst/>
              <a:ahLst/>
              <a:cxnLst/>
              <a:rect r="r" b="b" t="t" l="l"/>
              <a:pathLst>
                <a:path h="1131064" w="7348982">
                  <a:moveTo>
                    <a:pt x="16891" y="0"/>
                  </a:moveTo>
                  <a:lnTo>
                    <a:pt x="7332091" y="0"/>
                  </a:lnTo>
                  <a:cubicBezTo>
                    <a:pt x="7341489" y="0"/>
                    <a:pt x="7348982" y="7620"/>
                    <a:pt x="7348982" y="16891"/>
                  </a:cubicBezTo>
                  <a:lnTo>
                    <a:pt x="7348982" y="1114171"/>
                  </a:lnTo>
                  <a:cubicBezTo>
                    <a:pt x="7348982" y="1123569"/>
                    <a:pt x="7341362" y="1131062"/>
                    <a:pt x="7332091" y="1131062"/>
                  </a:cubicBezTo>
                  <a:lnTo>
                    <a:pt x="16891" y="1131062"/>
                  </a:lnTo>
                  <a:cubicBezTo>
                    <a:pt x="7620" y="1131189"/>
                    <a:pt x="0" y="1123569"/>
                    <a:pt x="0" y="111417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114171"/>
                  </a:lnTo>
                  <a:lnTo>
                    <a:pt x="16891" y="1114171"/>
                  </a:lnTo>
                  <a:lnTo>
                    <a:pt x="16891" y="1097280"/>
                  </a:lnTo>
                  <a:lnTo>
                    <a:pt x="7332091" y="1097280"/>
                  </a:lnTo>
                  <a:lnTo>
                    <a:pt x="7332091" y="1114171"/>
                  </a:lnTo>
                  <a:lnTo>
                    <a:pt x="7315200" y="1114171"/>
                  </a:lnTo>
                  <a:lnTo>
                    <a:pt x="7315200" y="16891"/>
                  </a:lnTo>
                  <a:lnTo>
                    <a:pt x="7332091" y="16891"/>
                  </a:lnTo>
                  <a:lnTo>
                    <a:pt x="7332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731520" y="2926080"/>
            <a:ext cx="5120640" cy="640080"/>
            <a:chOff x="0" y="0"/>
            <a:chExt cx="6827520" cy="8534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27520" cy="853440"/>
            </a:xfrm>
            <a:custGeom>
              <a:avLst/>
              <a:gdLst/>
              <a:ahLst/>
              <a:cxnLst/>
              <a:rect r="r" b="b" t="t" l="l"/>
              <a:pathLst>
                <a:path h="85344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6827520" cy="9105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Now - Prototype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731520" y="3931920"/>
            <a:ext cx="5120640" cy="1005840"/>
            <a:chOff x="0" y="0"/>
            <a:chExt cx="6827520" cy="13411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275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196" r="0" b="-49196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6827520" cy="13792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0066B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▸  </a:t>
              </a:r>
              <a:r>
                <a:rPr lang="en-US" sz="24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Local Ollama LLM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731520" y="5120640"/>
            <a:ext cx="5120640" cy="1005840"/>
            <a:chOff x="0" y="0"/>
            <a:chExt cx="6827520" cy="134112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8275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196" r="0" b="-49196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827520" cy="13792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0066B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▸  </a:t>
              </a:r>
              <a:r>
                <a:rPr lang="en-US" sz="24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ChromaDB local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731520" y="6309360"/>
            <a:ext cx="5120640" cy="1005840"/>
            <a:chOff x="0" y="0"/>
            <a:chExt cx="6827520" cy="134112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8275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196" r="0" b="-49196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6827520" cy="13792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0066B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▸  </a:t>
              </a:r>
              <a:r>
                <a:rPr lang="en-US" sz="24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Basic Streamlit UI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731520" y="7498080"/>
            <a:ext cx="5120640" cy="1005840"/>
            <a:chOff x="0" y="0"/>
            <a:chExt cx="6827520" cy="13411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8275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196" r="0" b="-49196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6827520" cy="13792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0066B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▸  </a:t>
              </a:r>
              <a:r>
                <a:rPr lang="en-US" sz="24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LangSmith monitoring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6394447" y="2828287"/>
            <a:ext cx="5499097" cy="6596377"/>
            <a:chOff x="0" y="0"/>
            <a:chExt cx="7332129" cy="879516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8509" y="8509"/>
              <a:ext cx="7315200" cy="8778240"/>
            </a:xfrm>
            <a:custGeom>
              <a:avLst/>
              <a:gdLst/>
              <a:ahLst/>
              <a:cxnLst/>
              <a:rect r="r" b="b" t="t" l="l"/>
              <a:pathLst>
                <a:path h="877824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8778240"/>
                  </a:lnTo>
                  <a:lnTo>
                    <a:pt x="0" y="877824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332218" cy="8795258"/>
            </a:xfrm>
            <a:custGeom>
              <a:avLst/>
              <a:gdLst/>
              <a:ahLst/>
              <a:cxnLst/>
              <a:rect r="r" b="b" t="t" l="l"/>
              <a:pathLst>
                <a:path h="8795258" w="7332218">
                  <a:moveTo>
                    <a:pt x="8509" y="0"/>
                  </a:moveTo>
                  <a:lnTo>
                    <a:pt x="7323709" y="0"/>
                  </a:lnTo>
                  <a:cubicBezTo>
                    <a:pt x="7328408" y="0"/>
                    <a:pt x="7332218" y="3810"/>
                    <a:pt x="7332218" y="8509"/>
                  </a:cubicBezTo>
                  <a:lnTo>
                    <a:pt x="7332218" y="8786749"/>
                  </a:lnTo>
                  <a:cubicBezTo>
                    <a:pt x="7332218" y="8791448"/>
                    <a:pt x="7328408" y="8795258"/>
                    <a:pt x="7323709" y="8795258"/>
                  </a:cubicBezTo>
                  <a:lnTo>
                    <a:pt x="8509" y="8795258"/>
                  </a:lnTo>
                  <a:cubicBezTo>
                    <a:pt x="3810" y="8795258"/>
                    <a:pt x="0" y="8791448"/>
                    <a:pt x="0" y="87867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8786749"/>
                  </a:lnTo>
                  <a:lnTo>
                    <a:pt x="8509" y="8786749"/>
                  </a:lnTo>
                  <a:lnTo>
                    <a:pt x="8509" y="8778240"/>
                  </a:lnTo>
                  <a:lnTo>
                    <a:pt x="7323709" y="8778240"/>
                  </a:lnTo>
                  <a:lnTo>
                    <a:pt x="7323709" y="8786749"/>
                  </a:lnTo>
                  <a:lnTo>
                    <a:pt x="7315200" y="8786749"/>
                  </a:lnTo>
                  <a:lnTo>
                    <a:pt x="7315200" y="8509"/>
                  </a:lnTo>
                  <a:lnTo>
                    <a:pt x="7323709" y="8509"/>
                  </a:lnTo>
                  <a:lnTo>
                    <a:pt x="7323709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FF6D00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6388103" y="2821943"/>
            <a:ext cx="5511803" cy="848363"/>
            <a:chOff x="0" y="0"/>
            <a:chExt cx="7349071" cy="113115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6891" y="16891"/>
              <a:ext cx="73152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097280"/>
                  </a:lnTo>
                  <a:lnTo>
                    <a:pt x="0" y="1097280"/>
                  </a:lnTo>
                  <a:close/>
                </a:path>
              </a:pathLst>
            </a:custGeom>
            <a:solidFill>
              <a:srgbClr val="FF6D00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348982" cy="1131064"/>
            </a:xfrm>
            <a:custGeom>
              <a:avLst/>
              <a:gdLst/>
              <a:ahLst/>
              <a:cxnLst/>
              <a:rect r="r" b="b" t="t" l="l"/>
              <a:pathLst>
                <a:path h="1131064" w="7348982">
                  <a:moveTo>
                    <a:pt x="16891" y="0"/>
                  </a:moveTo>
                  <a:lnTo>
                    <a:pt x="7332091" y="0"/>
                  </a:lnTo>
                  <a:cubicBezTo>
                    <a:pt x="7341489" y="0"/>
                    <a:pt x="7348982" y="7620"/>
                    <a:pt x="7348982" y="16891"/>
                  </a:cubicBezTo>
                  <a:lnTo>
                    <a:pt x="7348982" y="1114171"/>
                  </a:lnTo>
                  <a:cubicBezTo>
                    <a:pt x="7348982" y="1123569"/>
                    <a:pt x="7341362" y="1131062"/>
                    <a:pt x="7332091" y="1131062"/>
                  </a:cubicBezTo>
                  <a:lnTo>
                    <a:pt x="16891" y="1131062"/>
                  </a:lnTo>
                  <a:cubicBezTo>
                    <a:pt x="7620" y="1131189"/>
                    <a:pt x="0" y="1123569"/>
                    <a:pt x="0" y="111417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114171"/>
                  </a:lnTo>
                  <a:lnTo>
                    <a:pt x="16891" y="1114171"/>
                  </a:lnTo>
                  <a:lnTo>
                    <a:pt x="16891" y="1097280"/>
                  </a:lnTo>
                  <a:lnTo>
                    <a:pt x="7332091" y="1097280"/>
                  </a:lnTo>
                  <a:lnTo>
                    <a:pt x="7332091" y="1114171"/>
                  </a:lnTo>
                  <a:lnTo>
                    <a:pt x="7315200" y="1114171"/>
                  </a:lnTo>
                  <a:lnTo>
                    <a:pt x="7315200" y="16891"/>
                  </a:lnTo>
                  <a:lnTo>
                    <a:pt x="7332091" y="16891"/>
                  </a:lnTo>
                  <a:lnTo>
                    <a:pt x="7332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FF6D00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6583680" y="2926080"/>
            <a:ext cx="5120640" cy="640080"/>
            <a:chOff x="0" y="0"/>
            <a:chExt cx="6827520" cy="8534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827520" cy="853440"/>
            </a:xfrm>
            <a:custGeom>
              <a:avLst/>
              <a:gdLst/>
              <a:ahLst/>
              <a:cxnLst/>
              <a:rect r="r" b="b" t="t" l="l"/>
              <a:pathLst>
                <a:path h="85344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57150"/>
              <a:ext cx="6827520" cy="9105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Short Term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6583680" y="3931920"/>
            <a:ext cx="5120640" cy="1005840"/>
            <a:chOff x="0" y="0"/>
            <a:chExt cx="6827520" cy="13411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68275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196" r="0" b="-49196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6827520" cy="13792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FF6D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▸  </a:t>
              </a:r>
              <a:r>
                <a:rPr lang="en-US" sz="24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Query rewriting node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583680" y="5120640"/>
            <a:ext cx="5120640" cy="1005840"/>
            <a:chOff x="0" y="0"/>
            <a:chExt cx="6827520" cy="13411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8275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196" r="0" b="-49196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6827520" cy="13792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FF6D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▸  </a:t>
              </a:r>
              <a:r>
                <a:rPr lang="en-US" sz="24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Guardrails node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6583680" y="6309360"/>
            <a:ext cx="5120640" cy="1005840"/>
            <a:chOff x="0" y="0"/>
            <a:chExt cx="6827520" cy="13411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8275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196" r="0" b="-49196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6827520" cy="13792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FF6D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▸  </a:t>
              </a:r>
              <a:r>
                <a:rPr lang="en-US" sz="24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Multi-language support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6583680" y="7498080"/>
            <a:ext cx="5120640" cy="1005840"/>
            <a:chOff x="0" y="0"/>
            <a:chExt cx="6827520" cy="134112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8275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196" r="0" b="-49196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6827520" cy="13792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FF6D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▸  </a:t>
              </a:r>
              <a:r>
                <a:rPr lang="en-US" sz="24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Better UI/UX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2227557" y="2809237"/>
            <a:ext cx="5537197" cy="6634477"/>
            <a:chOff x="0" y="0"/>
            <a:chExt cx="7382929" cy="8845969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33909" y="33909"/>
              <a:ext cx="7315200" cy="8778240"/>
            </a:xfrm>
            <a:custGeom>
              <a:avLst/>
              <a:gdLst/>
              <a:ahLst/>
              <a:cxnLst/>
              <a:rect r="r" b="b" t="t" l="l"/>
              <a:pathLst>
                <a:path h="877824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8778240"/>
                  </a:lnTo>
                  <a:lnTo>
                    <a:pt x="0" y="877824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383018" cy="8846058"/>
            </a:xfrm>
            <a:custGeom>
              <a:avLst/>
              <a:gdLst/>
              <a:ahLst/>
              <a:cxnLst/>
              <a:rect r="r" b="b" t="t" l="l"/>
              <a:pathLst>
                <a:path h="8846058" w="7383018">
                  <a:moveTo>
                    <a:pt x="33909" y="0"/>
                  </a:moveTo>
                  <a:lnTo>
                    <a:pt x="7349109" y="0"/>
                  </a:lnTo>
                  <a:cubicBezTo>
                    <a:pt x="7367778" y="0"/>
                    <a:pt x="7383018" y="15113"/>
                    <a:pt x="7383018" y="33909"/>
                  </a:cubicBezTo>
                  <a:lnTo>
                    <a:pt x="7383018" y="8812149"/>
                  </a:lnTo>
                  <a:cubicBezTo>
                    <a:pt x="7383018" y="8830818"/>
                    <a:pt x="7367905" y="8846058"/>
                    <a:pt x="7349109" y="8846058"/>
                  </a:cubicBezTo>
                  <a:lnTo>
                    <a:pt x="33909" y="8846058"/>
                  </a:lnTo>
                  <a:cubicBezTo>
                    <a:pt x="15240" y="8846058"/>
                    <a:pt x="0" y="8830945"/>
                    <a:pt x="0" y="8812149"/>
                  </a:cubicBezTo>
                  <a:lnTo>
                    <a:pt x="0" y="33909"/>
                  </a:lnTo>
                  <a:cubicBezTo>
                    <a:pt x="0" y="15113"/>
                    <a:pt x="15113" y="0"/>
                    <a:pt x="33909" y="0"/>
                  </a:cubicBezTo>
                  <a:moveTo>
                    <a:pt x="33909" y="67691"/>
                  </a:moveTo>
                  <a:lnTo>
                    <a:pt x="33909" y="33909"/>
                  </a:lnTo>
                  <a:lnTo>
                    <a:pt x="67691" y="33909"/>
                  </a:lnTo>
                  <a:lnTo>
                    <a:pt x="67691" y="8812149"/>
                  </a:lnTo>
                  <a:lnTo>
                    <a:pt x="33909" y="8812149"/>
                  </a:lnTo>
                  <a:lnTo>
                    <a:pt x="33909" y="8778240"/>
                  </a:lnTo>
                  <a:lnTo>
                    <a:pt x="7349109" y="8778240"/>
                  </a:lnTo>
                  <a:lnTo>
                    <a:pt x="7349109" y="8812149"/>
                  </a:lnTo>
                  <a:lnTo>
                    <a:pt x="7315200" y="8812149"/>
                  </a:lnTo>
                  <a:lnTo>
                    <a:pt x="7315200" y="33909"/>
                  </a:lnTo>
                  <a:lnTo>
                    <a:pt x="7349109" y="33909"/>
                  </a:lnTo>
                  <a:lnTo>
                    <a:pt x="7349109" y="67691"/>
                  </a:lnTo>
                  <a:lnTo>
                    <a:pt x="33909" y="67691"/>
                  </a:lnTo>
                  <a:close/>
                </a:path>
              </a:pathLst>
            </a:custGeom>
            <a:solidFill>
              <a:srgbClr val="00C853"/>
            </a:solid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2240263" y="2821943"/>
            <a:ext cx="5511803" cy="848363"/>
            <a:chOff x="0" y="0"/>
            <a:chExt cx="7349071" cy="1131151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16891" y="16891"/>
              <a:ext cx="73152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097280"/>
                  </a:lnTo>
                  <a:lnTo>
                    <a:pt x="0" y="1097280"/>
                  </a:lnTo>
                  <a:close/>
                </a:path>
              </a:pathLst>
            </a:custGeom>
            <a:solidFill>
              <a:srgbClr val="00C853"/>
            </a:solidFill>
          </p:spPr>
        </p:sp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348982" cy="1131064"/>
            </a:xfrm>
            <a:custGeom>
              <a:avLst/>
              <a:gdLst/>
              <a:ahLst/>
              <a:cxnLst/>
              <a:rect r="r" b="b" t="t" l="l"/>
              <a:pathLst>
                <a:path h="1131064" w="7348982">
                  <a:moveTo>
                    <a:pt x="16891" y="0"/>
                  </a:moveTo>
                  <a:lnTo>
                    <a:pt x="7332091" y="0"/>
                  </a:lnTo>
                  <a:cubicBezTo>
                    <a:pt x="7341489" y="0"/>
                    <a:pt x="7348982" y="7620"/>
                    <a:pt x="7348982" y="16891"/>
                  </a:cubicBezTo>
                  <a:lnTo>
                    <a:pt x="7348982" y="1114171"/>
                  </a:lnTo>
                  <a:cubicBezTo>
                    <a:pt x="7348982" y="1123569"/>
                    <a:pt x="7341362" y="1131062"/>
                    <a:pt x="7332091" y="1131062"/>
                  </a:cubicBezTo>
                  <a:lnTo>
                    <a:pt x="16891" y="1131062"/>
                  </a:lnTo>
                  <a:cubicBezTo>
                    <a:pt x="7620" y="1131189"/>
                    <a:pt x="0" y="1123569"/>
                    <a:pt x="0" y="111417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114171"/>
                  </a:lnTo>
                  <a:lnTo>
                    <a:pt x="16891" y="1114171"/>
                  </a:lnTo>
                  <a:lnTo>
                    <a:pt x="16891" y="1097280"/>
                  </a:lnTo>
                  <a:lnTo>
                    <a:pt x="7332091" y="1097280"/>
                  </a:lnTo>
                  <a:lnTo>
                    <a:pt x="7332091" y="1114171"/>
                  </a:lnTo>
                  <a:lnTo>
                    <a:pt x="7315200" y="1114171"/>
                  </a:lnTo>
                  <a:lnTo>
                    <a:pt x="7315200" y="16891"/>
                  </a:lnTo>
                  <a:lnTo>
                    <a:pt x="7332091" y="16891"/>
                  </a:lnTo>
                  <a:lnTo>
                    <a:pt x="7332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C853"/>
            </a:solid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12435840" y="2926080"/>
            <a:ext cx="5120640" cy="640080"/>
            <a:chOff x="0" y="0"/>
            <a:chExt cx="6827520" cy="8534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6827520" cy="853440"/>
            </a:xfrm>
            <a:custGeom>
              <a:avLst/>
              <a:gdLst/>
              <a:ahLst/>
              <a:cxnLst/>
              <a:rect r="r" b="b" t="t" l="l"/>
              <a:pathLst>
                <a:path h="85344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57150"/>
              <a:ext cx="6827520" cy="9105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Production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2435840" y="3931920"/>
            <a:ext cx="5120640" cy="1005840"/>
            <a:chOff x="0" y="0"/>
            <a:chExt cx="6827520" cy="134112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68275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196" r="0" b="-49196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6827520" cy="13792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00C85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▸  </a:t>
              </a:r>
              <a:r>
                <a:rPr lang="en-US" sz="24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GPT-4o / Claude API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2435840" y="5120640"/>
            <a:ext cx="5120640" cy="1005840"/>
            <a:chOff x="0" y="0"/>
            <a:chExt cx="6827520" cy="134112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68275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196" r="0" b="-49196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38100"/>
              <a:ext cx="6827520" cy="13792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00C85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▸  </a:t>
              </a:r>
              <a:r>
                <a:rPr lang="en-US" sz="24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Pinecone / Weaviate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12435840" y="6309360"/>
            <a:ext cx="5120640" cy="1005840"/>
            <a:chOff x="0" y="0"/>
            <a:chExt cx="6827520" cy="134112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68275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196" r="0" b="-49196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6827520" cy="13792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00C85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▸  </a:t>
              </a:r>
              <a:r>
                <a:rPr lang="en-US" sz="24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AWS / GCP deployment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2435840" y="7498080"/>
            <a:ext cx="5120640" cy="1005840"/>
            <a:chOff x="0" y="0"/>
            <a:chExt cx="6827520" cy="134112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827520" cy="1341120"/>
            </a:xfrm>
            <a:custGeom>
              <a:avLst/>
              <a:gdLst/>
              <a:ahLst/>
              <a:cxnLst/>
              <a:rect r="r" b="b" t="t" l="l"/>
              <a:pathLst>
                <a:path h="1341120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196" r="0" b="-49196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6827520" cy="13792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00C85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▸  </a:t>
              </a:r>
              <a:r>
                <a:rPr lang="en-US" sz="24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Self-hosted LangSmith</a:t>
              </a:r>
            </a:p>
          </p:txBody>
        </p:sp>
      </p:grpSp>
      <p:sp>
        <p:nvSpPr>
          <p:cNvPr name="TextBox 74" id="74"/>
          <p:cNvSpPr txBox="true"/>
          <p:nvPr/>
        </p:nvSpPr>
        <p:spPr>
          <a:xfrm rot="0">
            <a:off x="17007840" y="9577064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Page 11</a:t>
            </a:r>
          </a:p>
        </p:txBody>
      </p:sp>
    </p:spTree>
  </p:cSld>
  <p:clrMapOvr>
    <a:masterClrMapping/>
  </p:clrMapOvr>
  <p:transition spd="slow">
    <p:push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84A9FF">
                <a:alpha val="100000"/>
              </a:srgbClr>
            </a:gs>
            <a:gs pos="50000">
              <a:srgbClr val="F5F8FF">
                <a:alpha val="100000"/>
              </a:srgbClr>
            </a:gs>
            <a:gs pos="100000">
              <a:srgbClr val="5387F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244859" cy="10312403"/>
            <a:chOff x="0" y="0"/>
            <a:chExt cx="326479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292608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292608">
                  <a:moveTo>
                    <a:pt x="0" y="0"/>
                  </a:moveTo>
                  <a:lnTo>
                    <a:pt x="292608" y="0"/>
                  </a:lnTo>
                  <a:lnTo>
                    <a:pt x="292608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26390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326390">
                  <a:moveTo>
                    <a:pt x="16891" y="0"/>
                  </a:moveTo>
                  <a:lnTo>
                    <a:pt x="309499" y="0"/>
                  </a:lnTo>
                  <a:cubicBezTo>
                    <a:pt x="318897" y="0"/>
                    <a:pt x="326390" y="7620"/>
                    <a:pt x="326390" y="16891"/>
                  </a:cubicBezTo>
                  <a:lnTo>
                    <a:pt x="326390" y="13732890"/>
                  </a:lnTo>
                  <a:cubicBezTo>
                    <a:pt x="326390" y="13742290"/>
                    <a:pt x="318770" y="13749782"/>
                    <a:pt x="309499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309499" y="13716000"/>
                  </a:lnTo>
                  <a:lnTo>
                    <a:pt x="309499" y="13732890"/>
                  </a:lnTo>
                  <a:lnTo>
                    <a:pt x="292608" y="13732890"/>
                  </a:lnTo>
                  <a:lnTo>
                    <a:pt x="292608" y="16891"/>
                  </a:lnTo>
                  <a:lnTo>
                    <a:pt x="309499" y="16891"/>
                  </a:lnTo>
                  <a:lnTo>
                    <a:pt x="309499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548640" y="548640"/>
            <a:ext cx="16459200" cy="731520"/>
            <a:chOff x="0" y="0"/>
            <a:chExt cx="21945600" cy="975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975360"/>
            </a:xfrm>
            <a:custGeom>
              <a:avLst/>
              <a:gdLst/>
              <a:ahLst/>
              <a:cxnLst/>
              <a:rect r="r" b="b" t="t" l="l"/>
              <a:pathLst>
                <a:path h="9753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8413" r="0" b="-38841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1945600" cy="1022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b="true" sz="2200" spc="600">
                  <a:solidFill>
                    <a:srgbClr val="0066B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SUMMARY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48640" y="1371600"/>
            <a:ext cx="16459200" cy="1287066"/>
            <a:chOff x="0" y="0"/>
            <a:chExt cx="21945600" cy="171608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716088"/>
            </a:xfrm>
            <a:custGeom>
              <a:avLst/>
              <a:gdLst/>
              <a:ahLst/>
              <a:cxnLst/>
              <a:rect r="r" b="b" t="t" l="l"/>
              <a:pathLst>
                <a:path h="1716088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16088"/>
                  </a:lnTo>
                  <a:lnTo>
                    <a:pt x="0" y="17160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655" r="0" b="-1847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23825"/>
              <a:ext cx="21945600" cy="18399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80"/>
                </a:lnSpc>
              </a:pPr>
              <a:r>
                <a:rPr lang="en-US" sz="6400" b="true">
                  <a:solidFill>
                    <a:srgbClr val="1A305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We Built &amp; What's Next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2287" y="2736847"/>
            <a:ext cx="17203417" cy="1109977"/>
            <a:chOff x="0" y="0"/>
            <a:chExt cx="22937889" cy="147996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8509" y="8509"/>
              <a:ext cx="22920961" cy="1463040"/>
            </a:xfrm>
            <a:custGeom>
              <a:avLst/>
              <a:gdLst/>
              <a:ahLst/>
              <a:cxnLst/>
              <a:rect r="r" b="b" t="t" l="l"/>
              <a:pathLst>
                <a:path h="1463040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937978" cy="1480058"/>
            </a:xfrm>
            <a:custGeom>
              <a:avLst/>
              <a:gdLst/>
              <a:ahLst/>
              <a:cxnLst/>
              <a:rect r="r" b="b" t="t" l="l"/>
              <a:pathLst>
                <a:path h="1480058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471549"/>
                  </a:lnTo>
                  <a:cubicBezTo>
                    <a:pt x="22937978" y="1476248"/>
                    <a:pt x="22934169" y="1480058"/>
                    <a:pt x="22929470" y="1480058"/>
                  </a:cubicBezTo>
                  <a:lnTo>
                    <a:pt x="8509" y="1480058"/>
                  </a:lnTo>
                  <a:cubicBezTo>
                    <a:pt x="3810" y="1480058"/>
                    <a:pt x="0" y="1476248"/>
                    <a:pt x="0" y="14715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471549"/>
                  </a:lnTo>
                  <a:lnTo>
                    <a:pt x="8509" y="1471549"/>
                  </a:lnTo>
                  <a:lnTo>
                    <a:pt x="8509" y="1463040"/>
                  </a:lnTo>
                  <a:lnTo>
                    <a:pt x="22929470" y="1463040"/>
                  </a:lnTo>
                  <a:lnTo>
                    <a:pt x="22929470" y="1471549"/>
                  </a:lnTo>
                  <a:lnTo>
                    <a:pt x="22920961" y="1471549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2743200"/>
            <a:ext cx="16459200" cy="1097280"/>
            <a:chOff x="0" y="0"/>
            <a:chExt cx="21945600" cy="14630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21945600" cy="15201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End-to-end local RAG chatbot - LangChain + LangGraph + ChromaDB + Ollama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542287" y="4017007"/>
            <a:ext cx="17203417" cy="1109977"/>
            <a:chOff x="0" y="0"/>
            <a:chExt cx="22937889" cy="147996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8509" y="8509"/>
              <a:ext cx="22920961" cy="1463040"/>
            </a:xfrm>
            <a:custGeom>
              <a:avLst/>
              <a:gdLst/>
              <a:ahLst/>
              <a:cxnLst/>
              <a:rect r="r" b="b" t="t" l="l"/>
              <a:pathLst>
                <a:path h="1463040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937978" cy="1480058"/>
            </a:xfrm>
            <a:custGeom>
              <a:avLst/>
              <a:gdLst/>
              <a:ahLst/>
              <a:cxnLst/>
              <a:rect r="r" b="b" t="t" l="l"/>
              <a:pathLst>
                <a:path h="1480058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471549"/>
                  </a:lnTo>
                  <a:cubicBezTo>
                    <a:pt x="22937978" y="1476248"/>
                    <a:pt x="22934169" y="1480058"/>
                    <a:pt x="22929470" y="1480058"/>
                  </a:cubicBezTo>
                  <a:lnTo>
                    <a:pt x="8509" y="1480058"/>
                  </a:lnTo>
                  <a:cubicBezTo>
                    <a:pt x="3810" y="1480058"/>
                    <a:pt x="0" y="1476248"/>
                    <a:pt x="0" y="14715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471549"/>
                  </a:lnTo>
                  <a:lnTo>
                    <a:pt x="8509" y="1471549"/>
                  </a:lnTo>
                  <a:lnTo>
                    <a:pt x="8509" y="1463040"/>
                  </a:lnTo>
                  <a:lnTo>
                    <a:pt x="22929470" y="1463040"/>
                  </a:lnTo>
                  <a:lnTo>
                    <a:pt x="22929470" y="1471549"/>
                  </a:lnTo>
                  <a:lnTo>
                    <a:pt x="22920961" y="1471549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914400" y="4023360"/>
            <a:ext cx="16459200" cy="1097280"/>
            <a:chOff x="0" y="0"/>
            <a:chExt cx="21945600" cy="14630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21945600" cy="15201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  <a:r>
                <a:rPr lang="en-US" sz="26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Data-driven decisions - every choice backed by LangSmith benchmarking data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542287" y="5297167"/>
            <a:ext cx="17203417" cy="1109977"/>
            <a:chOff x="0" y="0"/>
            <a:chExt cx="22937889" cy="147996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8509" y="8509"/>
              <a:ext cx="22920961" cy="1463040"/>
            </a:xfrm>
            <a:custGeom>
              <a:avLst/>
              <a:gdLst/>
              <a:ahLst/>
              <a:cxnLst/>
              <a:rect r="r" b="b" t="t" l="l"/>
              <a:pathLst>
                <a:path h="1463040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937978" cy="1480058"/>
            </a:xfrm>
            <a:custGeom>
              <a:avLst/>
              <a:gdLst/>
              <a:ahLst/>
              <a:cxnLst/>
              <a:rect r="r" b="b" t="t" l="l"/>
              <a:pathLst>
                <a:path h="1480058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471549"/>
                  </a:lnTo>
                  <a:cubicBezTo>
                    <a:pt x="22937978" y="1476248"/>
                    <a:pt x="22934169" y="1480058"/>
                    <a:pt x="22929470" y="1480058"/>
                  </a:cubicBezTo>
                  <a:lnTo>
                    <a:pt x="8509" y="1480058"/>
                  </a:lnTo>
                  <a:cubicBezTo>
                    <a:pt x="3810" y="1480058"/>
                    <a:pt x="0" y="1476248"/>
                    <a:pt x="0" y="14715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471549"/>
                  </a:lnTo>
                  <a:lnTo>
                    <a:pt x="8509" y="1471549"/>
                  </a:lnTo>
                  <a:lnTo>
                    <a:pt x="8509" y="1463040"/>
                  </a:lnTo>
                  <a:lnTo>
                    <a:pt x="22929470" y="1463040"/>
                  </a:lnTo>
                  <a:lnTo>
                    <a:pt x="22929470" y="1471549"/>
                  </a:lnTo>
                  <a:lnTo>
                    <a:pt x="22920961" y="1471549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14400" y="5303520"/>
            <a:ext cx="16459200" cy="1097280"/>
            <a:chOff x="0" y="0"/>
            <a:chExt cx="21945600" cy="14630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57150"/>
              <a:ext cx="21945600" cy="15201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MMR retrieval + chunk_size=200 - eliminated duplicate chunks on small documents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542287" y="6577327"/>
            <a:ext cx="17203417" cy="1109977"/>
            <a:chOff x="0" y="0"/>
            <a:chExt cx="22937889" cy="1479969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8509" y="8509"/>
              <a:ext cx="22920961" cy="1463040"/>
            </a:xfrm>
            <a:custGeom>
              <a:avLst/>
              <a:gdLst/>
              <a:ahLst/>
              <a:cxnLst/>
              <a:rect r="r" b="b" t="t" l="l"/>
              <a:pathLst>
                <a:path h="1463040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2937978" cy="1480058"/>
            </a:xfrm>
            <a:custGeom>
              <a:avLst/>
              <a:gdLst/>
              <a:ahLst/>
              <a:cxnLst/>
              <a:rect r="r" b="b" t="t" l="l"/>
              <a:pathLst>
                <a:path h="1480058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471549"/>
                  </a:lnTo>
                  <a:cubicBezTo>
                    <a:pt x="22937978" y="1476248"/>
                    <a:pt x="22934169" y="1480058"/>
                    <a:pt x="22929470" y="1480058"/>
                  </a:cubicBezTo>
                  <a:lnTo>
                    <a:pt x="8509" y="1480058"/>
                  </a:lnTo>
                  <a:cubicBezTo>
                    <a:pt x="3810" y="1480058"/>
                    <a:pt x="0" y="1476248"/>
                    <a:pt x="0" y="14715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471549"/>
                  </a:lnTo>
                  <a:lnTo>
                    <a:pt x="8509" y="1471549"/>
                  </a:lnTo>
                  <a:lnTo>
                    <a:pt x="8509" y="1463040"/>
                  </a:lnTo>
                  <a:lnTo>
                    <a:pt x="22929470" y="1463040"/>
                  </a:lnTo>
                  <a:lnTo>
                    <a:pt x="22929470" y="1471549"/>
                  </a:lnTo>
                  <a:lnTo>
                    <a:pt x="22920961" y="1471549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914400" y="6583680"/>
            <a:ext cx="16459200" cy="1097280"/>
            <a:chOff x="0" y="0"/>
            <a:chExt cx="21945600" cy="14630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21945600" cy="15201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Streaming responses - token-by-token output for better user experience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542287" y="7857487"/>
            <a:ext cx="17203417" cy="1109977"/>
            <a:chOff x="0" y="0"/>
            <a:chExt cx="22937889" cy="147996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8509" y="8509"/>
              <a:ext cx="22920961" cy="1463040"/>
            </a:xfrm>
            <a:custGeom>
              <a:avLst/>
              <a:gdLst/>
              <a:ahLst/>
              <a:cxnLst/>
              <a:rect r="r" b="b" t="t" l="l"/>
              <a:pathLst>
                <a:path h="1463040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12240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2937978" cy="1480058"/>
            </a:xfrm>
            <a:custGeom>
              <a:avLst/>
              <a:gdLst/>
              <a:ahLst/>
              <a:cxnLst/>
              <a:rect r="r" b="b" t="t" l="l"/>
              <a:pathLst>
                <a:path h="1480058" w="22937978">
                  <a:moveTo>
                    <a:pt x="8509" y="0"/>
                  </a:moveTo>
                  <a:lnTo>
                    <a:pt x="22929470" y="0"/>
                  </a:lnTo>
                  <a:cubicBezTo>
                    <a:pt x="22934169" y="0"/>
                    <a:pt x="22937978" y="3810"/>
                    <a:pt x="22937978" y="8509"/>
                  </a:cubicBezTo>
                  <a:lnTo>
                    <a:pt x="22937978" y="1471549"/>
                  </a:lnTo>
                  <a:cubicBezTo>
                    <a:pt x="22937978" y="1476248"/>
                    <a:pt x="22934169" y="1480058"/>
                    <a:pt x="22929470" y="1480058"/>
                  </a:cubicBezTo>
                  <a:lnTo>
                    <a:pt x="8509" y="1480058"/>
                  </a:lnTo>
                  <a:cubicBezTo>
                    <a:pt x="3810" y="1480058"/>
                    <a:pt x="0" y="1476248"/>
                    <a:pt x="0" y="1471549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1471549"/>
                  </a:lnTo>
                  <a:lnTo>
                    <a:pt x="8509" y="1471549"/>
                  </a:lnTo>
                  <a:lnTo>
                    <a:pt x="8509" y="1463040"/>
                  </a:lnTo>
                  <a:lnTo>
                    <a:pt x="22929470" y="1463040"/>
                  </a:lnTo>
                  <a:lnTo>
                    <a:pt x="22929470" y="1471549"/>
                  </a:lnTo>
                  <a:lnTo>
                    <a:pt x="22920961" y="1471549"/>
                  </a:lnTo>
                  <a:lnTo>
                    <a:pt x="22920961" y="8509"/>
                  </a:lnTo>
                  <a:lnTo>
                    <a:pt x="22929470" y="8509"/>
                  </a:lnTo>
                  <a:lnTo>
                    <a:pt x="22929470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914400" y="7863840"/>
            <a:ext cx="16459200" cy="1097280"/>
            <a:chOff x="0" y="0"/>
            <a:chExt cx="21945600" cy="14630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57150"/>
              <a:ext cx="21945600" cy="15201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Production-ready architecture - modular, extensible, observable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4559303" y="9131303"/>
            <a:ext cx="9169403" cy="939803"/>
            <a:chOff x="0" y="0"/>
            <a:chExt cx="12225871" cy="125307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16891" y="16891"/>
              <a:ext cx="121920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0066B1"/>
            </a:solidFill>
          </p:spPr>
        </p:sp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2225782" cy="1252984"/>
            </a:xfrm>
            <a:custGeom>
              <a:avLst/>
              <a:gdLst/>
              <a:ahLst/>
              <a:cxnLst/>
              <a:rect r="r" b="b" t="t" l="l"/>
              <a:pathLst>
                <a:path h="1252984" w="12225782">
                  <a:moveTo>
                    <a:pt x="16891" y="0"/>
                  </a:moveTo>
                  <a:lnTo>
                    <a:pt x="12208891" y="0"/>
                  </a:lnTo>
                  <a:cubicBezTo>
                    <a:pt x="12218289" y="0"/>
                    <a:pt x="12225782" y="7620"/>
                    <a:pt x="12225782" y="16891"/>
                  </a:cubicBezTo>
                  <a:lnTo>
                    <a:pt x="12225782" y="1236091"/>
                  </a:lnTo>
                  <a:cubicBezTo>
                    <a:pt x="12225782" y="1245489"/>
                    <a:pt x="12218162" y="1252982"/>
                    <a:pt x="12208891" y="1252982"/>
                  </a:cubicBezTo>
                  <a:lnTo>
                    <a:pt x="16891" y="1252982"/>
                  </a:lnTo>
                  <a:cubicBezTo>
                    <a:pt x="7620" y="1253109"/>
                    <a:pt x="0" y="1245489"/>
                    <a:pt x="0" y="12360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236091"/>
                  </a:lnTo>
                  <a:lnTo>
                    <a:pt x="16891" y="1236091"/>
                  </a:lnTo>
                  <a:lnTo>
                    <a:pt x="16891" y="1219200"/>
                  </a:lnTo>
                  <a:lnTo>
                    <a:pt x="12208891" y="1219200"/>
                  </a:lnTo>
                  <a:lnTo>
                    <a:pt x="12208891" y="1236091"/>
                  </a:lnTo>
                  <a:lnTo>
                    <a:pt x="12192000" y="1236091"/>
                  </a:lnTo>
                  <a:lnTo>
                    <a:pt x="12192000" y="16891"/>
                  </a:lnTo>
                  <a:lnTo>
                    <a:pt x="12208891" y="16891"/>
                  </a:lnTo>
                  <a:lnTo>
                    <a:pt x="122088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066B1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4572000" y="9144000"/>
            <a:ext cx="9144000" cy="914400"/>
            <a:chOff x="0" y="0"/>
            <a:chExt cx="12192000" cy="12192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21920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57150"/>
              <a:ext cx="12192000" cy="1276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840"/>
                </a:lnSpc>
              </a:pPr>
              <a:r>
                <a:rPr lang="en-US" sz="32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Questions &amp; Answers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17007840" y="9402763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Page 12</a:t>
            </a:r>
          </a:p>
        </p:txBody>
      </p:sp>
    </p:spTree>
  </p:cSld>
  <p:clrMapOvr>
    <a:masterClrMapping/>
  </p:clrMapOvr>
  <p:transition spd="slow">
    <p:push dir="l"/>
  </p:transition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84A9FF">
                <a:alpha val="100000"/>
              </a:srgbClr>
            </a:gs>
            <a:gs pos="50000">
              <a:srgbClr val="F5F8FF">
                <a:alpha val="100000"/>
              </a:srgbClr>
            </a:gs>
            <a:gs pos="100000">
              <a:srgbClr val="5387FF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71525" y="2983865"/>
            <a:ext cx="16744950" cy="375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799"/>
              </a:lnSpc>
              <a:spcBef>
                <a:spcPct val="0"/>
              </a:spcBef>
            </a:pPr>
            <a:r>
              <a:rPr lang="en-US" b="true" sz="21999">
                <a:solidFill>
                  <a:srgbClr val="1A30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Thank you!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6794919" y="9495239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Page 13</a:t>
            </a:r>
          </a:p>
        </p:txBody>
      </p:sp>
    </p:spTree>
  </p:cSld>
  <p:clrMapOvr>
    <a:masterClrMapping/>
  </p:clrMapOvr>
  <p:transition spd="slow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DAHCtv-nzao</dc:identifier>
  <dcterms:modified xsi:type="dcterms:W3CDTF">2011-08-01T06:04:30Z</dcterms:modified>
  <cp:revision>1</cp:revision>
  <dc:title>bmw_chatbot_presentation</dc:title>
</cp:coreProperties>
</file>